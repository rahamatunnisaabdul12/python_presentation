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4A168-8C45-4F32-4DD8-1402DD0AF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A14BD-F579-C305-B976-B81CB5881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50CD8-A2B6-3671-2FB7-5CFFCA46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8D05A-5529-FAC6-2DD5-99ECBB4E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33578-9966-7E0F-0FCA-38C1AA14F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0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4FE1-A774-A0F4-4C83-47F12A3AA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2FF7A-79BB-E7D1-26B8-3E9699F0E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675F5-C8D2-84E5-23CA-13B1D231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8608A-D4DA-9EAC-4651-5659591F6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09324-687F-00F3-698F-DDE4E91B8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942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8628-8B25-FE35-826E-EBC0A06C5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5BE33-31CC-FF3A-FCE3-9CDD7BCC8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23479-036D-F824-F0D5-B0BCA17B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180D4-BE37-736F-C9EA-0A46B90A6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D1F22-14BF-53B9-2928-2B9BDCDC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01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48D11-3568-CF10-CBDD-B66EB8F0E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FDF0-3020-CA7F-9F2A-11462BA17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C82E1-76D9-2A30-10AA-CA707D042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3678A-10F3-12B9-BD61-564F5D8E6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21B10-3080-A081-8241-4662D563C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67C79-D617-E844-B4EE-F5AEF604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8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753D-FFF9-2826-44FB-D79F4999E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1EAFE-29FF-8E9A-017A-B295B6A3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24362-565F-1472-A118-D2DA2C5F3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F3896-49F9-BF7B-D199-C452982A0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83C13-9127-2605-90A1-D337C5D40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563631-7CED-AC7F-281F-1C91FC36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7C5A5E-5BB6-F582-29A0-0A1D3782B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93A9F-AE9B-1E99-3796-FC7D0219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174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B6FE-1039-239B-411E-ACCDF6BCA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39FD5-A908-7FCA-E01E-6B346C31E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8749E-F913-C7B8-5F84-A91BFEC5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0840B-2BD7-666B-C125-3999654DC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14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49F04C-F393-14CE-71CB-859DC79F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0F793F-1C2D-FD38-02D5-FF27F5BC1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F4042-7BC3-F38E-D791-B6F3B922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706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64E8-F50A-B234-2ACD-E25A9AEF2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F5A2A-91E9-8767-CD72-AB670E2C1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B52A7-1E95-16C7-3525-6CBA26FE8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658A4-6537-0126-E071-1767CDAD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31D5E-0BF8-C9E2-E4D0-32E1F1E7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3CC2B-6F4F-3F0C-CBC5-FAD817FCE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923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CE12-4A2B-BEDC-AE58-237908317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D416A-D238-4E30-DD5E-5CC3E34E9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D05E9-05B0-E1FA-0CEE-5C94CC405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2061D-D72A-3A51-4B91-DC6EF4AFE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6864A-0647-51CB-1D72-6EC311F57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E8AFB-8ED5-3CAD-3E65-826C1665E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219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44895-FCE4-FA9C-CA15-B8448DA0F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4A623-5BAF-ACBE-EBF9-ADD9496A8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E38BE-9A30-8E3D-3C75-5BC07F290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61C97-364A-C8D8-E850-EC6B4D93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83231-104D-13F5-0847-7F2A287A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366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C09CAB-8D21-B6AD-0338-9BC4FA934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570DD-6959-B8A2-A320-EC4A2A64A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F2A48-B3C0-0B62-DD98-E7B54E8F4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67A1B-40D0-6309-2E21-E2257E504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6FFA2-E278-AF22-381F-3063AA6D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40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360BE-2DBD-50F5-AAE4-176DC46A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9BECD-A58C-304F-B3A3-BCA6F79DA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B29BA-4C7C-AE8D-031B-2648C67E2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88B7A-4489-4DC6-94A6-0AC023A4EF39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B9ED9-3C21-1242-665F-69F6F0C90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DDF65-3A79-1737-329D-5DE58DBAE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B27E9-1D29-413E-8D95-7EFBA93D14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81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F57F-FD91-8EFE-C750-7102FD5BF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189" y="1"/>
            <a:ext cx="9833811" cy="2406316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Infrastructure as Code (</a:t>
            </a:r>
            <a:r>
              <a:rPr lang="fr-FR" b="1" dirty="0" err="1"/>
              <a:t>IaC</a:t>
            </a:r>
            <a:r>
              <a:rPr lang="fr-FR" b="1" dirty="0"/>
              <a:t>) Concepts</a:t>
            </a:r>
            <a:br>
              <a:rPr lang="fr-FR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070C7-48C7-E2C3-0F64-9BDE505ED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6695" y="1957137"/>
            <a:ext cx="9641305" cy="3300663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What is Infrastructure as Code? (WHAT)</a:t>
            </a:r>
          </a:p>
          <a:p>
            <a:pPr algn="l"/>
            <a:r>
              <a:rPr lang="en-IN" dirty="0"/>
              <a:t>A method to manage and provision infrastructure using </a:t>
            </a:r>
            <a:r>
              <a:rPr lang="en-IN" b="1" dirty="0"/>
              <a:t>machine-readable configuration files</a:t>
            </a:r>
            <a:r>
              <a:rPr lang="en-IN" dirty="0"/>
              <a:t>.</a:t>
            </a:r>
          </a:p>
          <a:p>
            <a:pPr algn="l"/>
            <a:r>
              <a:rPr lang="en-IN" dirty="0"/>
              <a:t>Instead of clicking in consoles, infrastructure is written as code.</a:t>
            </a:r>
          </a:p>
          <a:p>
            <a:pPr algn="l"/>
            <a:r>
              <a:rPr lang="en-IN" dirty="0"/>
              <a:t>Describes networks, servers, databases, storage, security policies, etc.</a:t>
            </a:r>
          </a:p>
          <a:p>
            <a:pPr algn="l"/>
            <a:r>
              <a:rPr lang="en-IN" dirty="0"/>
              <a:t>Tools include Terraform, CloudFormation, Ansible, </a:t>
            </a:r>
            <a:r>
              <a:rPr lang="en-IN" dirty="0" err="1"/>
              <a:t>Pulumi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555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24768-846B-B56A-859D-E0456D0C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</a:t>
            </a:r>
            <a:r>
              <a:rPr lang="en-US" b="1" dirty="0" err="1"/>
              <a:t>IaC</a:t>
            </a:r>
            <a:r>
              <a:rPr lang="en-US" b="1" dirty="0"/>
              <a:t> is Used?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A8E84-4F7B-FB39-32E2-B777856CC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Eliminates manual setup → reduces human errors.</a:t>
            </a:r>
          </a:p>
          <a:p>
            <a:r>
              <a:rPr lang="en-IN" dirty="0"/>
              <a:t>Enables repeatable deployments across environments.</a:t>
            </a:r>
          </a:p>
          <a:p>
            <a:r>
              <a:rPr lang="en-IN" dirty="0"/>
              <a:t>Supports version control through Git.</a:t>
            </a:r>
          </a:p>
          <a:p>
            <a:r>
              <a:rPr lang="en-IN" dirty="0"/>
              <a:t>Automates provisioning → faster delivery.</a:t>
            </a:r>
          </a:p>
          <a:p>
            <a:r>
              <a:rPr lang="en-IN" dirty="0"/>
              <a:t>Improves consistency, reliability, and auditability.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74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C9A1-DA17-A889-8C55-A4B30301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</a:t>
            </a:r>
            <a:r>
              <a:rPr lang="en-IN" b="1" dirty="0" err="1"/>
              <a:t>IaC</a:t>
            </a:r>
            <a:r>
              <a:rPr lang="en-IN" b="1" dirty="0"/>
              <a:t> Works? (HOW)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0FA55-5D69-5CD1-CE6D-768343C58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</a:t>
            </a:r>
            <a:r>
              <a:rPr lang="en-US" b="1" dirty="0" err="1"/>
              <a:t>IaC</a:t>
            </a:r>
            <a:r>
              <a:rPr lang="en-US" b="1" dirty="0"/>
              <a:t> Works? (HOW)</a:t>
            </a:r>
          </a:p>
          <a:p>
            <a:r>
              <a:rPr lang="en-US" dirty="0"/>
              <a:t>Developers write configuration files (HCL/YAML/JSON).</a:t>
            </a:r>
          </a:p>
          <a:p>
            <a:r>
              <a:rPr lang="en-US" dirty="0" err="1"/>
              <a:t>IaC</a:t>
            </a:r>
            <a:r>
              <a:rPr lang="en-US" dirty="0"/>
              <a:t> engine reads the files and understands the desired state.</a:t>
            </a:r>
          </a:p>
          <a:p>
            <a:r>
              <a:rPr lang="en-US" dirty="0"/>
              <a:t>It compares current infrastructure vs desired state.</a:t>
            </a:r>
          </a:p>
          <a:p>
            <a:r>
              <a:rPr lang="en-US" dirty="0"/>
              <a:t>It </a:t>
            </a:r>
            <a:r>
              <a:rPr lang="en-US" b="1" dirty="0"/>
              <a:t>creates, updates, or deletes</a:t>
            </a:r>
            <a:r>
              <a:rPr lang="en-US" dirty="0"/>
              <a:t> resources automatically.</a:t>
            </a:r>
          </a:p>
          <a:p>
            <a:r>
              <a:rPr lang="en-US" dirty="0"/>
              <a:t>Everything is tracked in logs and state files.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031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FFE90-1A5F-AFED-EAC5-1E7818FE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Declarative vs Imperative </a:t>
            </a:r>
            <a:r>
              <a:rPr lang="en-US" b="1" dirty="0" err="1"/>
              <a:t>IaC</a:t>
            </a:r>
            <a:r>
              <a:rPr lang="en-US" b="1" dirty="0"/>
              <a:t> (WHAT)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59BDD-CE4A-AD94-BAA4-E6756FEE4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Declarative </a:t>
            </a:r>
            <a:r>
              <a:rPr lang="en-US" b="1" dirty="0" err="1"/>
              <a:t>IaC</a:t>
            </a:r>
            <a:r>
              <a:rPr lang="en-US" b="1" dirty="0"/>
              <a:t> (WHAT to build)</a:t>
            </a:r>
            <a:endParaRPr lang="en-US" dirty="0"/>
          </a:p>
          <a:p>
            <a:pPr lvl="1"/>
            <a:r>
              <a:rPr lang="en-US" dirty="0"/>
              <a:t>Example: Terraform, CloudFormation.</a:t>
            </a:r>
          </a:p>
          <a:p>
            <a:pPr lvl="1"/>
            <a:r>
              <a:rPr lang="en-US" dirty="0"/>
              <a:t>You specify the final infrastructure state.</a:t>
            </a:r>
          </a:p>
          <a:p>
            <a:r>
              <a:rPr lang="en-US" b="1" dirty="0"/>
              <a:t>Imperative </a:t>
            </a:r>
            <a:r>
              <a:rPr lang="en-US" b="1" dirty="0" err="1"/>
              <a:t>IaC</a:t>
            </a:r>
            <a:r>
              <a:rPr lang="en-US" b="1" dirty="0"/>
              <a:t> (HOW to build)</a:t>
            </a:r>
            <a:endParaRPr lang="en-US" dirty="0"/>
          </a:p>
          <a:p>
            <a:pPr lvl="1"/>
            <a:r>
              <a:rPr lang="en-US" dirty="0"/>
              <a:t>Example: Ansible, Chef.</a:t>
            </a:r>
          </a:p>
          <a:p>
            <a:pPr lvl="1"/>
            <a:r>
              <a:rPr lang="en-US" dirty="0"/>
              <a:t>You specify step-by-step instructions.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530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29F8-1160-9848-E394-932C982B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Declarative </a:t>
            </a:r>
            <a:r>
              <a:rPr lang="en-US" dirty="0" err="1"/>
              <a:t>IaC</a:t>
            </a:r>
            <a:r>
              <a:rPr lang="en-US" dirty="0"/>
              <a:t> is Preferred? (WHY)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BF8C9-CD9C-1F94-BEF8-47725DC2D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Easier to maintain.</a:t>
            </a:r>
          </a:p>
          <a:p>
            <a:r>
              <a:rPr lang="en-US" dirty="0"/>
              <a:t>Works better with large cloud environments.</a:t>
            </a:r>
          </a:p>
          <a:p>
            <a:r>
              <a:rPr lang="en-US" dirty="0"/>
              <a:t>Automatically handles dependencies.</a:t>
            </a:r>
          </a:p>
          <a:p>
            <a:r>
              <a:rPr lang="en-US" dirty="0"/>
              <a:t>Provides execution plans to show changes before applying.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199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AE78-4A87-E137-3047-E4C00E64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</a:t>
            </a:r>
            <a:r>
              <a:rPr lang="en-US" b="1" dirty="0" err="1"/>
              <a:t>IaC</a:t>
            </a:r>
            <a:r>
              <a:rPr lang="en-US" b="1" dirty="0"/>
              <a:t> Enables DevOps (HOW)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52889-D866-276A-03AA-73ECBFFCD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Infrastructure becomes part of CI/CD pipelines.</a:t>
            </a:r>
          </a:p>
          <a:p>
            <a:r>
              <a:rPr lang="en-US" dirty="0"/>
              <a:t>Deployment steps become automated and repeatable.</a:t>
            </a:r>
          </a:p>
          <a:p>
            <a:r>
              <a:rPr lang="en-US" dirty="0"/>
              <a:t>Teams can test infra changes before deployment.</a:t>
            </a:r>
          </a:p>
          <a:p>
            <a:r>
              <a:rPr lang="en-US" dirty="0"/>
              <a:t>Encourages collaboration between Dev, Ops, and QA teams.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5707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1167-382C-5928-748C-600588956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Use Cases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2F352-58FC-E8DD-A3DD-C882406C5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Creating AWS VPC, subnets, security groups.</a:t>
            </a:r>
          </a:p>
          <a:p>
            <a:r>
              <a:rPr lang="en-IN" dirty="0"/>
              <a:t>Provisioning EC2, RDS, S3 buckets automatically.</a:t>
            </a:r>
          </a:p>
          <a:p>
            <a:r>
              <a:rPr lang="en-IN" dirty="0"/>
              <a:t>Deploying Kubernetes clusters using </a:t>
            </a:r>
            <a:r>
              <a:rPr lang="en-IN" dirty="0" err="1"/>
              <a:t>IaC</a:t>
            </a:r>
            <a:r>
              <a:rPr lang="en-IN" dirty="0"/>
              <a:t>.</a:t>
            </a:r>
          </a:p>
          <a:p>
            <a:r>
              <a:rPr lang="en-IN" dirty="0"/>
              <a:t>Setting up multi-environment pipelines: DEV → QA → PROD.</a:t>
            </a:r>
          </a:p>
          <a:p>
            <a:r>
              <a:rPr lang="en-IN" dirty="0"/>
              <a:t>Replicating full environments across regions.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7997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90B4C-93AE-3128-89C4-593468C9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831"/>
            <a:ext cx="10515600" cy="1325563"/>
          </a:xfrm>
        </p:spPr>
        <p:txBody>
          <a:bodyPr/>
          <a:lstStyle/>
          <a:p>
            <a:r>
              <a:rPr lang="en-IN" dirty="0"/>
              <a:t>Benefits (WHY)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34388-1AF9-D5A3-31A3-C53C487D3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provisioning times.</a:t>
            </a:r>
          </a:p>
          <a:p>
            <a:r>
              <a:rPr lang="en-US" dirty="0"/>
              <a:t>Reduced operational costs.</a:t>
            </a:r>
          </a:p>
          <a:p>
            <a:r>
              <a:rPr lang="en-US" dirty="0"/>
              <a:t>Improved system stability.</a:t>
            </a:r>
          </a:p>
          <a:p>
            <a:r>
              <a:rPr lang="en-US" dirty="0"/>
              <a:t>Complete audit trail of changes.</a:t>
            </a:r>
          </a:p>
          <a:p>
            <a:r>
              <a:rPr lang="en-US" dirty="0"/>
              <a:t>Ability to rollback using version control.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020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A106E-31D1-9ADF-92FE-DE3ED84E9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E1860-BE33-683F-4F98-DA7C0C1D5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IaC</a:t>
            </a:r>
            <a:r>
              <a:rPr lang="en-US" dirty="0"/>
              <a:t> automates infrastructure creation &amp; management.</a:t>
            </a:r>
          </a:p>
          <a:p>
            <a:r>
              <a:rPr lang="en-US" dirty="0"/>
              <a:t>Ensures consistency, reliability, and scalability across environments.</a:t>
            </a:r>
          </a:p>
          <a:p>
            <a:r>
              <a:rPr lang="en-US" dirty="0"/>
              <a:t>Foundation for cloud automation, DevOps, and modern deployments.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6294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40C6-0BC2-E0F8-D8CB-C35F1043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8F463-2BA1-498B-8E3D-5863E0B71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94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Infrastructure as Code (IaC) Concepts </vt:lpstr>
      <vt:lpstr>Why IaC is Used? (WHY) </vt:lpstr>
      <vt:lpstr>How IaC Works? (HOW) </vt:lpstr>
      <vt:lpstr>Declarative vs Imperative IaC (WHAT) </vt:lpstr>
      <vt:lpstr>Why Declarative IaC is Preferred? (WHY)</vt:lpstr>
      <vt:lpstr>How IaC Enables DevOps (HOW) </vt:lpstr>
      <vt:lpstr>Real Use Cases (WHAT)</vt:lpstr>
      <vt:lpstr>Benefits (WHY)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2025-11-20T10:00:10Z</dcterms:created>
  <dcterms:modified xsi:type="dcterms:W3CDTF">2025-11-20T10:00:15Z</dcterms:modified>
</cp:coreProperties>
</file>