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F688-C987-F77E-B70F-C73A315F1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C182A-ADA9-1873-0C95-1AFCF7E2D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03E77-2678-B7D6-E438-7FDF9386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EEE82-70CF-8BDA-9F32-D335716F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31C9-9867-A907-9C40-ACD96197F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285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BDA5-6EB0-778C-9E64-D04B28B4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CECC5-4434-08D8-1F0B-B4D1AA04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C3E4C-A1E0-703D-4B85-F8CD0A2C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86A65-0754-CB99-4ACC-F40AF350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B4A4-C81C-768F-E226-372163B2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981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E180-C52B-ED87-7550-D9A30188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5BF7B-5CC0-6683-E72B-A73DF3A1B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49A00-5DAD-729A-807D-8D92597C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50B8-346A-3E3B-A68B-C7D71D0E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D2524-7E4C-03CD-BE25-108F336F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22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5435-381B-870F-007E-CDBA49C3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A9E1-47D3-72BD-331F-6BE94E4AE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DCEBD-933C-31E6-4F2A-FEF9311EA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1DDA0-A177-5894-2E16-3144B391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A74B0-EE42-C7FF-BE34-C41141F1B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6B961-FA8A-025F-C033-68A61C40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58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C41A-1AD7-90A8-12ED-CC806E1C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C4302-B663-FB72-EA86-4DCE51491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61C12-184B-2643-DF01-F7508E3E1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2A740-8649-387C-D591-B5689DD48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BBBD1-D7F2-F54D-FC87-172B19AF6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246EC-BAF7-2BF4-B47B-5E78F867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2ED54-16E5-2D3F-298C-459C9D0E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959FA-5B5A-EA95-CF8A-6A762032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6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5416-BE85-8AB7-8D6F-52E89EC5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38C57-D757-69F7-1483-99D0A2A8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48D66-FA80-6327-A050-2189511C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BAE14-A337-EAB3-5966-3C610B26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84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405D1-FD25-A12E-AB9F-23F3720C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82C3B-4AF2-8F98-AAEE-44B03FE3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54F88-FBAA-F481-A34B-F180606A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858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3E6A-2175-3FB3-3265-47468941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5681D-47F8-8309-0278-8832E8FE3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FB49F-FED7-422F-B29E-9206CFE7E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2CFDA-0210-228B-28E0-96B67A79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F99CF-CBE6-BA2E-0AE7-D453AFB5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4A454-E111-B40B-1C9E-D79F1714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93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EE2E-FF7E-D585-1365-5BF1A989F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1C7F58-03EC-995A-8236-564EB0CD9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B1EDF-D2DB-114B-825B-18BD686BD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35C11-21DC-BFEF-CB22-45C12109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EE710-D886-E523-B658-75B0E496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EE4AE-5609-2002-2016-8CD4F338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79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2C24-77C4-959C-EFA3-4C7BEEE51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BAA27-15EC-D661-FDF4-4462C25C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9DA4C-3E5A-A700-7753-0E2D744F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CE21C-985D-D437-9CB3-8DC5E71A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89513-85F5-324D-FAE1-82639441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78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859268-CA83-489B-654B-AF2B941F8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A5A1D-D37F-1E1B-B0EC-518008367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7A8AD-7EE8-D082-0C0C-F36788BF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AE6C6-3DED-722B-1D3C-50970114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281C2-FA22-ACD2-AE99-73041B83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04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F9C07E-5F32-7803-09DA-DBA010DF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8B1C7-75BC-E9F1-187B-398ED4A30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77223-59DF-8678-0EF8-2FAEBAFDC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D9341-3422-4025-9CE0-0B78A301D54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2D6A5-1DCC-A7F1-7A52-A79015A29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72843-6380-5DA7-14E7-C520BA028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9B5DD-F6E7-4F7E-B20C-0280FFEDF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86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6349-6CF4-CBC0-6324-A86FD3A91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925" y="0"/>
            <a:ext cx="12063663" cy="3509963"/>
          </a:xfrm>
        </p:spPr>
        <p:txBody>
          <a:bodyPr>
            <a:normAutofit/>
          </a:bodyPr>
          <a:lstStyle/>
          <a:p>
            <a:r>
              <a:rPr lang="en-US" b="1" dirty="0"/>
              <a:t>Python Programming Tool — OOPs (Object-Oriented Programming in Python)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1BF01-E0E4-CA62-BE6F-05A850FA7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925" y="2534653"/>
            <a:ext cx="10315075" cy="445970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Object-Oriented Programming (OOP) in Python uses classes and objects to model real-world entities.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Encourages modular, reusable, and maintainable code for medium-to-large projects.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Define classes, instantiate objects, and apply OOP principles (encapsulation, inheritance, polymorphism, abstraction).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9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C21F-02DC-FCEA-FA9C-732D67A3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Class &amp; Object?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6827E-3D9B-36BE-4B12-C7DFA4432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21" y="1251284"/>
            <a:ext cx="10888579" cy="492567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class</a:t>
            </a:r>
            <a:r>
              <a:rPr lang="en-US" dirty="0"/>
              <a:t> defines the structure and behaviors.</a:t>
            </a:r>
          </a:p>
          <a:p>
            <a:r>
              <a:rPr lang="en-US" dirty="0"/>
              <a:t>An </a:t>
            </a:r>
            <a:r>
              <a:rPr lang="en-US" b="1" dirty="0"/>
              <a:t>object</a:t>
            </a:r>
            <a:r>
              <a:rPr lang="en-US" dirty="0"/>
              <a:t> is an instance created from the class.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Organizes data + functionality together</a:t>
            </a:r>
          </a:p>
          <a:p>
            <a:r>
              <a:rPr lang="en-US" dirty="0"/>
              <a:t>Represents real-world entities like Employee, Order, Shipment, Customer</a:t>
            </a:r>
          </a:p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Create classes with attributes (data) &amp; methods (logic)</a:t>
            </a:r>
          </a:p>
          <a:p>
            <a:r>
              <a:rPr lang="en-US" dirty="0"/>
              <a:t>Instantiate multiple objects from the same class, each with different values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52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C1C6-0AF4-8544-3152-346C8554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07ED2-6838-E063-E3B3-6786C7647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315452"/>
            <a:ext cx="11065042" cy="554254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Mechanism of restricting direct access to internal object data.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Protects data integrity</a:t>
            </a:r>
          </a:p>
          <a:p>
            <a:r>
              <a:rPr lang="en-US" dirty="0"/>
              <a:t>Prevents unexpected changes</a:t>
            </a:r>
          </a:p>
          <a:p>
            <a:r>
              <a:rPr lang="en-US" dirty="0"/>
              <a:t>Allows controlled modification through methods</a:t>
            </a:r>
          </a:p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 _protected or __private attributes</a:t>
            </a:r>
          </a:p>
          <a:p>
            <a:r>
              <a:rPr lang="en-US" dirty="0"/>
              <a:t>Expose safe access via getter/setter methods</a:t>
            </a:r>
          </a:p>
          <a:p>
            <a:r>
              <a:rPr lang="en-US" dirty="0"/>
              <a:t>Use Python @property for clean access control</a:t>
            </a:r>
          </a:p>
          <a:p>
            <a:r>
              <a:rPr lang="en-US" b="1" dirty="0"/>
              <a:t>Extra Insights:</a:t>
            </a:r>
            <a:br>
              <a:rPr lang="en-US" dirty="0"/>
            </a:br>
            <a:r>
              <a:rPr lang="en-US" dirty="0"/>
              <a:t>Good encapsulation reduces bugs in large, multi-module applications.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193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D96C-CD18-BA36-D32D-4C60757F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163F7-3763-6DB5-1B93-A38DC641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5" y="1155032"/>
            <a:ext cx="10856495" cy="502193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class (child) can inherit attributes and methods from another class (parent).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Reuse common logic</a:t>
            </a:r>
          </a:p>
          <a:p>
            <a:r>
              <a:rPr lang="en-US" dirty="0"/>
              <a:t>Extend behavior without rewriting</a:t>
            </a:r>
          </a:p>
          <a:p>
            <a:r>
              <a:rPr lang="en-US" dirty="0"/>
              <a:t>Create hierarchy: Vehicle → Car → </a:t>
            </a:r>
            <a:r>
              <a:rPr lang="en-US" dirty="0" err="1"/>
              <a:t>ElectricCar</a:t>
            </a:r>
            <a:endParaRPr lang="en-US" dirty="0"/>
          </a:p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 class Child(Parent): syntax</a:t>
            </a:r>
          </a:p>
          <a:p>
            <a:r>
              <a:rPr lang="en-US" dirty="0"/>
              <a:t>Override or extend parent methods</a:t>
            </a:r>
          </a:p>
          <a:p>
            <a:r>
              <a:rPr lang="en-US" dirty="0"/>
              <a:t>Use super() to access parent functionality</a:t>
            </a:r>
          </a:p>
          <a:p>
            <a:r>
              <a:rPr lang="en-US" b="1" dirty="0"/>
              <a:t>Additional Note:</a:t>
            </a:r>
            <a:br>
              <a:rPr lang="en-US" dirty="0"/>
            </a:br>
            <a:r>
              <a:rPr lang="en-US" dirty="0"/>
              <a:t>Correctly designed inheritance reduces duplication but excessive inheritance becomes hard to maintain — use carefully.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516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96C4-F601-3784-0F3A-183B7DC8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Polymorphism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601CC-20EA-6FD2-40D0-5C2DCF0AF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21" y="1203158"/>
            <a:ext cx="10888579" cy="497380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Ability of multiple classes to provide different implementations of the same method.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Allows writing flexible, generic code</a:t>
            </a:r>
          </a:p>
          <a:p>
            <a:r>
              <a:rPr lang="en-US" dirty="0"/>
              <a:t>Enables plug-and-play behavior (e.g., multiple database connectors)</a:t>
            </a:r>
          </a:p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 same method name across classes (e.g., process())</a:t>
            </a:r>
          </a:p>
          <a:p>
            <a:r>
              <a:rPr lang="en-US" dirty="0"/>
              <a:t>OR define abstract base classes (</a:t>
            </a:r>
            <a:r>
              <a:rPr lang="en-US" dirty="0" err="1"/>
              <a:t>abc</a:t>
            </a:r>
            <a:r>
              <a:rPr lang="en-US" dirty="0"/>
              <a:t> module)</a:t>
            </a:r>
          </a:p>
          <a:p>
            <a:r>
              <a:rPr lang="en-US" b="1" dirty="0"/>
              <a:t>Extra Insight:</a:t>
            </a:r>
            <a:br>
              <a:rPr lang="en-US" dirty="0"/>
            </a:br>
            <a:r>
              <a:rPr lang="en-US" dirty="0"/>
              <a:t>Polymorphism is key in frameworks and SDKs — your code calls the same function regardless of which object is passed.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446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67B50-7A67-85C6-B923-9006F0AC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793A1-82A5-3D24-6210-E39FD02C8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1363578"/>
            <a:ext cx="11097126" cy="529389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Shows only essential features; hides unnecessary details.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Reduces complexity for users of the class</a:t>
            </a:r>
          </a:p>
          <a:p>
            <a:r>
              <a:rPr lang="en-US" dirty="0"/>
              <a:t>Keeps implementation details private</a:t>
            </a:r>
          </a:p>
          <a:p>
            <a:r>
              <a:rPr lang="en-US" dirty="0"/>
              <a:t>Encourages clean API design</a:t>
            </a:r>
          </a:p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 abstract classes and interfaces (ABC)</a:t>
            </a:r>
          </a:p>
          <a:p>
            <a:r>
              <a:rPr lang="en-US" dirty="0"/>
              <a:t>Offer simple method interfaces (e.g., .save(), .load())</a:t>
            </a:r>
          </a:p>
          <a:p>
            <a:r>
              <a:rPr lang="en-US" dirty="0"/>
              <a:t>Hide internal computations inside the class</a:t>
            </a:r>
          </a:p>
          <a:p>
            <a:r>
              <a:rPr lang="en-US" b="1" dirty="0"/>
              <a:t>Extra Insight:</a:t>
            </a:r>
            <a:br>
              <a:rPr lang="en-US" dirty="0"/>
            </a:br>
            <a:r>
              <a:rPr lang="en-US" dirty="0"/>
              <a:t>Excellent for tools, ETL jobs, and reusable libraries where only the “what” matters, not the “how”.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01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D07D-DDF3-44C8-F51A-08669AD2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OOP Design Principles (SOLID basics)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C65AE-5D3A-D633-B82C-00AD39D62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10652"/>
            <a:ext cx="11353800" cy="584734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Guidelines for writing clean and maintainable object design.</a:t>
            </a:r>
          </a:p>
          <a:p>
            <a:r>
              <a:rPr lang="en-US" b="1" dirty="0"/>
              <a:t>SOLID Includes:</a:t>
            </a:r>
            <a:endParaRPr lang="en-US" dirty="0"/>
          </a:p>
          <a:p>
            <a:r>
              <a:rPr lang="en-US" b="1" dirty="0"/>
              <a:t>S</a:t>
            </a:r>
            <a:r>
              <a:rPr lang="en-US" dirty="0"/>
              <a:t> – Single Responsibility Principle</a:t>
            </a:r>
          </a:p>
          <a:p>
            <a:r>
              <a:rPr lang="en-US" b="1" dirty="0"/>
              <a:t>O</a:t>
            </a:r>
            <a:r>
              <a:rPr lang="en-US" dirty="0"/>
              <a:t> – Open/Closed Principle</a:t>
            </a:r>
          </a:p>
          <a:p>
            <a:r>
              <a:rPr lang="en-US" b="1" dirty="0"/>
              <a:t>L</a:t>
            </a:r>
            <a:r>
              <a:rPr lang="en-US" dirty="0"/>
              <a:t> – </a:t>
            </a:r>
            <a:r>
              <a:rPr lang="en-US" dirty="0" err="1"/>
              <a:t>Liskov</a:t>
            </a:r>
            <a:r>
              <a:rPr lang="en-US" dirty="0"/>
              <a:t> Substitution Principle</a:t>
            </a:r>
          </a:p>
          <a:p>
            <a:r>
              <a:rPr lang="en-US" b="1" dirty="0"/>
              <a:t>I</a:t>
            </a:r>
            <a:r>
              <a:rPr lang="en-US" dirty="0"/>
              <a:t> – Interface Segregation</a:t>
            </a:r>
          </a:p>
          <a:p>
            <a:r>
              <a:rPr lang="en-US" b="1" dirty="0"/>
              <a:t>D</a:t>
            </a:r>
            <a:r>
              <a:rPr lang="en-US" dirty="0"/>
              <a:t> – Dependency Inversion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Reduces complexity</a:t>
            </a:r>
          </a:p>
          <a:p>
            <a:r>
              <a:rPr lang="en-US" dirty="0"/>
              <a:t>Makes code testable, scalable, and easy to refactor</a:t>
            </a:r>
          </a:p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Break down responsibilities</a:t>
            </a:r>
          </a:p>
          <a:p>
            <a:r>
              <a:rPr lang="en-US" dirty="0"/>
              <a:t>Build classes that extend features instead of modifying existing ones</a:t>
            </a:r>
          </a:p>
          <a:p>
            <a:r>
              <a:rPr lang="en-US" dirty="0"/>
              <a:t>Depend on abstractions, not concrete implementations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16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D400-BAA8-AE95-C47C-3EC678D2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OOP in Python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5EE7-79F8-3847-EE70-707A52C60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16" y="1235242"/>
            <a:ext cx="11081084" cy="525763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OOP is ideal when building long-term, structured Python systems.</a:t>
            </a:r>
          </a:p>
          <a:p>
            <a:r>
              <a:rPr lang="en-IN" b="1" dirty="0"/>
              <a:t>Use Cases:</a:t>
            </a:r>
            <a:endParaRPr lang="en-IN" dirty="0"/>
          </a:p>
          <a:p>
            <a:r>
              <a:rPr lang="en-IN" dirty="0"/>
              <a:t>Automation frameworks</a:t>
            </a:r>
          </a:p>
          <a:p>
            <a:r>
              <a:rPr lang="en-IN" dirty="0"/>
              <a:t>Data engineering pipelines</a:t>
            </a:r>
          </a:p>
          <a:p>
            <a:r>
              <a:rPr lang="en-IN" dirty="0"/>
              <a:t>Machine learning pipelines</a:t>
            </a:r>
          </a:p>
          <a:p>
            <a:r>
              <a:rPr lang="en-IN" dirty="0"/>
              <a:t>APIs &amp; microservices</a:t>
            </a:r>
          </a:p>
          <a:p>
            <a:r>
              <a:rPr lang="en-IN" dirty="0"/>
              <a:t>Desktop tools (</a:t>
            </a:r>
            <a:r>
              <a:rPr lang="en-IN" dirty="0" err="1"/>
              <a:t>Tkinter</a:t>
            </a:r>
            <a:r>
              <a:rPr lang="en-IN" dirty="0"/>
              <a:t>, </a:t>
            </a:r>
            <a:r>
              <a:rPr lang="en-IN" dirty="0" err="1"/>
              <a:t>PyQT</a:t>
            </a:r>
            <a:r>
              <a:rPr lang="en-IN" dirty="0"/>
              <a:t>)</a:t>
            </a:r>
          </a:p>
          <a:p>
            <a:r>
              <a:rPr lang="en-IN" dirty="0"/>
              <a:t>Games, simulations, business rules engines</a:t>
            </a:r>
          </a:p>
          <a:p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OOP offers clear boundaries → easier testing, troubleshooting, versioning.</a:t>
            </a:r>
          </a:p>
          <a:p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Start procedural → identify repetition → convert to classes → restructure into modules.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34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37FA-87AD-CD13-80AE-C39A1C32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Pitfalls &amp; 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21B3-57A6-B9BB-A3AE-FD22FA2F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1267326"/>
            <a:ext cx="11097126" cy="490963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Pitfalls:</a:t>
            </a:r>
            <a:endParaRPr lang="en-US" dirty="0"/>
          </a:p>
          <a:p>
            <a:r>
              <a:rPr lang="en-US" dirty="0"/>
              <a:t>Over-using inheritance</a:t>
            </a:r>
          </a:p>
          <a:p>
            <a:r>
              <a:rPr lang="en-US" dirty="0"/>
              <a:t>Large, multi-purpose classes</a:t>
            </a:r>
          </a:p>
          <a:p>
            <a:r>
              <a:rPr lang="en-US" dirty="0"/>
              <a:t>Hidden side effects</a:t>
            </a:r>
          </a:p>
          <a:p>
            <a:r>
              <a:rPr lang="en-US" dirty="0"/>
              <a:t>Tight coupling between classes</a:t>
            </a:r>
          </a:p>
          <a:p>
            <a:r>
              <a:rPr lang="en-US" b="1" dirty="0"/>
              <a:t>Best Practices:</a:t>
            </a:r>
            <a:endParaRPr lang="en-US" dirty="0"/>
          </a:p>
          <a:p>
            <a:r>
              <a:rPr lang="en-US" dirty="0"/>
              <a:t>Prefer </a:t>
            </a:r>
            <a:r>
              <a:rPr lang="en-US" b="1" dirty="0"/>
              <a:t>composition over inheritance</a:t>
            </a:r>
            <a:endParaRPr lang="en-US" dirty="0"/>
          </a:p>
          <a:p>
            <a:r>
              <a:rPr lang="en-US" dirty="0"/>
              <a:t>Keep classes focused (one job only)</a:t>
            </a:r>
          </a:p>
          <a:p>
            <a:r>
              <a:rPr lang="en-US" dirty="0"/>
              <a:t>Document public methods</a:t>
            </a:r>
          </a:p>
          <a:p>
            <a:r>
              <a:rPr lang="en-US" dirty="0"/>
              <a:t>Use meaningful names</a:t>
            </a:r>
          </a:p>
          <a:p>
            <a:r>
              <a:rPr lang="en-US" dirty="0"/>
              <a:t>Write unit tests for every class</a:t>
            </a:r>
          </a:p>
          <a:p>
            <a:r>
              <a:rPr lang="en-US" b="1" dirty="0"/>
              <a:t>Extra Insight:</a:t>
            </a:r>
            <a:br>
              <a:rPr lang="en-US" dirty="0"/>
            </a:br>
            <a:r>
              <a:rPr lang="en-US" dirty="0"/>
              <a:t>Well-designed OOP becomes a reusable toolkit for all future projects.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326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7BA2-8EDF-0F1A-FB62-2BBD5B07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How to Adopt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806F4-4083-228C-9891-15E0A309F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Summary:</a:t>
            </a:r>
            <a:endParaRPr lang="en-IN" dirty="0"/>
          </a:p>
          <a:p>
            <a:r>
              <a:rPr lang="en-IN" dirty="0"/>
              <a:t>OOP makes Python code scalable, modular, and easier to maintain.</a:t>
            </a:r>
          </a:p>
          <a:p>
            <a:r>
              <a:rPr lang="en-IN" dirty="0"/>
              <a:t>Core pillars: Encapsulation, Inheritance, Polymorphism, Abstraction.</a:t>
            </a:r>
          </a:p>
          <a:p>
            <a:r>
              <a:rPr lang="en-IN" b="1" dirty="0"/>
              <a:t>How to Adopt:</a:t>
            </a:r>
            <a:endParaRPr lang="en-IN" dirty="0"/>
          </a:p>
          <a:p>
            <a:r>
              <a:rPr lang="en-IN" dirty="0"/>
              <a:t>Start with simple class structures</a:t>
            </a:r>
          </a:p>
          <a:p>
            <a:r>
              <a:rPr lang="en-IN" dirty="0"/>
              <a:t>Add abstractions as complexity grows</a:t>
            </a:r>
          </a:p>
          <a:p>
            <a:r>
              <a:rPr lang="en-IN" dirty="0"/>
              <a:t>Use SOLID principles</a:t>
            </a:r>
          </a:p>
          <a:p>
            <a:r>
              <a:rPr lang="en-IN" dirty="0"/>
              <a:t>Apply consistent folder/module organization</a:t>
            </a:r>
          </a:p>
          <a:p>
            <a:r>
              <a:rPr lang="en-IN"/>
              <a:t>Gradually migrate procedural scripts into OOP style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442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84071-F586-A7B6-3C99-5197AA13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117F4-1EC1-17DE-F00C-682B10EBF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0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938E-C149-728A-CFF6-7270E43BB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58055-356B-84A9-B59E-87094D4DB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492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751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Python Programming Tool — OOPs (Object-Oriented Programming in Python) </vt:lpstr>
      <vt:lpstr>What is a Class &amp; Object? </vt:lpstr>
      <vt:lpstr>Encapsulation</vt:lpstr>
      <vt:lpstr>Inheritance </vt:lpstr>
      <vt:lpstr>Polymorphism </vt:lpstr>
      <vt:lpstr>Abstraction</vt:lpstr>
      <vt:lpstr>OOP Design Principles (SOLID basics) </vt:lpstr>
      <vt:lpstr>When to Use OOP in Python </vt:lpstr>
      <vt:lpstr>Common Pitfalls &amp; Best Practices </vt:lpstr>
      <vt:lpstr>Summary &amp; How to Adopt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2</cp:revision>
  <dcterms:created xsi:type="dcterms:W3CDTF">2025-11-18T06:21:09Z</dcterms:created>
  <dcterms:modified xsi:type="dcterms:W3CDTF">2025-11-18T06:27:29Z</dcterms:modified>
</cp:coreProperties>
</file>