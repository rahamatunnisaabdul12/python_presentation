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169A-C6BF-C7C0-91DF-B2AEBCD36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997A8-32F6-9D83-6DF1-64D2EF81A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6EB57-652B-3F84-71C4-8A6CB39DE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421AE-52DA-40D1-94E2-E05E5669DD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B2C79-FD27-4E7A-AB34-1CEFE689E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24FDE-0485-FD89-2417-775C6BF98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EE83F-4879-4D13-8736-34E00F86F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839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24D53-FBC0-9310-D87C-3848CFBD7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AED09-CAEA-642A-C393-5D2007204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2E1DD-3D70-1356-9B26-78A10BDF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421AE-52DA-40D1-94E2-E05E5669DD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C533C-5CF9-197C-B308-7342E8FF6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3A1AF-19D3-7372-0401-97F13D00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EE83F-4879-4D13-8736-34E00F86F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153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A791-ADE2-773D-755C-FE76E07B9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E5C51-5966-3684-DDD7-6017B0C9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5D657-D42E-CC38-C2C6-5A35FB1E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421AE-52DA-40D1-94E2-E05E5669DD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AE41C-9CA7-FAB0-B488-88AF0398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006C3-A23F-FD1B-7865-A8AC700F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EE83F-4879-4D13-8736-34E00F86F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411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E8EB-33C7-2A9B-5C60-1B1A9889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27A70-62F1-6A86-57F4-B14443F7E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C90EB-EE66-8761-762D-5120A123F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0A9A6-6D36-B1A1-4085-6B981057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421AE-52DA-40D1-94E2-E05E5669DD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612A2-8C3A-F52F-ADB0-501DCDCC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A54D8-03E1-B32B-53CE-81D0FB37D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EE83F-4879-4D13-8736-34E00F86F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084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6B74-BDE1-9059-1ADC-341899058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FDAE7-3464-487C-1AE9-3BE132148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1D501-22F9-5AEF-1567-AD49050E0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D8623-56F7-474B-FBFF-56C93D8FE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EE89AA-7B5F-33AA-7C5C-41079051EF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73DF6-DDE4-B431-B022-70278A587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421AE-52DA-40D1-94E2-E05E5669DD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5626FD-3CCA-097C-3D71-499284915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C08903-6712-C565-50A5-30C566428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EE83F-4879-4D13-8736-34E00F86F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32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61F4-F424-7543-9D53-70F2AA6BF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39D01-6894-705B-F4B8-9F2023E34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421AE-52DA-40D1-94E2-E05E5669DD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25BE8B-10EE-C7DE-D455-807CB296C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C270C-E8E9-D22C-128F-E3C4FAC0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EE83F-4879-4D13-8736-34E00F86F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8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A42B52-9481-BB9D-1281-D48A578FD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421AE-52DA-40D1-94E2-E05E5669DD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80A0C8-832C-45D9-1BBE-C2663261C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9A554-A64E-7BFE-4915-68CEEC2DC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EE83F-4879-4D13-8736-34E00F86F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12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D194A-A394-1DA5-7738-1D62DD5D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40004-1B22-8E46-25FA-B4BFD4E15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32A0F-D396-08E8-08A0-D0D00FFAA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111AC-2C21-BD70-8B90-7BCBD48C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421AE-52DA-40D1-94E2-E05E5669DD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C12C7-6941-617E-E107-0687D0DE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90B51-56F6-13D5-1DA3-B98F8968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EE83F-4879-4D13-8736-34E00F86F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018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D603F-280F-4E91-6651-6D8DB5CF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9ABA4A-1F87-9A04-34D4-60AEB05CF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4C172-84D1-65EE-AEB4-D071B4BC5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9588A-FEA1-C3F7-F5E1-4258351D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421AE-52DA-40D1-94E2-E05E5669DD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C9E96-4EC2-5425-D7ED-107CD5EF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2234C-E5F4-DC97-4A4D-5E5A00F8F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EE83F-4879-4D13-8736-34E00F86F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568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B82AD-BD82-D0A2-1E4B-CF5D3791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00C54-2E78-979C-F05A-60076F68F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32AFB-D677-C5D3-6DD1-04C31837A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421AE-52DA-40D1-94E2-E05E5669DD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3EDB0-D69E-AE5F-B569-7DEC4B53A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55EE4-4BF2-8D77-2086-63DCA89E6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EE83F-4879-4D13-8736-34E00F86F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095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676898-D6C4-765E-DD07-A23868B0F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F388D2-C855-7BAD-2509-C73195769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2369D-73C9-8045-6B3A-E0033C0F9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421AE-52DA-40D1-94E2-E05E5669DD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F3237-F98F-3765-4474-9367EDEB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22F67-8544-5874-F4D3-1FBB8CA3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EE83F-4879-4D13-8736-34E00F86F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02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B6FF-D1DE-59DB-4FF3-55EEB77E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CFE82-1254-A419-70C9-7F6479670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6F97-CE8D-FC1C-CFFB-9B2E1E14C2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421AE-52DA-40D1-94E2-E05E5669DDC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EAFB1-786A-AED6-4AFE-C390730725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553B0-E8E6-4A0E-FEE3-B4D00C1E3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EE83F-4879-4D13-8736-34E00F86F0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84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13B86-124A-29D7-A421-06E0AAF7B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442" y="1"/>
            <a:ext cx="9737558" cy="16002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Policy as Code (Sentinel)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132949-D7D6-64D1-7DAA-446142B3F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726" y="1812758"/>
            <a:ext cx="10010274" cy="344504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Policy as Code?</a:t>
            </a:r>
          </a:p>
          <a:p>
            <a:pPr algn="l"/>
            <a:r>
              <a:rPr lang="en-US" dirty="0"/>
              <a:t>A method of writing </a:t>
            </a:r>
            <a:r>
              <a:rPr lang="en-US" b="1" dirty="0"/>
              <a:t>policies</a:t>
            </a:r>
            <a:r>
              <a:rPr lang="en-US" dirty="0"/>
              <a:t> (rules, restrictions, guidelines) in </a:t>
            </a:r>
            <a:r>
              <a:rPr lang="en-US" b="1" dirty="0"/>
              <a:t>code form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Ensures infrastructure follows:</a:t>
            </a:r>
          </a:p>
          <a:p>
            <a:pPr lvl="1" algn="l"/>
            <a:r>
              <a:rPr lang="en-US" dirty="0"/>
              <a:t>Security standards</a:t>
            </a:r>
          </a:p>
          <a:p>
            <a:pPr lvl="1" algn="l"/>
            <a:r>
              <a:rPr lang="en-US" dirty="0"/>
              <a:t>Compliance rules</a:t>
            </a:r>
          </a:p>
          <a:p>
            <a:pPr lvl="1" algn="l"/>
            <a:r>
              <a:rPr lang="en-US" dirty="0"/>
              <a:t>Operational best practices</a:t>
            </a:r>
          </a:p>
          <a:p>
            <a:pPr algn="l"/>
            <a:r>
              <a:rPr lang="en-US" dirty="0"/>
              <a:t>Sentinel is </a:t>
            </a:r>
            <a:r>
              <a:rPr lang="en-US" dirty="0" err="1"/>
              <a:t>HashiCorp’s</a:t>
            </a:r>
            <a:r>
              <a:rPr lang="en-US" dirty="0"/>
              <a:t> </a:t>
            </a:r>
            <a:r>
              <a:rPr lang="en-US" b="1" dirty="0"/>
              <a:t>policy-as-code framework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538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416B9-DE80-448C-D79B-E0B7D4DB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Sentinel?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004AE-270A-A147-68BC-AA431CA88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policy enforcement engine</a:t>
            </a:r>
            <a:r>
              <a:rPr lang="en-US" dirty="0"/>
              <a:t> integrated with:</a:t>
            </a:r>
          </a:p>
          <a:p>
            <a:pPr lvl="1"/>
            <a:r>
              <a:rPr lang="en-US" dirty="0"/>
              <a:t>Terraform Cloud</a:t>
            </a:r>
          </a:p>
          <a:p>
            <a:pPr lvl="1"/>
            <a:r>
              <a:rPr lang="en-US" dirty="0"/>
              <a:t>Terraform Enterprise</a:t>
            </a:r>
          </a:p>
          <a:p>
            <a:r>
              <a:rPr lang="en-US" dirty="0"/>
              <a:t>Uses its own high-level language to define rules.</a:t>
            </a:r>
          </a:p>
          <a:p>
            <a:r>
              <a:rPr lang="en-US" dirty="0"/>
              <a:t>Controls what can or cannot be deployed.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173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490A1-1A34-14DB-19CC-002C1FCD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Environments Differ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7DAFFA-4EED-6312-A7D8-CE0888B028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7720802"/>
              </p:ext>
            </p:extLst>
          </p:nvPr>
        </p:nvGraphicFramePr>
        <p:xfrm>
          <a:off x="609600" y="1825624"/>
          <a:ext cx="10744200" cy="311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050">
                  <a:extLst>
                    <a:ext uri="{9D8B030D-6E8A-4147-A177-3AD203B41FA5}">
                      <a16:colId xmlns:a16="http://schemas.microsoft.com/office/drawing/2014/main" val="2816516291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3978714573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3426123364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910999275"/>
                    </a:ext>
                  </a:extLst>
                </a:gridCol>
              </a:tblGrid>
              <a:tr h="519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888782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332480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scale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176230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QA/Testers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Limited, secure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5774794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Flexible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Highly stable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984810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Experiments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31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137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F42E5-D7CD-0562-749D-6C82E5FF1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Terraform Structure for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8E503-0977-18A1-F411-07064C57C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547" y="1331494"/>
            <a:ext cx="11145253" cy="534202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Typical folder structure:</a:t>
            </a:r>
          </a:p>
          <a:p>
            <a:pPr marL="0" indent="0">
              <a:buNone/>
            </a:pPr>
            <a:r>
              <a:rPr lang="en-IN" dirty="0"/>
              <a:t>environments/</a:t>
            </a:r>
          </a:p>
          <a:p>
            <a:pPr marL="0" indent="0">
              <a:buNone/>
            </a:pPr>
            <a:r>
              <a:rPr lang="en-IN" dirty="0"/>
              <a:t>   dev/</a:t>
            </a:r>
          </a:p>
          <a:p>
            <a:pPr marL="0" indent="0">
              <a:buNone/>
            </a:pPr>
            <a:r>
              <a:rPr lang="en-IN" dirty="0"/>
              <a:t>      main.tf</a:t>
            </a:r>
          </a:p>
          <a:p>
            <a:pPr marL="0" indent="0">
              <a:buNone/>
            </a:pPr>
            <a:r>
              <a:rPr lang="en-IN" dirty="0"/>
              <a:t>      variables.tf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qa</a:t>
            </a:r>
            <a:r>
              <a:rPr lang="en-IN" dirty="0"/>
              <a:t>/</a:t>
            </a:r>
          </a:p>
          <a:p>
            <a:pPr marL="0" indent="0">
              <a:buNone/>
            </a:pPr>
            <a:r>
              <a:rPr lang="en-IN" dirty="0"/>
              <a:t>      main.tf</a:t>
            </a:r>
          </a:p>
          <a:p>
            <a:pPr marL="0" indent="0">
              <a:buNone/>
            </a:pPr>
            <a:r>
              <a:rPr lang="en-IN" dirty="0"/>
              <a:t>      variables.tf</a:t>
            </a:r>
          </a:p>
          <a:p>
            <a:pPr marL="0" indent="0">
              <a:buNone/>
            </a:pPr>
            <a:r>
              <a:rPr lang="en-IN" dirty="0"/>
              <a:t>   prod/</a:t>
            </a:r>
          </a:p>
          <a:p>
            <a:pPr marL="0" indent="0">
              <a:buNone/>
            </a:pPr>
            <a:r>
              <a:rPr lang="en-IN" dirty="0"/>
              <a:t>      main.tf</a:t>
            </a:r>
          </a:p>
          <a:p>
            <a:pPr marL="0" indent="0">
              <a:buNone/>
            </a:pPr>
            <a:r>
              <a:rPr lang="en-IN" dirty="0"/>
              <a:t>      variables.tf</a:t>
            </a:r>
          </a:p>
          <a:p>
            <a:pPr marL="0" indent="0">
              <a:buNone/>
            </a:pPr>
            <a:r>
              <a:rPr lang="en-IN" dirty="0"/>
              <a:t>modules/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vpc</a:t>
            </a:r>
            <a:r>
              <a:rPr lang="en-IN" dirty="0"/>
              <a:t>/</a:t>
            </a:r>
          </a:p>
          <a:p>
            <a:pPr marL="0" indent="0">
              <a:buNone/>
            </a:pPr>
            <a:r>
              <a:rPr lang="en-IN" dirty="0"/>
              <a:t>   ec2/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rds</a:t>
            </a:r>
            <a:r>
              <a:rPr lang="en-IN" dirty="0"/>
              <a:t>/</a:t>
            </a:r>
          </a:p>
          <a:p>
            <a:r>
              <a:rPr lang="en-US" dirty="0"/>
              <a:t>Modules are reused across all environments.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4594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AA76E-DD09-5889-813D-59D698A8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Environment-Specific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D5574-45B4-E6B1-E8AD-BD28C5648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1353800" cy="503237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Different values per environment:</a:t>
            </a:r>
          </a:p>
          <a:p>
            <a:r>
              <a:rPr lang="en-IN" dirty="0"/>
              <a:t>Instance size</a:t>
            </a:r>
          </a:p>
          <a:p>
            <a:r>
              <a:rPr lang="en-IN" dirty="0"/>
              <a:t>Database storage</a:t>
            </a:r>
          </a:p>
          <a:p>
            <a:r>
              <a:rPr lang="en-IN" dirty="0"/>
              <a:t>Network CIDRs</a:t>
            </a:r>
          </a:p>
          <a:p>
            <a:r>
              <a:rPr lang="en-IN" dirty="0"/>
              <a:t>S3 bucket names</a:t>
            </a:r>
          </a:p>
          <a:p>
            <a:r>
              <a:rPr lang="en-IN" dirty="0"/>
              <a:t>Logging levels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sv-SE" dirty="0">
                <a:solidFill>
                  <a:srgbClr val="FF0000"/>
                </a:solidFill>
              </a:rPr>
              <a:t>vars-dev.tfvars</a:t>
            </a:r>
          </a:p>
          <a:p>
            <a:pPr marL="0" indent="0">
              <a:buNone/>
            </a:pPr>
            <a:r>
              <a:rPr lang="sv-SE" dirty="0">
                <a:solidFill>
                  <a:srgbClr val="FF0000"/>
                </a:solidFill>
              </a:rPr>
              <a:t>vars-qa.tfvars</a:t>
            </a:r>
          </a:p>
          <a:p>
            <a:pPr marL="0" indent="0">
              <a:buNone/>
            </a:pPr>
            <a:r>
              <a:rPr lang="sv-SE" dirty="0">
                <a:solidFill>
                  <a:srgbClr val="FF0000"/>
                </a:solidFill>
              </a:rPr>
              <a:t>vars-prod.tfvars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470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8FD29-3A2D-6C37-AB58-218BD2E8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CI/CD Integration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CEF95-A47E-6D62-B150-CD13408B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Common workflow:</a:t>
            </a:r>
          </a:p>
          <a:p>
            <a:r>
              <a:rPr lang="en-IN" dirty="0"/>
              <a:t>Developer opens PR</a:t>
            </a:r>
          </a:p>
          <a:p>
            <a:r>
              <a:rPr lang="en-IN" dirty="0"/>
              <a:t>CI pipeline: </a:t>
            </a:r>
            <a:r>
              <a:rPr lang="en-IN" dirty="0" err="1"/>
              <a:t>fmt</a:t>
            </a:r>
            <a:r>
              <a:rPr lang="en-IN" dirty="0"/>
              <a:t> → validate → plan</a:t>
            </a:r>
          </a:p>
          <a:p>
            <a:r>
              <a:rPr lang="en-IN" dirty="0"/>
              <a:t>QA environment auto-applied</a:t>
            </a:r>
          </a:p>
          <a:p>
            <a:r>
              <a:rPr lang="en-IN" dirty="0"/>
              <a:t>Manual approval for prod</a:t>
            </a:r>
          </a:p>
          <a:p>
            <a:r>
              <a:rPr lang="en-IN" dirty="0"/>
              <a:t>Prod deployment after approval</a:t>
            </a:r>
          </a:p>
          <a:p>
            <a:r>
              <a:rPr lang="en-IN" dirty="0"/>
              <a:t>Tools:</a:t>
            </a:r>
          </a:p>
          <a:p>
            <a:r>
              <a:rPr lang="en-IN" dirty="0"/>
              <a:t>GitHub Actions</a:t>
            </a:r>
          </a:p>
          <a:p>
            <a:r>
              <a:rPr lang="en-IN" dirty="0"/>
              <a:t>GitLab CI</a:t>
            </a:r>
          </a:p>
          <a:p>
            <a:r>
              <a:rPr lang="en-IN" dirty="0"/>
              <a:t>Jenkins</a:t>
            </a:r>
          </a:p>
          <a:p>
            <a:r>
              <a:rPr lang="en-IN" dirty="0"/>
              <a:t>Azure DevOps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233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4930-D84D-24C1-2E49-3C50D716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BFECC-98C3-5262-2E21-B2ADB4867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Keep environments isolated</a:t>
            </a:r>
          </a:p>
          <a:p>
            <a:r>
              <a:rPr lang="en-IN" dirty="0"/>
              <a:t>Use modules for shared logic</a:t>
            </a:r>
          </a:p>
          <a:p>
            <a:r>
              <a:rPr lang="en-IN" dirty="0"/>
              <a:t>Maintain separate </a:t>
            </a:r>
            <a:r>
              <a:rPr lang="en-IN" dirty="0" err="1"/>
              <a:t>tfstate</a:t>
            </a:r>
            <a:r>
              <a:rPr lang="en-IN" dirty="0"/>
              <a:t> files</a:t>
            </a:r>
          </a:p>
          <a:p>
            <a:r>
              <a:rPr lang="en-IN" dirty="0"/>
              <a:t>Apply least-privilege IAM per environment</a:t>
            </a:r>
          </a:p>
          <a:p>
            <a:r>
              <a:rPr lang="en-IN" dirty="0"/>
              <a:t>Use meaningful naming conventions</a:t>
            </a:r>
          </a:p>
          <a:p>
            <a:r>
              <a:rPr lang="en-IN" dirty="0"/>
              <a:t>Enable tagging for cost tracking</a:t>
            </a:r>
          </a:p>
          <a:p>
            <a:r>
              <a:rPr lang="en-IN" dirty="0"/>
              <a:t>Automate drift detection in Prod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347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B73F-34FF-C6A9-DD38-4178FCA4B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3FBAC-593B-3660-6997-121AD93B7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Multi-environment setups ensure stability, safety, and scalability.</a:t>
            </a:r>
          </a:p>
          <a:p>
            <a:r>
              <a:rPr lang="en-IN" dirty="0"/>
              <a:t>Dev → QA → Prod lifecycle supports strong release pipelines.</a:t>
            </a:r>
          </a:p>
          <a:p>
            <a:r>
              <a:rPr lang="en-IN" dirty="0"/>
              <a:t>Terraform modules + variables make environments reusable and consistent.</a:t>
            </a:r>
          </a:p>
          <a:p>
            <a:r>
              <a:rPr lang="en-IN" dirty="0"/>
              <a:t>Separate state and CI/CD automation ensure secure, predictable deployments.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1600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322</Words>
  <Application>Microsoft Office PowerPoint</Application>
  <PresentationFormat>Widescreen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Policy as Code (Sentinel) </vt:lpstr>
      <vt:lpstr>What Is Sentinel? </vt:lpstr>
      <vt:lpstr>How Environments Differ </vt:lpstr>
      <vt:lpstr>Terraform Structure for Environments</vt:lpstr>
      <vt:lpstr>Environment-Specific Variables</vt:lpstr>
      <vt:lpstr>CI/CD Integration </vt:lpstr>
      <vt:lpstr>Best Practices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2025-11-21T09:28:36Z</dcterms:created>
  <dcterms:modified xsi:type="dcterms:W3CDTF">2025-11-21T09:34:00Z</dcterms:modified>
</cp:coreProperties>
</file>