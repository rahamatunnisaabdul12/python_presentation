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8BA4-5C36-5926-E0B0-D925F8981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DB4A0-0DB4-C38C-D405-367E0E73B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22D14-C24C-24EC-0A3A-9A632BA9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8155-150B-4288-9D33-471CCF800AC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FF562-EB29-D5EE-9D41-94BF6E437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236AC-DC9A-11A1-80A2-7ED6F7AB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2D0F-A10A-4297-B056-7DC1537D9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423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5B889-5196-D829-0530-6028741E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75898-DD3C-D5CB-9D96-F6DE1C55C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5E231-C4A6-DF1F-8883-FB8CBE47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8155-150B-4288-9D33-471CCF800AC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2865D-4463-703C-8605-F605AC611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C5583-BB91-FC35-DFBC-D3285614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2D0F-A10A-4297-B056-7DC1537D9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160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88EE-EC56-FB88-912A-9F0E70478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4580A-4C1E-7227-A072-B6234B844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9DEC9-23AE-E29D-9D22-B9331CD14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8155-150B-4288-9D33-471CCF800AC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7AA01-0405-20E1-36DD-D50666D3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CCD43-7A76-8B20-61AA-3E5CE9DE9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2D0F-A10A-4297-B056-7DC1537D9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606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0930-F3B7-9147-06A4-2D74104A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864B7-72E4-4EA7-CAA5-910F0946F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710DC-8433-EF9C-3ACE-7C5FB05FE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73EAA-2F40-8814-5E65-F6AD56999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8155-150B-4288-9D33-471CCF800AC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56DFD-58E0-7C9C-9015-3982BB73A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9FF4D-C44B-1DB3-F82D-8B6B15477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2D0F-A10A-4297-B056-7DC1537D9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382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A06A-B3D0-2BC9-F1B1-4FFF9F44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5D75A-7B87-7B9F-01DD-A3EE8742E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5F88F-F5B5-AACD-C721-D1EB2B503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646DCC-3C1B-111D-8228-3C45727C4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CC4700-8611-2844-26C0-7D4B06C38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914DFC-7EE1-9993-E9C8-ED73E0D02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8155-150B-4288-9D33-471CCF800AC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BFB7D1-D29E-57FD-B553-2E9A34D81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64001-A7C4-C8FB-EDAE-322661DC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2D0F-A10A-4297-B056-7DC1537D9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82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C48A-4369-0868-32F3-FFA4A4661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3C2227-F165-C011-0F4A-E182062D7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8155-150B-4288-9D33-471CCF800AC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A07DF2-C76D-6274-48EC-B56F3D4DE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3D6F6-CE01-2631-F5EE-E4C4CEFB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2D0F-A10A-4297-B056-7DC1537D9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081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408305-774A-F19C-FB6B-046C90249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8155-150B-4288-9D33-471CCF800AC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1C8191-1E32-3FC7-F6A0-73366CD17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62927-FAFD-1365-44F0-FD75139D8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2D0F-A10A-4297-B056-7DC1537D9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79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BCDD0-93C4-80CA-E035-A2D89B8C7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2C5EA-76F7-DA05-1187-164742D6E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BE851-D69E-2BF9-7CE4-CF283A7C8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429F5-372E-3013-B32D-988B0182A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8155-150B-4288-9D33-471CCF800AC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8FF60-B743-BDF9-2ECB-7F7134B30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E4A2C-2C72-8BEF-E5AB-664B0A835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2D0F-A10A-4297-B056-7DC1537D9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723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3EEC-7CE5-B4C1-B484-86DFC05EB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76DD9E-1720-2C32-DA96-C73E6ACEBE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9F4F7-BEF4-FC68-E08A-CE1B0F73A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B189E-58DC-1888-601F-F9A8FC0C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8155-150B-4288-9D33-471CCF800AC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48E2F-CD14-FC67-B6EB-808D157C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3FC95-509F-72C8-8CBA-ABE655C12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2D0F-A10A-4297-B056-7DC1537D9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18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EC41-0B9F-E3D9-03A5-B4C1713B2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1BCB6-775B-DEE8-2A22-76B09B4A1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5FED8-6B6B-8E72-E4F0-55509FF71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8155-150B-4288-9D33-471CCF800AC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153EC-E87A-9022-32A6-90A370AC1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774FA-4F72-0C57-556C-9E3ECACE6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2D0F-A10A-4297-B056-7DC1537D9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04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D7C54-9723-B681-10DB-D8F2E8542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EC96D-B438-6240-0275-24B1796F6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74FC9-3FE7-5107-64D6-321EC9E4F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8155-150B-4288-9D33-471CCF800AC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35FC0-1375-A53D-30E7-AC8988EC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1BE22-FC9D-592D-3B90-20A7524E3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E2D0F-A10A-4297-B056-7DC1537D9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0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D07A0E-C5FA-1BC2-7E21-EAB4929C2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021D6-4A92-65C5-AD2B-2F8834008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E49C5-08A1-CBD8-3D1B-A427CCEB8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C8155-150B-4288-9D33-471CCF800AC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310C2-003D-DCDE-7804-26D60D3BD6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D6B68-1FF7-C69D-9424-0FCB4FF64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E2D0F-A10A-4297-B056-7DC1537D9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49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01A27-E06E-2B0D-900C-8AA2541401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Python Programming Tool — NumPy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11D31C-3874-AF53-69F2-BDA679B9B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821" y="2727158"/>
            <a:ext cx="9593179" cy="2530642"/>
          </a:xfrm>
        </p:spPr>
        <p:txBody>
          <a:bodyPr/>
          <a:lstStyle/>
          <a:p>
            <a:r>
              <a:rPr lang="en-US" b="1" dirty="0"/>
              <a:t>Python Programming Tool — NumPy</a:t>
            </a:r>
            <a:br>
              <a:rPr lang="en-US" dirty="0"/>
            </a:br>
            <a:r>
              <a:rPr lang="en-US" dirty="0"/>
              <a:t>High-performance numerical computing library.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192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250F3-D27E-B296-C3C8-654BE9C90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NumPy?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72B7E-5EFE-6D1E-20CD-95FC6189C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NumPy (Numerical Python) is a library used for fast mathematical operations on large datasets.</a:t>
            </a:r>
          </a:p>
          <a:p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is faster and more memory-efficient than normal Python lists.</a:t>
            </a:r>
          </a:p>
          <a:p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Uses </a:t>
            </a:r>
            <a:r>
              <a:rPr lang="en-US" b="1" dirty="0" err="1"/>
              <a:t>ndarrays</a:t>
            </a:r>
            <a:r>
              <a:rPr lang="en-US" dirty="0"/>
              <a:t> (multi-dimensional arrays) for vectorized operations.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100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7BCBF-1B30-9895-4428-71164DF9D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NumPy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846CC-4262-1E3F-3465-08E72FCE4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Foundation for Pandas, SciPy, Scikit-learn, TensorFlow</a:t>
            </a:r>
          </a:p>
          <a:p>
            <a:r>
              <a:rPr lang="en-IN" dirty="0"/>
              <a:t>50× faster than Python lists</a:t>
            </a:r>
          </a:p>
          <a:p>
            <a:r>
              <a:rPr lang="en-IN" dirty="0"/>
              <a:t>Ideal for large numerical datasets</a:t>
            </a:r>
          </a:p>
          <a:p>
            <a:r>
              <a:rPr lang="en-IN" dirty="0"/>
              <a:t>Enables vector math without loops</a:t>
            </a:r>
          </a:p>
          <a:p>
            <a:r>
              <a:rPr lang="en-IN" dirty="0"/>
              <a:t>Supports multi-dimensional matrix operations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9263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1B335-47F5-A1F9-4B61-5330065EB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Concepts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00158-DD02-8543-6AEA-E72B80F8B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ndarray</a:t>
            </a:r>
            <a:r>
              <a:rPr lang="en-IN" b="1" dirty="0"/>
              <a:t>:</a:t>
            </a:r>
            <a:r>
              <a:rPr lang="en-IN" dirty="0"/>
              <a:t> NumPy’s main data structure</a:t>
            </a:r>
          </a:p>
          <a:p>
            <a:r>
              <a:rPr lang="en-IN" b="1" dirty="0"/>
              <a:t>Vectorized operations:</a:t>
            </a:r>
            <a:r>
              <a:rPr lang="en-IN" dirty="0"/>
              <a:t> operations on entire arrays</a:t>
            </a:r>
          </a:p>
          <a:p>
            <a:r>
              <a:rPr lang="en-IN" b="1" dirty="0"/>
              <a:t>Broadcasting:</a:t>
            </a:r>
            <a:r>
              <a:rPr lang="en-IN" dirty="0"/>
              <a:t> auto-expands smaller arrays</a:t>
            </a:r>
          </a:p>
          <a:p>
            <a:r>
              <a:rPr lang="en-IN" b="1" dirty="0"/>
              <a:t>Slicing:</a:t>
            </a:r>
            <a:r>
              <a:rPr lang="en-IN" dirty="0"/>
              <a:t> fast extraction of data ranges</a:t>
            </a:r>
          </a:p>
          <a:p>
            <a:r>
              <a:rPr lang="en-IN" b="1" dirty="0"/>
              <a:t>Data types:</a:t>
            </a:r>
            <a:r>
              <a:rPr lang="en-IN" dirty="0"/>
              <a:t> int, float, </a:t>
            </a:r>
            <a:r>
              <a:rPr lang="en-IN" dirty="0" err="1"/>
              <a:t>boolean</a:t>
            </a:r>
            <a:r>
              <a:rPr lang="en-IN" dirty="0"/>
              <a:t>, complex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556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7184-6838-2037-5734-7AB0234C2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Creating Arrays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2795-76B5-E731-2773-7C982056A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NumPy supports:</a:t>
            </a:r>
          </a:p>
          <a:p>
            <a:r>
              <a:rPr lang="en-US" dirty="0"/>
              <a:t>1D arrays</a:t>
            </a:r>
          </a:p>
          <a:p>
            <a:r>
              <a:rPr lang="en-US" dirty="0"/>
              <a:t>2D matrices</a:t>
            </a:r>
          </a:p>
          <a:p>
            <a:r>
              <a:rPr lang="en-US" dirty="0"/>
              <a:t>Multi-dimensional arrays</a:t>
            </a:r>
          </a:p>
          <a:p>
            <a:r>
              <a:rPr lang="en-US" dirty="0"/>
              <a:t>Arrays from lists</a:t>
            </a:r>
          </a:p>
          <a:p>
            <a:r>
              <a:rPr lang="en-US" dirty="0"/>
              <a:t>Arrays filled with zeros, ones, or random values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630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2A491-02DA-D78C-E603-5C736F7A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Array Operations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4BF3F-DEED-144F-2D0E-57DA4581C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NumPy enables:</a:t>
            </a:r>
          </a:p>
          <a:p>
            <a:r>
              <a:rPr lang="en-IN" dirty="0"/>
              <a:t>Addition, subtraction, multiplication</a:t>
            </a:r>
          </a:p>
          <a:p>
            <a:r>
              <a:rPr lang="en-IN" dirty="0"/>
              <a:t>Square root, exponent, logarithm</a:t>
            </a:r>
          </a:p>
          <a:p>
            <a:r>
              <a:rPr lang="en-IN" dirty="0"/>
              <a:t>Mean, median, sum</a:t>
            </a:r>
          </a:p>
          <a:p>
            <a:r>
              <a:rPr lang="en-IN" dirty="0"/>
              <a:t>Dot product (matrix multiplication)</a:t>
            </a:r>
          </a:p>
          <a:p>
            <a:r>
              <a:rPr lang="en-IN" dirty="0"/>
              <a:t>Element-wise operations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1555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9EB99-B674-E259-62B7-EF09F733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Broadcasting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D98B6-D68C-17A2-EA66-B5EB4FE2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Ability to apply operations between arrays of different shapes.</a:t>
            </a:r>
          </a:p>
          <a:p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Reduces complex looping.</a:t>
            </a:r>
            <a:br>
              <a:rPr lang="en-US" dirty="0"/>
            </a:br>
            <a:r>
              <a:rPr lang="en-US" dirty="0"/>
              <a:t>Allows fast, clean numerical computation.</a:t>
            </a:r>
          </a:p>
          <a:p>
            <a:r>
              <a:rPr lang="en-US" b="1" dirty="0"/>
              <a:t>Examples:</a:t>
            </a:r>
            <a:br>
              <a:rPr lang="en-US" dirty="0"/>
            </a:br>
            <a:r>
              <a:rPr lang="en-US" dirty="0"/>
              <a:t>Adding a scalar to an entire array, multiplying row-wise, etc.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33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C7C2-0258-96FF-7A89-D733EE82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NumPy is Used in Real Projects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A55A7-845A-4093-4130-55D9484B5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preprocessing (normalization, scaling)</a:t>
            </a:r>
          </a:p>
          <a:p>
            <a:r>
              <a:rPr lang="en-IN" dirty="0"/>
              <a:t>Machine Learning (matrix operations, tensors)</a:t>
            </a:r>
          </a:p>
          <a:p>
            <a:r>
              <a:rPr lang="en-IN" dirty="0"/>
              <a:t>Statistical analysis</a:t>
            </a:r>
          </a:p>
          <a:p>
            <a:r>
              <a:rPr lang="en-IN" dirty="0"/>
              <a:t>Image processing (pixel arrays)</a:t>
            </a:r>
          </a:p>
          <a:p>
            <a:r>
              <a:rPr lang="en-IN" dirty="0"/>
              <a:t>Large numerical simulations</a:t>
            </a:r>
          </a:p>
          <a:p>
            <a:r>
              <a:rPr lang="en-IN" dirty="0"/>
              <a:t>Scientific computing</a:t>
            </a:r>
          </a:p>
          <a:p>
            <a:r>
              <a:rPr lang="en-IN" dirty="0"/>
              <a:t>Outcome: Fast, optimized numerical tasks.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505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1B417-76D9-B9F1-232F-43AE8C6C4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NumPy vs Python Lists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3076F5-5786-5D99-C728-0BECE53789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226555"/>
              </p:ext>
            </p:extLst>
          </p:nvPr>
        </p:nvGraphicFramePr>
        <p:xfrm>
          <a:off x="657726" y="1825624"/>
          <a:ext cx="10696071" cy="3676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5357">
                  <a:extLst>
                    <a:ext uri="{9D8B030D-6E8A-4147-A177-3AD203B41FA5}">
                      <a16:colId xmlns:a16="http://schemas.microsoft.com/office/drawing/2014/main" val="2557156657"/>
                    </a:ext>
                  </a:extLst>
                </a:gridCol>
                <a:gridCol w="3565357">
                  <a:extLst>
                    <a:ext uri="{9D8B030D-6E8A-4147-A177-3AD203B41FA5}">
                      <a16:colId xmlns:a16="http://schemas.microsoft.com/office/drawing/2014/main" val="2454030415"/>
                    </a:ext>
                  </a:extLst>
                </a:gridCol>
                <a:gridCol w="3565357">
                  <a:extLst>
                    <a:ext uri="{9D8B030D-6E8A-4147-A177-3AD203B41FA5}">
                      <a16:colId xmlns:a16="http://schemas.microsoft.com/office/drawing/2014/main" val="3079272428"/>
                    </a:ext>
                  </a:extLst>
                </a:gridCol>
              </a:tblGrid>
              <a:tr h="735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NumPy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5415266"/>
                  </a:ext>
                </a:extLst>
              </a:tr>
              <a:tr h="735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885631"/>
                  </a:ext>
                </a:extLst>
              </a:tr>
              <a:tr h="735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289892"/>
                  </a:ext>
                </a:extLst>
              </a:tr>
              <a:tr h="735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Vectorized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153321"/>
                  </a:ext>
                </a:extLst>
              </a:tr>
              <a:tr h="735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Dimensionality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Only 1D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Multi-dimensional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125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588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FBD9-9698-9558-8622-84CE1813A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978C4-778E-E541-F1E2-C38EFE7F1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NumPy = core numerical computing tool</a:t>
            </a:r>
          </a:p>
          <a:p>
            <a:r>
              <a:rPr lang="en-US" dirty="0"/>
              <a:t>Provides fast arrays and vectorized operations</a:t>
            </a:r>
          </a:p>
          <a:p>
            <a:r>
              <a:rPr lang="en-US" dirty="0"/>
              <a:t>Essential for ML, AI, Data Science, Engineering</a:t>
            </a:r>
          </a:p>
          <a:p>
            <a:r>
              <a:rPr lang="en-US" dirty="0"/>
              <a:t>Powers Pandas and many scientific libraries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026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Python Programming Tool — NumPy </vt:lpstr>
      <vt:lpstr>What is NumPy?</vt:lpstr>
      <vt:lpstr>Why NumPy is Important</vt:lpstr>
      <vt:lpstr>Core Concepts </vt:lpstr>
      <vt:lpstr>Creating Arrays </vt:lpstr>
      <vt:lpstr>Array Operations </vt:lpstr>
      <vt:lpstr>Broadcasting </vt:lpstr>
      <vt:lpstr>Why NumPy is Used in Real Projects </vt:lpstr>
      <vt:lpstr>NumPy vs Python Lists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2025-11-18T11:31:07Z</dcterms:created>
  <dcterms:modified xsi:type="dcterms:W3CDTF">2025-11-18T11:31:22Z</dcterms:modified>
</cp:coreProperties>
</file>