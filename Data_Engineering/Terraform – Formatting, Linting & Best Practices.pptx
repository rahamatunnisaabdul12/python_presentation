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7598-3071-276A-C7F8-A1242B73F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288BF-5F99-89C8-A9C2-54492C217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127EF-DA6B-08BC-FF1E-FF5A7AED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4E73-D545-0656-174A-5392632A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0D39-D8D6-5F7D-3E35-DF43AF36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22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8F93-96D8-9817-4EF3-5853E31D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4AED-29E0-68FB-A704-D31165A14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64A4E-1DA5-B853-B100-85D7D551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E6D1-2DC5-8429-279D-8141A91B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33655-FC3E-0059-EB3D-80EF7F80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4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0CF5-AA25-93C7-7252-BF13E386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B6323-C398-0CF9-E8A0-D6B974EEB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1F64-E619-A936-D44A-063E5181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0635D-52C8-75F9-C10A-0AF1671E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2687-2986-AC7C-EF83-7166E5BA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13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9A78-FB0D-7BC6-9DAC-967ECCD7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FA0AA-B17F-7448-33D6-8F0379840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BB98F-6C70-8CCE-96EB-48E1D38F1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F77A1-8050-3477-9C1A-7EB150AE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52B0A-8FA8-7CEA-52A8-772B1ED9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5445E-D3ED-1EDD-E8AA-B44FAAB7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41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7B76-D559-4C17-7080-A97CFD30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8588-701D-1BDC-707C-1A6219148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73B84-263D-CA6F-CFB7-F7492F6E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DBB68-D24E-C65D-10E1-BA29AE7E1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860B0-2552-4551-BBE4-3DE13DFCB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17BC1-29A7-3FC3-2127-55E57086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1862F-F8D7-EA32-69EF-CF5B642B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B3160-58ED-AD1A-C374-8B942902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8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04B6-A43C-2283-23A9-54261F51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F8C81-9977-3CD0-EB23-0EFCA999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015F0-307A-428E-301F-DB93FADC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C517A-D788-556C-A3DE-A52C96A9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58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0F996-EEE4-4A0C-9B48-290B220D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C077E-FB28-48F1-E502-52624E29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F122-F873-475A-AAD9-56C0C53F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27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8AA7-198F-D1EA-1C25-9D884D9F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0700-AC10-E974-B705-42FF837C9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82735-E51A-ACBF-9D71-8C76C35B9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38283-91FA-E308-C92C-38047B25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F4DE7-196C-DE71-8C0D-A6E41806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4547E-1AD8-8ACF-58F5-7649384B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7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B1A5-2B3A-DC3B-7660-5CFC8768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7A068-FF04-0BE6-0FDB-8B96C63D4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2FF02-5167-4846-4792-9E4D8C7FF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59ACA-C51F-F157-1044-B18812BA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B8AFC-0D0B-DF62-563D-E3055AAD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F3146-B70D-3161-B9BF-DB705C3F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24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067C-5814-4579-61EE-C4C52D6E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4B8D7-EAC3-F189-3088-59EC1E51A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BD1E-3D46-6D52-6DDD-AD035601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B09C9-D007-E91E-302D-BD59BF3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6B5C-240E-1E13-8712-F35D1304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0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87B06-F5CF-D695-E6AA-38316DC6E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F1501-FA2C-0EF3-83C2-DA739DD8A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03A3-98D3-0BBE-3A3F-08391EA80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1F9A-4570-6AFB-EB2E-0637825C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A1772-AF9D-1498-6717-EEAF5480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83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A54F1-60DB-E9B2-2132-958AFE36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5F94B-A14E-1D99-A8D4-C9C681A6E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4D886-B62B-DF35-354F-BFAD6CC1E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045AF-4FCD-4C26-9185-409720FEDBD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AFFB3-4089-D4E3-F61D-FF3B60A95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8A8AF-4AC2-1C3C-39B2-54D4581F1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6A91D-7306-4FD6-9BE0-27A09271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57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ACF0-22F8-05E8-5174-F9DF23C9D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74" y="224589"/>
            <a:ext cx="9801726" cy="24223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Terraform – Formatting, Linting &amp; Best Practices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844B7-C2A3-B8D5-7FDE-517D21A16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" y="1844842"/>
            <a:ext cx="10186737" cy="501315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Formatting &amp; Linting?</a:t>
            </a:r>
          </a:p>
          <a:p>
            <a:pPr algn="l"/>
            <a:r>
              <a:rPr lang="en-IN" b="1" dirty="0"/>
              <a:t>Formatting</a:t>
            </a:r>
          </a:p>
          <a:p>
            <a:pPr algn="l"/>
            <a:r>
              <a:rPr lang="en-IN" dirty="0"/>
              <a:t>Automatically organizes Terraform code style (spacing, alignment, structure).</a:t>
            </a:r>
          </a:p>
          <a:p>
            <a:pPr algn="l"/>
            <a:r>
              <a:rPr lang="en-IN" b="1" dirty="0"/>
              <a:t>Linting</a:t>
            </a:r>
          </a:p>
          <a:p>
            <a:pPr algn="l"/>
            <a:r>
              <a:rPr lang="en-IN" dirty="0"/>
              <a:t>Static analysis that checks for:</a:t>
            </a:r>
          </a:p>
          <a:p>
            <a:pPr lvl="1" algn="l"/>
            <a:r>
              <a:rPr lang="en-IN" dirty="0"/>
              <a:t>Syntax errors</a:t>
            </a:r>
          </a:p>
          <a:p>
            <a:pPr lvl="1" algn="l"/>
            <a:r>
              <a:rPr lang="en-IN" dirty="0"/>
              <a:t>Security issues</a:t>
            </a:r>
          </a:p>
          <a:p>
            <a:pPr lvl="1" algn="l"/>
            <a:r>
              <a:rPr lang="en-IN" dirty="0"/>
              <a:t>Bad patterns</a:t>
            </a:r>
          </a:p>
          <a:p>
            <a:pPr lvl="1" algn="l"/>
            <a:r>
              <a:rPr lang="en-IN" dirty="0"/>
              <a:t>Missing arguments</a:t>
            </a:r>
          </a:p>
          <a:p>
            <a:pPr lvl="1" algn="l"/>
            <a:r>
              <a:rPr lang="en-IN" dirty="0"/>
              <a:t>Deprecated resources</a:t>
            </a:r>
          </a:p>
          <a:p>
            <a:pPr algn="l"/>
            <a:r>
              <a:rPr lang="en-IN" dirty="0"/>
              <a:t>Together, they improve code readability and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3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3901-C2F0-E048-3580-AD60D524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Formatting &amp; Linting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959A-8E00-CAC6-2651-2C423869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code easier to read and maintain</a:t>
            </a:r>
          </a:p>
          <a:p>
            <a:r>
              <a:rPr lang="en-US" dirty="0"/>
              <a:t>Ensures consistent style across teams</a:t>
            </a:r>
          </a:p>
          <a:p>
            <a:r>
              <a:rPr lang="en-US" dirty="0"/>
              <a:t>Detects mistakes early</a:t>
            </a:r>
          </a:p>
          <a:p>
            <a:r>
              <a:rPr lang="en-US" dirty="0"/>
              <a:t>Avoids deployment failures</a:t>
            </a:r>
          </a:p>
          <a:p>
            <a:r>
              <a:rPr lang="en-US" dirty="0"/>
              <a:t>Helps enforce team or company standards</a:t>
            </a:r>
          </a:p>
          <a:p>
            <a:r>
              <a:rPr lang="en-US" dirty="0"/>
              <a:t>Improves collaboration and code 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79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9468-E84A-5263-38E7-29A535D2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Terraform Formatting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4555-8A80-9744-5819-9E8F2C5C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Command: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terraform </a:t>
            </a:r>
            <a:r>
              <a:rPr lang="en-US" dirty="0" err="1">
                <a:solidFill>
                  <a:srgbClr val="FF0000"/>
                </a:solidFill>
              </a:rPr>
              <a:t>fmt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What it does:</a:t>
            </a:r>
          </a:p>
          <a:p>
            <a:r>
              <a:rPr lang="en-US" dirty="0"/>
              <a:t>Fixes indentation</a:t>
            </a:r>
          </a:p>
          <a:p>
            <a:r>
              <a:rPr lang="en-US" dirty="0"/>
              <a:t>Sorts resource attributes</a:t>
            </a:r>
          </a:p>
          <a:p>
            <a:r>
              <a:rPr lang="en-US" dirty="0"/>
              <a:t>Normalizes the structure of .</a:t>
            </a:r>
            <a:r>
              <a:rPr lang="en-US" dirty="0" err="1"/>
              <a:t>tf</a:t>
            </a:r>
            <a:r>
              <a:rPr lang="en-US" dirty="0"/>
              <a:t> files</a:t>
            </a:r>
          </a:p>
          <a:p>
            <a:r>
              <a:rPr lang="en-US" dirty="0"/>
              <a:t>Automatically applied in CI/CD pipelines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39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1999-A1C8-D952-A140-4AA8BF89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Linting Tools for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6A37-5C20-100C-F2D0-FD1C4C88E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Widely used linting tools:</a:t>
            </a:r>
          </a:p>
          <a:p>
            <a:r>
              <a:rPr lang="en-IN" b="1" dirty="0"/>
              <a:t>terraform validate</a:t>
            </a:r>
            <a:endParaRPr lang="en-IN" dirty="0"/>
          </a:p>
          <a:p>
            <a:pPr lvl="1"/>
            <a:r>
              <a:rPr lang="en-IN" dirty="0"/>
              <a:t>Checks if configuration is syntactically valid.</a:t>
            </a:r>
          </a:p>
          <a:p>
            <a:r>
              <a:rPr lang="en-IN" b="1" dirty="0" err="1"/>
              <a:t>tflint</a:t>
            </a:r>
            <a:endParaRPr lang="en-IN" dirty="0"/>
          </a:p>
          <a:p>
            <a:pPr lvl="1"/>
            <a:r>
              <a:rPr lang="en-IN" dirty="0"/>
              <a:t>Deep linting with AWS/Azure/GCP rules.</a:t>
            </a:r>
          </a:p>
          <a:p>
            <a:pPr lvl="1"/>
            <a:r>
              <a:rPr lang="en-IN" dirty="0"/>
              <a:t>Detects unused variables, invalid types, and security risks.</a:t>
            </a:r>
          </a:p>
          <a:p>
            <a:r>
              <a:rPr lang="en-IN" b="1" dirty="0" err="1"/>
              <a:t>tfsec</a:t>
            </a:r>
            <a:r>
              <a:rPr lang="en-IN" b="1" dirty="0"/>
              <a:t> / </a:t>
            </a:r>
            <a:r>
              <a:rPr lang="en-IN" b="1" dirty="0" err="1"/>
              <a:t>Terrascan</a:t>
            </a:r>
            <a:endParaRPr lang="en-IN" dirty="0"/>
          </a:p>
          <a:p>
            <a:pPr lvl="1"/>
            <a:r>
              <a:rPr lang="en-IN" dirty="0"/>
              <a:t>Security scanning for:</a:t>
            </a:r>
          </a:p>
          <a:p>
            <a:pPr lvl="2"/>
            <a:r>
              <a:rPr lang="en-IN" dirty="0"/>
              <a:t>Misconfigured IAM</a:t>
            </a:r>
          </a:p>
          <a:p>
            <a:pPr lvl="2"/>
            <a:r>
              <a:rPr lang="en-IN" dirty="0"/>
              <a:t>Public buckets</a:t>
            </a:r>
          </a:p>
          <a:p>
            <a:pPr lvl="2"/>
            <a:r>
              <a:rPr lang="en-IN" dirty="0"/>
              <a:t>Open security groups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6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5307-F56C-FA2D-D349-1C0F5CFA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Linting Works 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EDC79-3C69-1407-6F62-5581C571D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Example </a:t>
            </a:r>
            <a:r>
              <a:rPr lang="en-US" b="1" dirty="0" err="1"/>
              <a:t>tflint</a:t>
            </a:r>
            <a:r>
              <a:rPr lang="en-US" b="1" dirty="0"/>
              <a:t> issues:</a:t>
            </a:r>
          </a:p>
          <a:p>
            <a:r>
              <a:rPr lang="en-US" dirty="0"/>
              <a:t>Unused variables</a:t>
            </a:r>
          </a:p>
          <a:p>
            <a:r>
              <a:rPr lang="en-US" dirty="0"/>
              <a:t>Wrong EC2 instance types</a:t>
            </a:r>
          </a:p>
          <a:p>
            <a:r>
              <a:rPr lang="en-US" dirty="0"/>
              <a:t>Deprecated resource usage</a:t>
            </a:r>
          </a:p>
          <a:p>
            <a:r>
              <a:rPr lang="en-US" dirty="0"/>
              <a:t>Missing required tags</a:t>
            </a:r>
          </a:p>
          <a:p>
            <a:r>
              <a:rPr lang="en-US" dirty="0"/>
              <a:t>Unsecured S3 policies</a:t>
            </a:r>
          </a:p>
          <a:p>
            <a:r>
              <a:rPr lang="en-US" b="1" dirty="0"/>
              <a:t>Example </a:t>
            </a:r>
            <a:r>
              <a:rPr lang="en-US" b="1" dirty="0" err="1"/>
              <a:t>tfsec</a:t>
            </a:r>
            <a:r>
              <a:rPr lang="en-US" b="1" dirty="0"/>
              <a:t> alerts:</a:t>
            </a:r>
          </a:p>
          <a:p>
            <a:r>
              <a:rPr lang="en-US" dirty="0"/>
              <a:t>S3 bucket without encryption</a:t>
            </a:r>
          </a:p>
          <a:p>
            <a:r>
              <a:rPr lang="en-US" dirty="0"/>
              <a:t>Security group open to 0.0.0.0/0</a:t>
            </a:r>
          </a:p>
          <a:p>
            <a:r>
              <a:rPr lang="en-US" dirty="0"/>
              <a:t>RDS without backup retention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06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A110-E398-20F7-002E-54E2F475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Terraform Best Practices (General)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A9762-9034-FE8F-7753-715EC83E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modules for reusability</a:t>
            </a:r>
          </a:p>
          <a:p>
            <a:r>
              <a:rPr lang="en-IN" dirty="0"/>
              <a:t>Use remote backend (S3 + DynamoDB, GCS, Azure Storage)</a:t>
            </a:r>
          </a:p>
          <a:p>
            <a:r>
              <a:rPr lang="en-IN" dirty="0"/>
              <a:t>Run terraform plan before apply</a:t>
            </a:r>
          </a:p>
          <a:p>
            <a:r>
              <a:rPr lang="en-IN" dirty="0"/>
              <a:t>Split environments (dev/stage/prod)</a:t>
            </a:r>
          </a:p>
          <a:p>
            <a:r>
              <a:rPr lang="en-IN" dirty="0"/>
              <a:t>Use descriptive resource names</a:t>
            </a:r>
          </a:p>
          <a:p>
            <a:r>
              <a:rPr lang="en-IN" dirty="0"/>
              <a:t>Avoid hardcoding values</a:t>
            </a:r>
          </a:p>
          <a:p>
            <a:r>
              <a:rPr lang="en-IN" dirty="0"/>
              <a:t>Use variables + locals for clean configs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95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44B1-10FA-EB31-E781-2F0D38D3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F50BF-ACA3-648B-6538-D7E5A0882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enable encryption (S3, RDS, disks)</a:t>
            </a:r>
          </a:p>
          <a:p>
            <a:r>
              <a:rPr lang="en-US" dirty="0"/>
              <a:t>Block public access by default</a:t>
            </a:r>
          </a:p>
          <a:p>
            <a:r>
              <a:rPr lang="en-US" dirty="0"/>
              <a:t>Use IAM least privilege</a:t>
            </a:r>
          </a:p>
          <a:p>
            <a:r>
              <a:rPr lang="en-US" dirty="0"/>
              <a:t>Store secrets in SSM/Secrets Manager (not .</a:t>
            </a:r>
            <a:r>
              <a:rPr lang="en-US" dirty="0" err="1"/>
              <a:t>tf</a:t>
            </a:r>
            <a:r>
              <a:rPr lang="en-US" dirty="0"/>
              <a:t> files)</a:t>
            </a:r>
          </a:p>
          <a:p>
            <a:r>
              <a:rPr lang="en-US" dirty="0"/>
              <a:t>Avoid committing </a:t>
            </a:r>
            <a:r>
              <a:rPr lang="en-US" dirty="0" err="1"/>
              <a:t>terraform.tfstate</a:t>
            </a:r>
            <a:r>
              <a:rPr lang="en-US" dirty="0"/>
              <a:t> or secrets to Git</a:t>
            </a:r>
          </a:p>
          <a:p>
            <a:r>
              <a:rPr lang="en-US" dirty="0"/>
              <a:t>Use Sentinel/OPA policies in CI/CD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51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06CF-8051-F2EF-43A3-49B05C32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Collaboration &amp; Workflow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4EC4-5213-0548-8873-F420EA2B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Enforce terraform </a:t>
            </a:r>
            <a:r>
              <a:rPr lang="en-IN" dirty="0" err="1"/>
              <a:t>fmt</a:t>
            </a:r>
            <a:r>
              <a:rPr lang="en-IN" dirty="0"/>
              <a:t> in Git hooks</a:t>
            </a:r>
          </a:p>
          <a:p>
            <a:r>
              <a:rPr lang="en-IN" dirty="0"/>
              <a:t>Use CI/CD (GitHub Actions / Jenkins) for:</a:t>
            </a:r>
          </a:p>
          <a:p>
            <a:pPr lvl="1"/>
            <a:r>
              <a:rPr lang="en-IN" dirty="0"/>
              <a:t>Validate</a:t>
            </a:r>
          </a:p>
          <a:p>
            <a:pPr lvl="1"/>
            <a:r>
              <a:rPr lang="en-IN" dirty="0"/>
              <a:t>Lint</a:t>
            </a:r>
          </a:p>
          <a:p>
            <a:pPr lvl="1"/>
            <a:r>
              <a:rPr lang="en-IN" dirty="0"/>
              <a:t>Security scan</a:t>
            </a:r>
          </a:p>
          <a:p>
            <a:pPr lvl="1"/>
            <a:r>
              <a:rPr lang="en-IN" dirty="0"/>
              <a:t>Plan</a:t>
            </a:r>
          </a:p>
          <a:p>
            <a:r>
              <a:rPr lang="en-IN" dirty="0"/>
              <a:t>Create pull-request based approvals</a:t>
            </a:r>
          </a:p>
          <a:p>
            <a:r>
              <a:rPr lang="en-IN" dirty="0"/>
              <a:t>Document module usage</a:t>
            </a:r>
          </a:p>
          <a:p>
            <a:r>
              <a:rPr lang="en-IN" dirty="0"/>
              <a:t>Maintain versioning for all modules and providers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563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2981-EF24-CCD5-350D-F5E926A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8DD0-411B-DB0D-907D-6481A6D6B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Formatting → keeps code clean</a:t>
            </a:r>
          </a:p>
          <a:p>
            <a:r>
              <a:rPr lang="en-IN" dirty="0"/>
              <a:t>Linting → detects errors &amp; security issues</a:t>
            </a:r>
          </a:p>
          <a:p>
            <a:r>
              <a:rPr lang="en-IN" dirty="0"/>
              <a:t>Best practices → improve safety, maintainability, scalability</a:t>
            </a:r>
          </a:p>
          <a:p>
            <a:r>
              <a:rPr lang="en-IN" dirty="0"/>
              <a:t>Tools include terraform </a:t>
            </a:r>
            <a:r>
              <a:rPr lang="en-IN" dirty="0" err="1"/>
              <a:t>fmt</a:t>
            </a:r>
            <a:r>
              <a:rPr lang="en-IN" dirty="0"/>
              <a:t>, terraform validate, </a:t>
            </a:r>
            <a:r>
              <a:rPr lang="en-IN" dirty="0" err="1"/>
              <a:t>tflint</a:t>
            </a:r>
            <a:r>
              <a:rPr lang="en-IN" dirty="0"/>
              <a:t>, </a:t>
            </a:r>
            <a:r>
              <a:rPr lang="en-IN" dirty="0" err="1"/>
              <a:t>tfsec</a:t>
            </a:r>
            <a:r>
              <a:rPr lang="en-IN" dirty="0"/>
              <a:t>, and </a:t>
            </a:r>
            <a:r>
              <a:rPr lang="en-IN" dirty="0" err="1"/>
              <a:t>Terrascan</a:t>
            </a:r>
            <a:endParaRPr lang="en-IN" dirty="0"/>
          </a:p>
          <a:p>
            <a:r>
              <a:rPr lang="en-IN"/>
              <a:t>Consistent Terraform hygiene leads to stable, predictable cloud deployments.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37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– Formatting, Linting &amp; Best Practices </vt:lpstr>
      <vt:lpstr>Why Formatting &amp; Linting Matter</vt:lpstr>
      <vt:lpstr>How Terraform Formatting Works</vt:lpstr>
      <vt:lpstr>Linting Tools for Terraform</vt:lpstr>
      <vt:lpstr>How Linting Works (Examples)</vt:lpstr>
      <vt:lpstr>Terraform Best Practices (General) </vt:lpstr>
      <vt:lpstr>Security Best Practices</vt:lpstr>
      <vt:lpstr>Collaboration &amp; Workflow Best Practices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2025-11-21T08:39:17Z</dcterms:created>
  <dcterms:modified xsi:type="dcterms:W3CDTF">2025-11-21T08:39:22Z</dcterms:modified>
</cp:coreProperties>
</file>