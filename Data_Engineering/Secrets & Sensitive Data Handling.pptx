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C0F4-DC9C-3057-746F-630CC0675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F0F7F-D5A1-3301-D952-64B2DA01A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7D008-171B-C30B-52B3-8F193CE7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68FDC-4DC3-7C14-4C53-06DA31A1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A21B-D795-B14D-41AE-6221CBC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74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9461-6B7E-8A84-2371-010F266C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ED5B2-CDCE-5EEA-73C9-C1882981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F777E-A5E3-B034-FFFE-AB2288E8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8AF49-448F-6ABF-672E-A630312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F5FEB-182A-B507-3B7F-F466C62B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9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144E-6D6E-F050-C173-1AF86E85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B3CA1-F2ED-13AE-DBF3-CF38F8F6D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4C9B-ED50-C49F-1C7C-45755E22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726AA-6C18-7048-4359-E3860E69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C6220-B5E3-0952-DA2F-9D8280D0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00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ED64-0022-790B-3B2A-0A002E7F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E4D3C-5808-C88A-F28D-BDA30E390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66C70-FE90-98A5-8A7F-39F1C041D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DCF1C-9021-5792-D242-7634E165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8B6D4-3B87-6FA9-2253-B056365C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1390A-5BF6-A342-CE0E-EEA910A2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10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3DD3-9434-A894-AAEA-0DC3AAC9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58BDB-34A6-57DB-C962-8B4B2B324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0626F-3A29-06E3-C768-7C94EB1EA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38ED1-A6FA-7188-4A3C-29BDDA4E3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88BB2-A83C-22EC-3FC6-292E990D7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68485-EF27-989B-382F-FFD7D3FD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6C180-AEC0-121B-8DC2-81B52692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D36F5-3DF4-EC62-8276-9003793D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2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5368-C858-39FD-7BA8-D11118F0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78B37-A112-904D-3D6F-A81BD4BA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4148D-E51A-9D69-3B98-31967ADB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E9F67-8402-84D2-CE27-114C2E1B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47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F887E-8190-A9C7-4AD8-E0E03E02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BCB030-553B-0E70-4852-AA22D31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14A10-9F49-D3BC-94C7-DA545F67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690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8B9C-A98C-5C16-1530-3E262945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2583-249C-D3CF-FCDC-78C9D56B2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6CC34-72F2-2FDB-C414-4385C1C14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0C233-23E7-0EDC-0CC5-886B9BC4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3A825-7D01-A08C-BD82-120806C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35F9C-4B1D-8C65-E346-0C822ADA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17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C288-9F99-5EA5-6E6F-6CCFEE6D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56EDE-A872-A24B-EFEA-AA4FD2B33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9B614-3FFA-8596-5AB2-57E850E42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24920-66A9-E57D-DFFC-EF8916FB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107F0-5489-2129-EC4B-980FDE47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8DC13-B96C-B964-0878-42772D06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75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CE80-8B4B-7708-4AF4-D08D60AD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163EB-8189-62B4-A800-BA6AB447D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D26AF-64EE-4DBB-7486-559D02B7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B266-FF5A-8108-4260-607EDAA8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1CD66-C268-990F-EBDA-5BCFE946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51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C358C-CE05-6BC9-5115-D0B0ECD59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3698D-E4D2-A88C-EA14-EE0F2C265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D6ED2-8320-B788-C55C-0296F571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D55CE-9CB2-9DDA-9B61-C8ECEFA1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404B8-FC5F-5841-3C16-DB2BD06F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52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92E54-3066-442A-BEAF-E1746BC14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5D508-A6D6-E5B5-6EB5-23A8D7A0B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D112D-E5F3-FBAE-7E06-D591AE745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5F69D-646C-4324-B6FA-8CB0D89A9AC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3DFB2-543D-292F-218B-01726DF9D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627FC-FECE-ADB6-D9A4-CF5A9718C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D1308-23E3-4CF5-8E1B-D666E38E5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374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E88A-89BD-2860-CF90-829205CEB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89" y="-978568"/>
            <a:ext cx="10010274" cy="3702468"/>
          </a:xfrm>
        </p:spPr>
        <p:txBody>
          <a:bodyPr>
            <a:normAutofit/>
          </a:bodyPr>
          <a:lstStyle/>
          <a:p>
            <a:r>
              <a:rPr lang="en-IN" b="1" dirty="0"/>
              <a:t>Secrets &amp; Sensitive Data Handling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D1A8-338A-5E8C-1D3B-0B764C592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2" y="1748589"/>
            <a:ext cx="10427368" cy="350921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Secrets?</a:t>
            </a:r>
          </a:p>
          <a:p>
            <a:pPr algn="l"/>
            <a:r>
              <a:rPr lang="en-US" dirty="0"/>
              <a:t>Data that must never be exposed publicly.</a:t>
            </a:r>
          </a:p>
          <a:p>
            <a:pPr algn="l"/>
            <a:r>
              <a:rPr lang="en-US" dirty="0"/>
              <a:t>Examples:</a:t>
            </a:r>
          </a:p>
          <a:p>
            <a:pPr lvl="1" algn="l"/>
            <a:r>
              <a:rPr lang="en-US" dirty="0"/>
              <a:t>API keys</a:t>
            </a:r>
          </a:p>
          <a:p>
            <a:pPr lvl="1" algn="l"/>
            <a:r>
              <a:rPr lang="en-US" dirty="0"/>
              <a:t>Database passwords</a:t>
            </a:r>
          </a:p>
          <a:p>
            <a:pPr lvl="1" algn="l"/>
            <a:r>
              <a:rPr lang="en-US" dirty="0"/>
              <a:t>Access tokens</a:t>
            </a:r>
          </a:p>
          <a:p>
            <a:pPr lvl="1" algn="l"/>
            <a:r>
              <a:rPr lang="en-US" dirty="0"/>
              <a:t>Cloud credentials</a:t>
            </a:r>
          </a:p>
          <a:p>
            <a:pPr lvl="1" algn="l"/>
            <a:r>
              <a:rPr lang="en-US" dirty="0"/>
              <a:t>Private certificates</a:t>
            </a:r>
          </a:p>
          <a:p>
            <a:pPr algn="l"/>
            <a:r>
              <a:rPr lang="en-US" dirty="0"/>
              <a:t>Considered </a:t>
            </a:r>
            <a:r>
              <a:rPr lang="en-US" i="1" dirty="0"/>
              <a:t>high-risk</a:t>
            </a:r>
            <a:r>
              <a:rPr lang="en-US" dirty="0"/>
              <a:t>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51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B698-CD67-785F-AAD2-AEEE5422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Secrets Handling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3F47D-0FC2-BF4B-09FC-F665AB51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 unauthorized access.</a:t>
            </a:r>
          </a:p>
          <a:p>
            <a:r>
              <a:rPr lang="en-US" dirty="0"/>
              <a:t>Protect infrastructure &amp; data.</a:t>
            </a:r>
          </a:p>
          <a:p>
            <a:r>
              <a:rPr lang="en-US" dirty="0"/>
              <a:t>Avoid data leaks and security breaches.</a:t>
            </a:r>
          </a:p>
          <a:p>
            <a:r>
              <a:rPr lang="en-US" dirty="0"/>
              <a:t>Ensure compliance (ISO, GDPR, SOC2).</a:t>
            </a:r>
          </a:p>
          <a:p>
            <a:r>
              <a:rPr lang="en-US" dirty="0"/>
              <a:t>Maintain secure CI/CD and cloud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83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2D49-D919-E0F3-8F66-41B7566C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Secrets Are Exposed Accidentally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50DF-B470-7AA0-CC2F-3B93A0C5B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mistakes:</a:t>
            </a:r>
          </a:p>
          <a:p>
            <a:r>
              <a:rPr lang="en-US" dirty="0"/>
              <a:t>Hardcoding in scripts or notebooks</a:t>
            </a:r>
          </a:p>
          <a:p>
            <a:r>
              <a:rPr lang="en-US" dirty="0"/>
              <a:t>Pushing secrets to GitHub</a:t>
            </a:r>
          </a:p>
          <a:p>
            <a:r>
              <a:rPr lang="en-US" dirty="0"/>
              <a:t>Storing in .</a:t>
            </a:r>
            <a:r>
              <a:rPr lang="en-US" dirty="0" err="1"/>
              <a:t>tf</a:t>
            </a:r>
            <a:r>
              <a:rPr lang="en-US" dirty="0"/>
              <a:t> or .</a:t>
            </a:r>
            <a:r>
              <a:rPr lang="en-US" dirty="0" err="1"/>
              <a:t>yaml</a:t>
            </a:r>
            <a:r>
              <a:rPr lang="en-US" dirty="0"/>
              <a:t> files</a:t>
            </a:r>
          </a:p>
          <a:p>
            <a:r>
              <a:rPr lang="en-US" dirty="0"/>
              <a:t>Logging secrets in print statements</a:t>
            </a:r>
          </a:p>
          <a:p>
            <a:r>
              <a:rPr lang="en-US" dirty="0"/>
              <a:t>Sharing screenshots with credentials</a:t>
            </a:r>
          </a:p>
          <a:p>
            <a:r>
              <a:rPr lang="en-US" dirty="0"/>
              <a:t>Using unsecured channels (email/WhatsApp)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605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EC98-C28F-D8B4-DE5B-30675A1B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Secrets Safely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B02E5-00BE-8151-8FC9-32CFD7E34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Tools used for secure storage:</a:t>
            </a:r>
          </a:p>
          <a:p>
            <a:r>
              <a:rPr lang="en-IN" b="1" dirty="0"/>
              <a:t>AWS Secrets Manager</a:t>
            </a:r>
            <a:endParaRPr lang="en-IN" dirty="0"/>
          </a:p>
          <a:p>
            <a:r>
              <a:rPr lang="en-IN" b="1" dirty="0"/>
              <a:t>AWS Systems Manager (SSM) Parameter Store</a:t>
            </a:r>
            <a:endParaRPr lang="en-IN" dirty="0"/>
          </a:p>
          <a:p>
            <a:r>
              <a:rPr lang="en-IN" b="1" dirty="0" err="1"/>
              <a:t>HashiCorp</a:t>
            </a:r>
            <a:r>
              <a:rPr lang="en-IN" b="1" dirty="0"/>
              <a:t> Vault</a:t>
            </a:r>
            <a:endParaRPr lang="en-IN" dirty="0"/>
          </a:p>
          <a:p>
            <a:r>
              <a:rPr lang="en-IN" b="1" dirty="0"/>
              <a:t>Azure Key Vault / GCP Secret Manager</a:t>
            </a:r>
            <a:endParaRPr lang="en-IN" dirty="0"/>
          </a:p>
          <a:p>
            <a:r>
              <a:rPr lang="en-IN" b="1" dirty="0"/>
              <a:t>Environment variables (.env)</a:t>
            </a:r>
            <a:endParaRPr lang="en-IN" dirty="0"/>
          </a:p>
          <a:p>
            <a:r>
              <a:rPr lang="en-IN" b="1" dirty="0"/>
              <a:t>CI/CD secrets vault (GitHub Actions / GitLab CI)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68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AEAE-4081-070E-0275-77432D82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IN" dirty="0"/>
              <a:t>Encryption &amp;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5E20B-F007-2492-9EE9-DB70E47D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Encryption</a:t>
            </a:r>
          </a:p>
          <a:p>
            <a:r>
              <a:rPr lang="en-US" dirty="0"/>
              <a:t>Use KMS-managed encryption (AWS KMS, Azure Key Vault Keys).</a:t>
            </a:r>
          </a:p>
          <a:p>
            <a:r>
              <a:rPr lang="en-US" dirty="0"/>
              <a:t>Encrypt secrets at rest &amp; in transit.</a:t>
            </a:r>
          </a:p>
          <a:p>
            <a:r>
              <a:rPr lang="en-US" b="1" dirty="0"/>
              <a:t>Access Control (IAM)</a:t>
            </a:r>
          </a:p>
          <a:p>
            <a:r>
              <a:rPr lang="en-US" dirty="0"/>
              <a:t>Apply least privilege.</a:t>
            </a:r>
          </a:p>
          <a:p>
            <a:r>
              <a:rPr lang="en-US" dirty="0"/>
              <a:t>Restrict who can read/write secrets.</a:t>
            </a:r>
          </a:p>
          <a:p>
            <a:r>
              <a:rPr lang="en-US" dirty="0"/>
              <a:t>Rotate keys regularly.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90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8066-50C7-F2F7-9C19-6FFC69ED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FE47-FF53-BA7F-30A4-0BE991D2F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✓ Never commit secrets to Git</a:t>
            </a:r>
            <a:br>
              <a:rPr lang="en-IN" dirty="0"/>
            </a:br>
            <a:r>
              <a:rPr lang="en-IN" dirty="0"/>
              <a:t>✓ Enable automatic key rotation</a:t>
            </a:r>
            <a:br>
              <a:rPr lang="en-IN" dirty="0"/>
            </a:br>
            <a:r>
              <a:rPr lang="en-IN" dirty="0"/>
              <a:t>✓ Use IAM roles instead of long-term access keys</a:t>
            </a:r>
            <a:br>
              <a:rPr lang="en-IN" dirty="0"/>
            </a:br>
            <a:r>
              <a:rPr lang="en-IN" dirty="0"/>
              <a:t>✓ Restrict secret access per environment (dev/stage/prod)</a:t>
            </a:r>
            <a:br>
              <a:rPr lang="en-IN" dirty="0"/>
            </a:br>
            <a:r>
              <a:rPr lang="en-IN" dirty="0"/>
              <a:t>✓ Use logging frameworks that </a:t>
            </a:r>
            <a:r>
              <a:rPr lang="en-IN" b="1" dirty="0"/>
              <a:t>mask</a:t>
            </a:r>
            <a:r>
              <a:rPr lang="en-IN" dirty="0"/>
              <a:t> sensitive values</a:t>
            </a:r>
            <a:br>
              <a:rPr lang="en-IN" dirty="0"/>
            </a:br>
            <a:r>
              <a:rPr lang="en-IN" dirty="0"/>
              <a:t>✓ Regularly audit access logs (CloudTrail)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03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E216-E202-E6AB-2867-BB61F60D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AA1AE-C824-C20A-6CBA-79F353197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Secrets are sensitive credentials that must be protected.</a:t>
            </a:r>
          </a:p>
          <a:p>
            <a:r>
              <a:rPr lang="en-US" dirty="0"/>
              <a:t>Use dedicated tools (Secrets Manager, Vault).</a:t>
            </a:r>
          </a:p>
          <a:p>
            <a:r>
              <a:rPr lang="en-US" dirty="0"/>
              <a:t>Avoid hardcoding secrets in code or config.</a:t>
            </a:r>
          </a:p>
          <a:p>
            <a:r>
              <a:rPr lang="en-US" dirty="0"/>
              <a:t>Apply encryption, IAM policies, and key rotation.</a:t>
            </a:r>
          </a:p>
          <a:p>
            <a:r>
              <a:rPr lang="en-US"/>
              <a:t>Follow secure development &amp; deployment practices.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Secrets &amp; Sensitive Data Handling </vt:lpstr>
      <vt:lpstr>Why Secrets Handling Matters</vt:lpstr>
      <vt:lpstr>How Secrets Are Exposed Accidentally</vt:lpstr>
      <vt:lpstr>How to Store Secrets Safely</vt:lpstr>
      <vt:lpstr> Encryption &amp; Access Control</vt:lpstr>
      <vt:lpstr>Best Practices Checklist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2025-11-21T07:08:08Z</dcterms:created>
  <dcterms:modified xsi:type="dcterms:W3CDTF">2025-11-21T07:08:13Z</dcterms:modified>
</cp:coreProperties>
</file>