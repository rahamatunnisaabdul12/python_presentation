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DF0E4-6531-E1F5-4C63-CE30C260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2B35A-E52F-E2FF-BD93-79A95752C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87AA1-B0FF-A3AD-9986-C01AACE9B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46F2-9BA5-426F-8C7F-6F54EF7CA96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B56BC-CC67-289F-10A7-C776CD53D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7D494-AA7C-870B-9105-252C411A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2DDD-0321-415A-B064-0C0B47B57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812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97B77-9984-40F4-AA74-647207431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F46E9-C30D-EC6C-B9FE-B39903EA5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B967B-8168-92AF-0DD9-F11F5AB9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46F2-9BA5-426F-8C7F-6F54EF7CA96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81E1-899E-E98E-F72A-A6D6E3E36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16378-66A5-8E89-31C5-04754601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2DDD-0321-415A-B064-0C0B47B57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173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D5898-97FE-E1C1-DB8E-5472EC4ED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60781-8C3B-AE99-7DF2-BAFABED78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DD58A-3A2B-6E2B-65EA-1A5B8D86C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46F2-9BA5-426F-8C7F-6F54EF7CA96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D682C-4E99-9D5B-2087-F4F842626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A50A7-965C-B1AD-E48E-45D8C4394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2DDD-0321-415A-B064-0C0B47B57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142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CE73-90BF-8AEB-B64D-7429892BD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5B5CB-4BB4-C642-87C0-F24CD04A0E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2FF1F-810D-58E6-DFA2-791A719D4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4913F-9A21-2ED3-F68F-E5B18E08D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46F2-9BA5-426F-8C7F-6F54EF7CA96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D7B8D-15EB-E99D-EB8A-66B9B6ED2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D6488-0890-796F-2167-B3014B6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2DDD-0321-415A-B064-0C0B47B57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728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82C31-539E-5814-8774-0324437EB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3C112-4A5F-F411-EFC0-347467316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98533-6A7F-E39D-1CD4-64658B18C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373E8A-E4CB-41F1-789D-C0AEB9AA2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95A354-CAFA-4DDB-2947-AD808E1E9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368C37-A08B-8204-35ED-4021C706F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46F2-9BA5-426F-8C7F-6F54EF7CA96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7527DF-11BB-7E57-457E-9789E715C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E0F8B6-BD5D-2453-40EE-24E7A642D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2DDD-0321-415A-B064-0C0B47B57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54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BCFF4-66C4-33DD-ADA6-9A2E48C27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062A24-D0E5-0F2B-18D5-A3FCAF4A8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46F2-9BA5-426F-8C7F-6F54EF7CA96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20C2CB-1204-927E-C80C-24D19350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C5FB77-F187-411A-0BC6-25CEC10C6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2DDD-0321-415A-B064-0C0B47B57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230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46FB53-22DA-0484-F8EA-3869E524F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46F2-9BA5-426F-8C7F-6F54EF7CA96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4EDE14-79F7-FD4B-9CAB-3E4EDA20D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4462B-E643-E780-5859-BEF3BC59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2DDD-0321-415A-B064-0C0B47B57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283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34D41-9CA2-BAAD-945E-AD4953801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C110E-E4A0-DF57-71E2-143408F41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5C56E-EEDB-737D-6E01-DBD459D48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F9F3C-CDC1-B99C-A29B-FC3DA8B4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46F2-9BA5-426F-8C7F-6F54EF7CA96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90A7E-1AFA-9744-92AF-BBD6A41F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4C7E5-5BF8-01D8-42BC-83E6BDDA0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2DDD-0321-415A-B064-0C0B47B57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003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E3D9F-0927-F8D3-B068-2444E6BF8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A72CE9-0E8C-D6F1-FCFF-66F1FBCC9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0F21F6-50ED-5427-EB62-9E358D61A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80836-BD0B-7E64-DDE8-A55FD876E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46F2-9BA5-426F-8C7F-6F54EF7CA96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A5131-A928-C7CD-5C00-C03B42E88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8157F-30AA-1409-C7AA-69B51ADF7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2DDD-0321-415A-B064-0C0B47B57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141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EF5C8-63D8-649C-FB36-940DE9788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16EC3-15F6-0E7A-DE1B-D88258368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02300-BDE5-09FF-C88A-FA8D7CB79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46F2-9BA5-426F-8C7F-6F54EF7CA96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BEA32-4153-5077-975D-08870556E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966C5-FEE6-D0A0-A8D0-5E9DEDF1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2DDD-0321-415A-B064-0C0B47B57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317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5456A4-51EC-8D43-147C-46DB958D62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82CBBD-58B0-4BB5-CF25-EA70F5E7E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B71E0-3F20-B556-6E61-9D7693CAA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46F2-9BA5-426F-8C7F-6F54EF7CA96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C9A85-0CD7-8F73-82D9-BA48EB3F7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B576-9F5D-0556-898A-3DCE4A04D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2DDD-0321-415A-B064-0C0B47B57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174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D170F8-EF57-2CAF-91CC-CA3E70AB1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06D7B-CF3E-28B6-86D2-85F46C239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E8DB2-B884-53F6-FB0D-7726216B8E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846F2-9BA5-426F-8C7F-6F54EF7CA96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6A2C1-2540-4FDA-F27F-2B12289E88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5789E-6412-FBCE-E6D7-53FF86442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02DDD-0321-415A-B064-0C0B47B57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18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3F050-F3BB-9244-A040-9A8070275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716" y="0"/>
            <a:ext cx="10395284" cy="16557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AWS Data Lake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614BCC-4F71-1C3D-D44D-63222F549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853" y="1655763"/>
            <a:ext cx="9962147" cy="3602037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a Data Lake? (WHAT)</a:t>
            </a:r>
          </a:p>
          <a:p>
            <a:pPr algn="l"/>
            <a:r>
              <a:rPr lang="en-US" dirty="0"/>
              <a:t>A </a:t>
            </a:r>
            <a:r>
              <a:rPr lang="en-US" b="1" dirty="0"/>
              <a:t>central repository</a:t>
            </a:r>
            <a:r>
              <a:rPr lang="en-US" dirty="0"/>
              <a:t> that stores raw, semi-structured, and structured data.</a:t>
            </a:r>
          </a:p>
          <a:p>
            <a:pPr algn="l"/>
            <a:r>
              <a:rPr lang="en-US" dirty="0"/>
              <a:t>Stores data in </a:t>
            </a:r>
            <a:r>
              <a:rPr lang="en-US" b="1" dirty="0"/>
              <a:t>its original format</a:t>
            </a:r>
            <a:r>
              <a:rPr lang="en-US" dirty="0"/>
              <a:t> (no schema required upfront).</a:t>
            </a:r>
          </a:p>
          <a:p>
            <a:pPr algn="l"/>
            <a:r>
              <a:rPr lang="en-US" dirty="0"/>
              <a:t>Built on </a:t>
            </a:r>
            <a:r>
              <a:rPr lang="en-US" b="1" dirty="0"/>
              <a:t>Amazon S3</a:t>
            </a:r>
            <a:r>
              <a:rPr lang="en-US" dirty="0"/>
              <a:t>, with metadata and analytics tools on top.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222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67EA4-D5D4-13EA-E2F1-0B84D8691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a Data Lake? (WHY)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6EE8C-D1E9-45E9-9513-8376409DB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Enables scalable data storage at low cost.</a:t>
            </a:r>
          </a:p>
          <a:p>
            <a:r>
              <a:rPr lang="en-IN" dirty="0"/>
              <a:t>Accepts all data types (CSV, JSON, images, logs, IoT streams).</a:t>
            </a:r>
          </a:p>
          <a:p>
            <a:r>
              <a:rPr lang="en-IN" dirty="0"/>
              <a:t>Supports analytics, ML, dashboards &amp; advanced queries.</a:t>
            </a:r>
          </a:p>
          <a:p>
            <a:r>
              <a:rPr lang="en-IN" dirty="0"/>
              <a:t>Eliminates data silos across teams.</a:t>
            </a:r>
          </a:p>
          <a:p>
            <a:r>
              <a:rPr lang="en-IN" dirty="0"/>
              <a:t>Flexible → schema applied later (schema-on-read).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8981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DFAA1-BB90-DCA5-7753-F3042A267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a Data Lake Works (HOW)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ECF06-3459-0FE7-7851-1C2745F86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is ingested from apps, databases, APIs, and streams.</a:t>
            </a:r>
          </a:p>
          <a:p>
            <a:r>
              <a:rPr lang="en-IN" dirty="0"/>
              <a:t>Stored in S3 across </a:t>
            </a:r>
            <a:r>
              <a:rPr lang="en-IN" b="1" dirty="0"/>
              <a:t>Raw → Trusted → Refined</a:t>
            </a:r>
            <a:r>
              <a:rPr lang="en-IN" dirty="0"/>
              <a:t> zones.</a:t>
            </a:r>
          </a:p>
          <a:p>
            <a:r>
              <a:rPr lang="en-IN" dirty="0" err="1"/>
              <a:t>Cataloged</a:t>
            </a:r>
            <a:r>
              <a:rPr lang="en-IN" dirty="0"/>
              <a:t> using </a:t>
            </a:r>
            <a:r>
              <a:rPr lang="en-IN" b="1" dirty="0"/>
              <a:t>AWS Glue Data </a:t>
            </a:r>
            <a:r>
              <a:rPr lang="en-IN" b="1" dirty="0" err="1"/>
              <a:t>Catalog</a:t>
            </a:r>
            <a:r>
              <a:rPr lang="en-IN" dirty="0"/>
              <a:t>.</a:t>
            </a:r>
          </a:p>
          <a:p>
            <a:r>
              <a:rPr lang="en-IN" dirty="0"/>
              <a:t>Queried using </a:t>
            </a:r>
            <a:r>
              <a:rPr lang="en-IN" b="1" dirty="0"/>
              <a:t>Athena</a:t>
            </a:r>
            <a:r>
              <a:rPr lang="en-IN" dirty="0"/>
              <a:t>, processed with </a:t>
            </a:r>
            <a:r>
              <a:rPr lang="en-IN" b="1" dirty="0"/>
              <a:t>Glue</a:t>
            </a:r>
            <a:r>
              <a:rPr lang="en-IN" dirty="0"/>
              <a:t>, stored using </a:t>
            </a:r>
            <a:r>
              <a:rPr lang="en-IN" b="1" dirty="0"/>
              <a:t>Parquet/ORC</a:t>
            </a:r>
            <a:r>
              <a:rPr lang="en-IN" dirty="0"/>
              <a:t> formats.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6389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4BE17-8AB7-0F15-042F-881D85464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Lake Zones (WHAT)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B37EB-0D39-87F3-D29F-D702C2652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Raw Zone:</a:t>
            </a:r>
            <a:r>
              <a:rPr lang="en-IN" dirty="0"/>
              <a:t> Unprocessed data</a:t>
            </a:r>
            <a:br>
              <a:rPr lang="en-IN" dirty="0"/>
            </a:br>
            <a:r>
              <a:rPr lang="en-IN" b="1" dirty="0"/>
              <a:t>Trusted Zone:</a:t>
            </a:r>
            <a:r>
              <a:rPr lang="en-IN" dirty="0"/>
              <a:t> Cleaned, validated, de-duplicated data</a:t>
            </a:r>
            <a:br>
              <a:rPr lang="en-IN" dirty="0"/>
            </a:br>
            <a:r>
              <a:rPr lang="en-IN" b="1" dirty="0"/>
              <a:t>Refined Zone:</a:t>
            </a:r>
            <a:r>
              <a:rPr lang="en-IN" dirty="0"/>
              <a:t> Aggregated, analytics-ready data</a:t>
            </a:r>
            <a:br>
              <a:rPr lang="en-IN" dirty="0"/>
            </a:br>
            <a:r>
              <a:rPr lang="en-IN" b="1" dirty="0"/>
              <a:t>Curated Zone (optional):</a:t>
            </a:r>
            <a:r>
              <a:rPr lang="en-IN" dirty="0"/>
              <a:t> Business datasets for BI teams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209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F1473-86A9-EF24-8D4F-8C6A54CFD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Zoning Matters (WHY)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67C85-D84D-82F1-325D-2F44D3956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Separation improves quality and governance</a:t>
            </a:r>
          </a:p>
          <a:p>
            <a:r>
              <a:rPr lang="en-US" dirty="0"/>
              <a:t>Easier debugging and traceability</a:t>
            </a:r>
          </a:p>
          <a:p>
            <a:r>
              <a:rPr lang="en-US" dirty="0"/>
              <a:t>Better cost control</a:t>
            </a:r>
          </a:p>
          <a:p>
            <a:r>
              <a:rPr lang="en-US" dirty="0"/>
              <a:t>Enables multiple consumers (Analytics, ML, BI) to use the same data</a:t>
            </a:r>
          </a:p>
          <a:p>
            <a:r>
              <a:rPr lang="en-US" dirty="0"/>
              <a:t>Supports versioning and reproducibility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5675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186A2-B109-5480-B5F3-89351D55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Data is Ingested (HOW)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DD28E-BC94-A0FD-B0E2-65FF2AA68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Streaming:</a:t>
            </a:r>
            <a:r>
              <a:rPr lang="en-IN" dirty="0"/>
              <a:t> Kinesis, MSK (Kafka), Firehose</a:t>
            </a:r>
          </a:p>
          <a:p>
            <a:r>
              <a:rPr lang="en-IN" b="1" dirty="0"/>
              <a:t>Batch:</a:t>
            </a:r>
            <a:r>
              <a:rPr lang="en-IN" dirty="0"/>
              <a:t> Glue Jobs, Lambda, Step Functions</a:t>
            </a:r>
          </a:p>
          <a:p>
            <a:r>
              <a:rPr lang="en-IN" b="1" dirty="0"/>
              <a:t>API-based:</a:t>
            </a:r>
            <a:r>
              <a:rPr lang="en-IN" dirty="0"/>
              <a:t> AWS API Gateway + Lambda</a:t>
            </a:r>
          </a:p>
          <a:p>
            <a:r>
              <a:rPr lang="en-IN" b="1" dirty="0"/>
              <a:t>File uploads:</a:t>
            </a:r>
            <a:r>
              <a:rPr lang="en-IN" dirty="0"/>
              <a:t> S3 events</a:t>
            </a:r>
          </a:p>
          <a:p>
            <a:r>
              <a:rPr lang="en-IN" b="1" dirty="0"/>
              <a:t>External systems:</a:t>
            </a:r>
            <a:r>
              <a:rPr lang="en-IN" dirty="0"/>
              <a:t> DMS, Snowball, FTP ingestion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5567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ACA4E-2132-C40D-1273-76CD66F1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AWS Data Lake Components (WHAT)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1316-4B79-E9A6-414D-0485768EB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Amazon S3:</a:t>
            </a:r>
            <a:r>
              <a:rPr lang="en-IN" dirty="0"/>
              <a:t> Storage layer</a:t>
            </a:r>
          </a:p>
          <a:p>
            <a:r>
              <a:rPr lang="en-IN" b="1" dirty="0"/>
              <a:t>AWS Glue:</a:t>
            </a:r>
            <a:r>
              <a:rPr lang="en-IN" dirty="0"/>
              <a:t> Metadata, ETL, crawlers</a:t>
            </a:r>
          </a:p>
          <a:p>
            <a:r>
              <a:rPr lang="en-IN" b="1" dirty="0"/>
              <a:t>AWS Lake Formation:</a:t>
            </a:r>
            <a:r>
              <a:rPr lang="en-IN" dirty="0"/>
              <a:t> Security &amp; governance</a:t>
            </a:r>
          </a:p>
          <a:p>
            <a:r>
              <a:rPr lang="en-IN" b="1" dirty="0"/>
              <a:t>Athena:</a:t>
            </a:r>
            <a:r>
              <a:rPr lang="en-IN" dirty="0"/>
              <a:t> SQL query engine</a:t>
            </a:r>
          </a:p>
          <a:p>
            <a:r>
              <a:rPr lang="en-IN" b="1" dirty="0"/>
              <a:t>Redshift Spectrum:</a:t>
            </a:r>
            <a:r>
              <a:rPr lang="en-IN" dirty="0"/>
              <a:t> Query data directly on S3</a:t>
            </a:r>
          </a:p>
          <a:p>
            <a:r>
              <a:rPr lang="en-IN" b="1" dirty="0"/>
              <a:t>EMR:</a:t>
            </a:r>
            <a:r>
              <a:rPr lang="en-IN" dirty="0"/>
              <a:t> Big data processing (Spark, Hive, Presto)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8883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AA7E2-4FF0-02F7-4FB7-BA0185BB7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Organizations Prefer AWS Data Lake (WHY)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CD303-4C6B-4AF9-4A2F-17BA05FB8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Extremely low cost (S3 + serverless compute)</a:t>
            </a:r>
          </a:p>
          <a:p>
            <a:r>
              <a:rPr lang="en-US" dirty="0"/>
              <a:t>Highly scalable (no size limits)</a:t>
            </a:r>
          </a:p>
          <a:p>
            <a:r>
              <a:rPr lang="en-US" dirty="0"/>
              <a:t>Decoupled storage + compute architecture</a:t>
            </a:r>
          </a:p>
          <a:p>
            <a:r>
              <a:rPr lang="en-US" dirty="0"/>
              <a:t>Data remains centralized &amp; secure</a:t>
            </a:r>
          </a:p>
          <a:p>
            <a:r>
              <a:rPr lang="en-US" dirty="0"/>
              <a:t>Works with all analytics tools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70584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0CA0F-BCD8-EC36-875C-68286672B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98C38-3A8E-1F65-8A78-0AA7CC4CD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AWS Data Lake = Scalable + Secure + Low-Cost data storage.</a:t>
            </a:r>
          </a:p>
          <a:p>
            <a:r>
              <a:rPr lang="en-US" dirty="0"/>
              <a:t>Built primarily on </a:t>
            </a:r>
            <a:r>
              <a:rPr lang="en-US" b="1" dirty="0"/>
              <a:t>S3</a:t>
            </a:r>
            <a:r>
              <a:rPr lang="en-US" dirty="0"/>
              <a:t>, with Glue/Lake Formation for cataloging &amp; governance.</a:t>
            </a:r>
          </a:p>
          <a:p>
            <a:r>
              <a:rPr lang="en-US" dirty="0"/>
              <a:t>Supports analytics, dashboards, and ML across the organization.</a:t>
            </a:r>
          </a:p>
          <a:p>
            <a:r>
              <a:rPr lang="en-US"/>
              <a:t>Key to modern data engineering, data science, and enterprise analytics.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385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AWS Data Lake </vt:lpstr>
      <vt:lpstr>Why Use a Data Lake? (WHY)</vt:lpstr>
      <vt:lpstr>How a Data Lake Works (HOW) </vt:lpstr>
      <vt:lpstr>Data Lake Zones (WHAT)</vt:lpstr>
      <vt:lpstr>Why Zoning Matters (WHY)</vt:lpstr>
      <vt:lpstr>How Data is Ingested (HOW) </vt:lpstr>
      <vt:lpstr>Core AWS Data Lake Components (WHAT) </vt:lpstr>
      <vt:lpstr>Why Organizations Prefer AWS Data Lake (WHY)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2025-11-20T06:24:17Z</dcterms:created>
  <dcterms:modified xsi:type="dcterms:W3CDTF">2025-11-20T06:24:25Z</dcterms:modified>
</cp:coreProperties>
</file>