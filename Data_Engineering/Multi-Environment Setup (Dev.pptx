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DDE68-DF36-9B2C-C7C3-E4CD4E95C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34FCA-8264-0526-4E23-100509C11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0D3D3-7535-AFB5-5093-D7DF429C8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A38-5461-4414-9774-AEDD707AFEF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40117-C514-0C41-AADF-A1C3542A6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DAEDA-33F9-46B7-76AF-C65BB2A0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F339-C00C-4D05-B30D-7CF9B81F9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6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DE270-5F20-5233-ED0A-184840BF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51BC2-AA39-AE7C-1CDA-172033904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6F9F4-DEC2-4600-3BCB-2AE3EB398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A38-5461-4414-9774-AEDD707AFEF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2C169-ECD5-6647-B95A-6A4F60E6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D40E4-4ADF-8B11-5613-6C014470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F339-C00C-4D05-B30D-7CF9B81F9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010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0009-A2CC-57E5-B067-C8E5AEFC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47459-D17D-1128-D861-289872244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37472-28F7-8247-F2F6-450E48ED5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A38-5461-4414-9774-AEDD707AFEF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0809B-00E7-58D0-513C-76D45522F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F90D7-CD74-C28F-0AD0-3CC062C6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F339-C00C-4D05-B30D-7CF9B81F9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33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C58AA-B424-9261-DB48-E6D4AA661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DD221-3A09-A147-2EBC-5460FE132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C4DA-697C-71F8-80C7-F3DD7E131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94E67-7D5E-FEE2-EB3E-077AC0EA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A38-5461-4414-9774-AEDD707AFEF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4FC84-A954-0393-2B3B-B7F28157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DEE8D-4139-AD88-FC63-5B639E09C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F339-C00C-4D05-B30D-7CF9B81F9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79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443F1-469F-F9C8-AFAF-4CBEABB49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9B2F8-DD7A-3DF6-C70E-06C788E02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638FA-B837-EB58-93A3-F0F75579E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A9B91-7534-7E67-A710-D998284B9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11FE3-2027-DD45-11C7-0684803B08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AC4B6-5962-3ED0-1597-26DC7A13B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A38-5461-4414-9774-AEDD707AFEF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1E0FD-1483-A491-FA6E-B842D002C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ADDCE0-1950-828D-8055-33AD48FE9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F339-C00C-4D05-B30D-7CF9B81F9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20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E2913-FB71-B5FE-7DAA-A1C16EAC0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F4F4F-FEF2-38F8-5D1F-373EE92F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A38-5461-4414-9774-AEDD707AFEF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900698-DADC-D4FA-F230-96B6E347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B89C-716B-CE02-D03F-70E204AD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F339-C00C-4D05-B30D-7CF9B81F9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306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D493C-B630-55F8-ADB3-A10D8919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A38-5461-4414-9774-AEDD707AFEF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04DC4-F3D1-76FD-BACF-691201E46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EDC13-B5D5-77C5-6E4F-C317FA07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F339-C00C-4D05-B30D-7CF9B81F9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661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D6A43-8276-B0A3-F508-53AF050DE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7668F-D81F-993D-6D46-B445DB487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B8E5E-26F4-C725-C307-D4CC1630C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AFB93-C877-09C1-F4BB-96534AE19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A38-5461-4414-9774-AEDD707AFEF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CDDFF-7734-5576-0661-B5CA07F90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24464-FD0E-26EF-EE0A-4FF83F38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F339-C00C-4D05-B30D-7CF9B81F9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76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AEC98-723A-8C88-19F9-CF98A9DA7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EB529A-958C-5ACA-1E37-2BAAC18208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8A6A9-65EE-3605-769B-891B5F63D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0BA3D-311F-9601-CC60-10E07265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A38-5461-4414-9774-AEDD707AFEF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16B69-E070-F36F-417B-71A458DDE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587F6-75FC-0490-F2CE-1FC39F07E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F339-C00C-4D05-B30D-7CF9B81F9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28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BE88-7B05-7BA2-694B-75AEFD93E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CA1C43-E744-B302-8E04-FCC20EC5C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6F1CD-0233-E8B5-E6A5-B1CD584DE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A38-5461-4414-9774-AEDD707AFEF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F0D5-4B20-59D8-3D4E-A016EAADE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8B8BD-5888-B99D-D903-32D7F704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F339-C00C-4D05-B30D-7CF9B81F9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710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1CC62A-4BF3-44FB-D2CA-CD9456F658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35DED-9C6C-B5E6-8352-5716B676B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D5AB0-EDA2-BB7F-B639-2AA6AA95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A38-5461-4414-9774-AEDD707AFEF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0C82-93A6-1221-82EB-AD3A4A77E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F185E-DA95-5D8D-0C1C-A94CEF85A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F339-C00C-4D05-B30D-7CF9B81F9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2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CA7E02-6C2B-65AA-0247-EE9384E2C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364A5-6597-33F7-0F86-62F1D1C3D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24055-F7A6-5DEC-B0E4-FE90463CB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7AA38-5461-4414-9774-AEDD707AFEF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225B-E392-EC0F-B306-DC4B6FD25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59BF0-B652-550F-DA96-8EAA106C3D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CF339-C00C-4D05-B30D-7CF9B81F9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83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32368-53DF-B753-2095-FDE0F664F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274" y="1"/>
            <a:ext cx="9801726" cy="2422358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Multi-</a:t>
            </a:r>
            <a:r>
              <a:rPr lang="fr-FR" b="1" dirty="0" err="1"/>
              <a:t>Environment</a:t>
            </a:r>
            <a:r>
              <a:rPr lang="fr-FR" b="1" dirty="0"/>
              <a:t> Setup (Dev / QA / Prod)</a:t>
            </a:r>
            <a:br>
              <a:rPr lang="fr-FR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74DB5-C208-AB0A-1D1B-B2CDEE3A6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811" y="1764632"/>
            <a:ext cx="9978189" cy="405865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a Multi-Environment Setup?</a:t>
            </a:r>
          </a:p>
          <a:p>
            <a:pPr algn="l"/>
            <a:r>
              <a:rPr lang="en-US" dirty="0"/>
              <a:t>A structured approach to maintain </a:t>
            </a:r>
            <a:r>
              <a:rPr lang="en-US" b="1" dirty="0"/>
              <a:t>separate environments</a:t>
            </a:r>
            <a:r>
              <a:rPr lang="en-US" dirty="0"/>
              <a:t>:</a:t>
            </a:r>
          </a:p>
          <a:p>
            <a:pPr lvl="1" algn="l"/>
            <a:r>
              <a:rPr lang="en-US" b="1" dirty="0"/>
              <a:t>Dev</a:t>
            </a:r>
            <a:r>
              <a:rPr lang="en-US" dirty="0"/>
              <a:t> → Development</a:t>
            </a:r>
          </a:p>
          <a:p>
            <a:pPr lvl="1" algn="l"/>
            <a:r>
              <a:rPr lang="en-US" b="1" dirty="0"/>
              <a:t>QA</a:t>
            </a:r>
            <a:r>
              <a:rPr lang="en-US" dirty="0"/>
              <a:t> → Testing/Validation</a:t>
            </a:r>
          </a:p>
          <a:p>
            <a:pPr lvl="1" algn="l"/>
            <a:r>
              <a:rPr lang="en-US" b="1" dirty="0"/>
              <a:t>Prod</a:t>
            </a:r>
            <a:r>
              <a:rPr lang="en-US" dirty="0"/>
              <a:t> → Live Production</a:t>
            </a:r>
          </a:p>
          <a:p>
            <a:pPr algn="l"/>
            <a:r>
              <a:rPr lang="en-US" dirty="0"/>
              <a:t>Each environment has its own infrastructure, configuration, and state.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860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0149-6F4F-0E61-034C-1577972A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Multi-Environment Architecture Is Needed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1853F-3C56-01E0-294A-CB049DED7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Avoids breaking production</a:t>
            </a:r>
          </a:p>
          <a:p>
            <a:r>
              <a:rPr lang="en-US" dirty="0"/>
              <a:t>Enables safe testing before release</a:t>
            </a:r>
          </a:p>
          <a:p>
            <a:r>
              <a:rPr lang="en-US" dirty="0"/>
              <a:t>Provides clean separation of data and resources</a:t>
            </a:r>
          </a:p>
          <a:p>
            <a:r>
              <a:rPr lang="en-US" dirty="0"/>
              <a:t>Supports CI/CD workflows</a:t>
            </a:r>
          </a:p>
          <a:p>
            <a:r>
              <a:rPr lang="en-US" dirty="0"/>
              <a:t>Allows each team (dev/test/ops) to work independently</a:t>
            </a:r>
          </a:p>
          <a:p>
            <a:r>
              <a:rPr lang="en-US" dirty="0"/>
              <a:t>Ensures compliance and security controls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836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F870-9ABE-C4C5-6DAB-0B93570AA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Environments Differ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51AFFB-C5A8-31CC-B806-E17FFFACE7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9488315"/>
              </p:ext>
            </p:extLst>
          </p:nvPr>
        </p:nvGraphicFramePr>
        <p:xfrm>
          <a:off x="838200" y="1825624"/>
          <a:ext cx="10515600" cy="340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033233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488507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586458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34855935"/>
                    </a:ext>
                  </a:extLst>
                </a:gridCol>
              </a:tblGrid>
              <a:tr h="567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3793045"/>
                  </a:ext>
                </a:extLst>
              </a:tr>
              <a:tr h="567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941037"/>
                  </a:ext>
                </a:extLst>
              </a:tr>
              <a:tr h="567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scale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6613528"/>
                  </a:ext>
                </a:extLst>
              </a:tr>
              <a:tr h="567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QA/Testers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Limited, secure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86745"/>
                  </a:ext>
                </a:extLst>
              </a:tr>
              <a:tr h="567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Flexible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Highly stable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129465"/>
                  </a:ext>
                </a:extLst>
              </a:tr>
              <a:tr h="567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Experiments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508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560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888AF-B90C-E9B7-C855-D9DBB9174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Terraform Structure for Environments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71AB1-8A21-1122-1C08-432C5CB80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Typical folder structure:</a:t>
            </a:r>
          </a:p>
          <a:p>
            <a:pPr marL="0" indent="0">
              <a:buNone/>
            </a:pPr>
            <a:r>
              <a:rPr lang="en-IN" dirty="0"/>
              <a:t>environments/</a:t>
            </a:r>
          </a:p>
          <a:p>
            <a:pPr marL="0" indent="0">
              <a:buNone/>
            </a:pPr>
            <a:r>
              <a:rPr lang="en-IN" dirty="0"/>
              <a:t>   dev/</a:t>
            </a:r>
          </a:p>
          <a:p>
            <a:pPr marL="0" indent="0">
              <a:buNone/>
            </a:pPr>
            <a:r>
              <a:rPr lang="en-IN" dirty="0"/>
              <a:t>      main.tf</a:t>
            </a:r>
          </a:p>
          <a:p>
            <a:pPr marL="0" indent="0">
              <a:buNone/>
            </a:pPr>
            <a:r>
              <a:rPr lang="en-IN" dirty="0"/>
              <a:t>      variables.tf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qa</a:t>
            </a:r>
            <a:r>
              <a:rPr lang="en-IN" dirty="0"/>
              <a:t>/</a:t>
            </a:r>
          </a:p>
          <a:p>
            <a:pPr marL="0" indent="0">
              <a:buNone/>
            </a:pPr>
            <a:r>
              <a:rPr lang="en-IN" dirty="0"/>
              <a:t>      main.tf</a:t>
            </a:r>
          </a:p>
          <a:p>
            <a:pPr marL="0" indent="0">
              <a:buNone/>
            </a:pPr>
            <a:r>
              <a:rPr lang="en-IN" dirty="0"/>
              <a:t>      variables.tf</a:t>
            </a:r>
          </a:p>
          <a:p>
            <a:pPr marL="0" indent="0">
              <a:buNone/>
            </a:pPr>
            <a:r>
              <a:rPr lang="en-IN" dirty="0"/>
              <a:t>   prod/</a:t>
            </a:r>
          </a:p>
          <a:p>
            <a:pPr marL="0" indent="0">
              <a:buNone/>
            </a:pPr>
            <a:r>
              <a:rPr lang="en-IN" dirty="0"/>
              <a:t>      main.tf</a:t>
            </a:r>
          </a:p>
          <a:p>
            <a:pPr marL="0" indent="0">
              <a:buNone/>
            </a:pPr>
            <a:r>
              <a:rPr lang="en-IN" dirty="0"/>
              <a:t>      variables.tf</a:t>
            </a:r>
          </a:p>
          <a:p>
            <a:pPr marL="0" indent="0">
              <a:buNone/>
            </a:pPr>
            <a:r>
              <a:rPr lang="en-IN" dirty="0"/>
              <a:t>modules/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vpc</a:t>
            </a:r>
            <a:r>
              <a:rPr lang="en-IN" dirty="0"/>
              <a:t>/</a:t>
            </a:r>
          </a:p>
          <a:p>
            <a:pPr marL="0" indent="0">
              <a:buNone/>
            </a:pPr>
            <a:r>
              <a:rPr lang="en-IN" dirty="0"/>
              <a:t>   ec2/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rds</a:t>
            </a:r>
            <a:r>
              <a:rPr lang="en-IN" dirty="0"/>
              <a:t>/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835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704D-F63B-B133-7767-8475BAD4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Environment-Specific Variables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E5FE6-092C-6BF7-81A3-CCE8C7256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853" y="1299411"/>
            <a:ext cx="10647947" cy="487755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Different values per environment:</a:t>
            </a:r>
          </a:p>
          <a:p>
            <a:r>
              <a:rPr lang="en-IN" dirty="0"/>
              <a:t>Instance size</a:t>
            </a:r>
          </a:p>
          <a:p>
            <a:r>
              <a:rPr lang="en-IN" dirty="0"/>
              <a:t>Database storage</a:t>
            </a:r>
          </a:p>
          <a:p>
            <a:r>
              <a:rPr lang="en-IN" dirty="0"/>
              <a:t>Network CIDRs</a:t>
            </a:r>
          </a:p>
          <a:p>
            <a:r>
              <a:rPr lang="en-IN" dirty="0"/>
              <a:t>S3 bucket names</a:t>
            </a:r>
          </a:p>
          <a:p>
            <a:r>
              <a:rPr lang="en-IN" dirty="0"/>
              <a:t>Logging levels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sv-SE" dirty="0">
                <a:solidFill>
                  <a:srgbClr val="FF0000"/>
                </a:solidFill>
              </a:rPr>
              <a:t>vars-dev.tfvars</a:t>
            </a:r>
          </a:p>
          <a:p>
            <a:pPr marL="0" indent="0">
              <a:buNone/>
            </a:pPr>
            <a:r>
              <a:rPr lang="sv-SE" dirty="0">
                <a:solidFill>
                  <a:srgbClr val="FF0000"/>
                </a:solidFill>
              </a:rPr>
              <a:t>vars-qa.tfvars</a:t>
            </a:r>
          </a:p>
          <a:p>
            <a:pPr marL="0" indent="0">
              <a:buNone/>
            </a:pPr>
            <a:r>
              <a:rPr lang="sv-SE" dirty="0">
                <a:solidFill>
                  <a:srgbClr val="FF0000"/>
                </a:solidFill>
              </a:rPr>
              <a:t>vars-prod.tfvars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8068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0854-8B30-4E86-FE56-A53718E26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Environment State Management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2E1FA-5131-BD1B-BA22-BCA42BD70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environment must have </a:t>
            </a:r>
            <a:r>
              <a:rPr lang="en-US" b="1" dirty="0"/>
              <a:t>separate remote state</a:t>
            </a:r>
            <a:r>
              <a:rPr lang="en-US" dirty="0"/>
              <a:t>:</a:t>
            </a:r>
          </a:p>
          <a:p>
            <a:r>
              <a:rPr lang="en-US" dirty="0"/>
              <a:t>Example (AWS backend):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bucket = "</a:t>
            </a:r>
            <a:r>
              <a:rPr lang="en-IN" dirty="0" err="1">
                <a:solidFill>
                  <a:srgbClr val="FF0000"/>
                </a:solidFill>
              </a:rPr>
              <a:t>tf</a:t>
            </a:r>
            <a:r>
              <a:rPr lang="en-IN" dirty="0">
                <a:solidFill>
                  <a:srgbClr val="FF0000"/>
                </a:solidFill>
              </a:rPr>
              <a:t>-state"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key    = "env/dev/</a:t>
            </a:r>
            <a:r>
              <a:rPr lang="en-IN" dirty="0" err="1">
                <a:solidFill>
                  <a:srgbClr val="FF0000"/>
                </a:solidFill>
              </a:rPr>
              <a:t>terraform.tfstate</a:t>
            </a:r>
            <a:r>
              <a:rPr lang="en-IN" dirty="0">
                <a:solidFill>
                  <a:srgbClr val="FF0000"/>
                </a:solidFill>
              </a:rPr>
              <a:t>"</a:t>
            </a:r>
          </a:p>
          <a:p>
            <a:r>
              <a:rPr lang="en-US" dirty="0"/>
              <a:t>Ensures:</a:t>
            </a:r>
          </a:p>
          <a:p>
            <a:r>
              <a:rPr lang="en-US" dirty="0"/>
              <a:t>No cross-environment conflicts</a:t>
            </a:r>
          </a:p>
          <a:p>
            <a:r>
              <a:rPr lang="en-US" dirty="0"/>
              <a:t>Easy rollback</a:t>
            </a:r>
          </a:p>
          <a:p>
            <a:r>
              <a:rPr lang="en-US" dirty="0"/>
              <a:t>Safe team collaboration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2692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F99A-D6BF-B275-2E97-82F8DF94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CI/CD Integration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59FA4-D2A5-DAC7-4C68-10B623CE7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Common workflow:</a:t>
            </a:r>
          </a:p>
          <a:p>
            <a:r>
              <a:rPr lang="en-IN" dirty="0"/>
              <a:t>Developer opens PR</a:t>
            </a:r>
          </a:p>
          <a:p>
            <a:r>
              <a:rPr lang="en-IN" dirty="0"/>
              <a:t>CI pipeline: </a:t>
            </a:r>
            <a:r>
              <a:rPr lang="en-IN" dirty="0" err="1"/>
              <a:t>fmt</a:t>
            </a:r>
            <a:r>
              <a:rPr lang="en-IN" dirty="0"/>
              <a:t> → validate → plan</a:t>
            </a:r>
          </a:p>
          <a:p>
            <a:r>
              <a:rPr lang="en-IN" dirty="0"/>
              <a:t>QA environment auto-applied</a:t>
            </a:r>
          </a:p>
          <a:p>
            <a:r>
              <a:rPr lang="en-IN" dirty="0"/>
              <a:t>Manual approval for prod</a:t>
            </a:r>
          </a:p>
          <a:p>
            <a:r>
              <a:rPr lang="en-IN" dirty="0"/>
              <a:t>Prod deployment after approval</a:t>
            </a:r>
          </a:p>
          <a:p>
            <a:r>
              <a:rPr lang="en-IN" dirty="0"/>
              <a:t>Tools:</a:t>
            </a:r>
          </a:p>
          <a:p>
            <a:r>
              <a:rPr lang="en-IN" dirty="0"/>
              <a:t>GitHub Actions</a:t>
            </a:r>
          </a:p>
          <a:p>
            <a:r>
              <a:rPr lang="en-IN" dirty="0"/>
              <a:t>GitLab CI</a:t>
            </a:r>
          </a:p>
          <a:p>
            <a:r>
              <a:rPr lang="en-IN" dirty="0"/>
              <a:t>Jenkins</a:t>
            </a:r>
          </a:p>
          <a:p>
            <a:r>
              <a:rPr lang="en-IN" dirty="0"/>
              <a:t>Azure DevOps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5254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4B369-BE11-2283-9A33-A383CA7C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Practices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29EF5-3175-8270-9A3C-64AC317A1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Keep environments isolated</a:t>
            </a:r>
          </a:p>
          <a:p>
            <a:r>
              <a:rPr lang="en-IN" dirty="0"/>
              <a:t>Use modules for shared logic</a:t>
            </a:r>
          </a:p>
          <a:p>
            <a:r>
              <a:rPr lang="en-IN" dirty="0"/>
              <a:t>Maintain separate </a:t>
            </a:r>
            <a:r>
              <a:rPr lang="en-IN" dirty="0" err="1"/>
              <a:t>tfstate</a:t>
            </a:r>
            <a:r>
              <a:rPr lang="en-IN" dirty="0"/>
              <a:t> files</a:t>
            </a:r>
          </a:p>
          <a:p>
            <a:r>
              <a:rPr lang="en-IN" dirty="0"/>
              <a:t>Apply least-privilege IAM per environment</a:t>
            </a:r>
          </a:p>
          <a:p>
            <a:r>
              <a:rPr lang="en-IN" dirty="0"/>
              <a:t>Use meaningful naming conventions</a:t>
            </a:r>
          </a:p>
          <a:p>
            <a:r>
              <a:rPr lang="en-IN" dirty="0"/>
              <a:t>Enable tagging for cost tracking</a:t>
            </a:r>
          </a:p>
          <a:p>
            <a:r>
              <a:rPr lang="en-IN" dirty="0"/>
              <a:t>Automate drift detection in Prod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821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5DFA-1583-A762-B044-A812E00A1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F71A6-3909-B220-EEE9-73E280A40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Multi-environment setups ensure stability, safety, and scalability.</a:t>
            </a:r>
          </a:p>
          <a:p>
            <a:r>
              <a:rPr lang="en-IN" dirty="0"/>
              <a:t>Dev → QA → Prod lifecycle supports strong release pipelines.</a:t>
            </a:r>
          </a:p>
          <a:p>
            <a:r>
              <a:rPr lang="en-IN" dirty="0"/>
              <a:t>Terraform modules + variables make environments reusable and consistent.</a:t>
            </a:r>
          </a:p>
          <a:p>
            <a:r>
              <a:rPr lang="en-IN"/>
              <a:t>Separate state and CI/CD automation ensure secure, predictable deployments.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578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Microsoft Office PowerPoint</Application>
  <PresentationFormat>Widescreen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Multi-Environment Setup (Dev / QA / Prod) </vt:lpstr>
      <vt:lpstr>Why Multi-Environment Architecture Is Needed </vt:lpstr>
      <vt:lpstr>How Environments Differ </vt:lpstr>
      <vt:lpstr>Terraform Structure for Environments </vt:lpstr>
      <vt:lpstr>Environment-Specific Variables </vt:lpstr>
      <vt:lpstr>Environment State Management </vt:lpstr>
      <vt:lpstr>CI/CD Integration </vt:lpstr>
      <vt:lpstr>Best Practices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2025-11-21T09:05:23Z</dcterms:created>
  <dcterms:modified xsi:type="dcterms:W3CDTF">2025-11-21T09:05:45Z</dcterms:modified>
</cp:coreProperties>
</file>