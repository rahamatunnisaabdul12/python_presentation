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CA3F-6703-67B6-99AB-4BF9D1985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9C308-B5AA-CCE1-7B84-1988C28D0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124-809D-83D2-D502-7BF2D362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E36B-2BD1-3F90-CA25-A207C95CA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68E2A-208A-0BB2-29E0-E3265BE7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4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8D25-15CF-2249-E8CB-627A1267E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6709B-E68E-5C3A-C0CA-9365CCD94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51B14-46F7-4AFA-A483-4F64E2AF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F1F8C-8F87-8009-8789-81345548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B0194-7A64-F6A9-DEC0-33D4FC7E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5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8C77-F4A1-1CDA-DE40-C1F6D062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F416C-71D6-0BA9-5886-9596F89A4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48C1-B59E-5AAA-E42C-63A2A26A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6941-B42B-B723-8612-72F40C961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EDF3-2D5B-B318-387B-BACD5C96E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10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C9D8-6CC5-0159-EED6-C140F3CB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17CD3-157F-CC57-2A5C-D4E40F240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1893C-9C21-9C5A-0475-86E868B03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1F7E2-3D8C-021B-4EEF-A0369754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A67EE-84AC-6A3D-8997-CC6F2AE8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47800-37E8-2457-DB4E-8EE458BE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9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CEDA-65C5-E298-F821-E9C0505E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6D106-943C-9F2D-F0C6-D56AF3900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C9B81-FD8E-A7E4-86E4-EB2856E5B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621A8-B965-1379-C816-452DDEF3C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A570C-E2BA-B90F-E174-4458397AE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BFFAF-12D4-8140-F9C2-F7EB75F7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0E41A-4C25-3E8E-86D6-26E35294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76D92-C46D-2DDC-ED03-59CC2D26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0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16C1-939E-EF00-29EA-198B7A19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3ACF1-277A-656A-6209-3CCEB1312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2A801-3B3E-C769-FE24-6008E4BC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5CBAF-C786-B1F8-33A9-4A95F2B3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821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709B5-825B-01E7-22EF-210967D5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03039-8879-35C5-7ED1-903EF385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C5FBB-FB6E-DF58-E794-27540580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2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8D57-27D5-854A-4EA2-B6B976C4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911D-5561-B395-AD4A-359B97FE0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EFFA1-A505-F216-0F79-0B798B746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A7666-7E09-36D2-946C-D4DCDA71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8B708-A2B7-61D8-377F-35293FF1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48889-B215-2C42-AF04-1BE70FD8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3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8EAC-77D7-DC62-6F78-4F4AADB1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469D7-AD2B-B9EF-FF22-2215C13CF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15299-9151-756B-0A1A-4054EFB14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66AEE-DFAD-FBDD-1352-A0975DF5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A47E7-AC30-2276-1498-415758DD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3B84F-AC41-7F46-13DE-810DBF78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02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AEE4-D03B-B5DB-F006-702BDB83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9617F-31A8-84CE-B6EB-F4B8551AA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CE4A-E968-F6A4-42EF-C3CC77C9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B7398-D1E9-00DB-A425-2EE31F10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7B744-5B52-CE23-1F00-CB6D6CF4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377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D6786-D203-44E3-EF61-1DD1C990C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CFD3D-8860-8916-18FC-0793A009E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E344C-E38B-4E6A-64ED-5526016F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E64F0-DECE-D288-F71B-9399C1F3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FE7F-AEE2-C73B-E36C-9345706D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47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CDE8F-E0A4-2619-27DD-3B51830B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1E686-3C77-D3EB-A1A4-AC1FE32AC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40C1-E66A-55CA-FCA9-857E3FAE06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BF3F-C98D-4AB0-B427-568E1D862EE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9BB6F-109E-ADCF-9B2B-E8C5527CB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5BD7C-5754-0DB2-5DFD-E02046394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D36B-273E-4DAB-A0AA-F9000876A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97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D8DD-A193-3857-E0C7-F32CB1F48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2" y="224589"/>
            <a:ext cx="10266947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AWS Athena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5D4E1-012E-A343-EF74-62C497D7F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052" y="1283368"/>
            <a:ext cx="10266948" cy="397443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AWS Athena? (WHAT)</a:t>
            </a:r>
          </a:p>
          <a:p>
            <a:pPr algn="l"/>
            <a:r>
              <a:rPr lang="en-US" dirty="0"/>
              <a:t>A </a:t>
            </a:r>
            <a:r>
              <a:rPr lang="en-US" b="1" dirty="0"/>
              <a:t>serverless, interactive SQL query service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Allows querying data </a:t>
            </a:r>
            <a:r>
              <a:rPr lang="en-US" b="1" dirty="0"/>
              <a:t>directly from S3</a:t>
            </a:r>
            <a:r>
              <a:rPr lang="en-US" dirty="0"/>
              <a:t> using standard SQL.</a:t>
            </a:r>
          </a:p>
          <a:p>
            <a:pPr algn="l"/>
            <a:r>
              <a:rPr lang="en-US" dirty="0"/>
              <a:t>No servers, no clusters — fully managed by AWS.</a:t>
            </a:r>
          </a:p>
          <a:p>
            <a:pPr algn="l"/>
            <a:r>
              <a:rPr lang="en-US" dirty="0"/>
              <a:t>Built on </a:t>
            </a:r>
            <a:r>
              <a:rPr lang="en-US" b="1" dirty="0"/>
              <a:t>Presto/Trino</a:t>
            </a:r>
            <a:r>
              <a:rPr lang="en-US" dirty="0"/>
              <a:t> engine for high-speed queries.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73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D5F3-0E9C-3EF4-3C73-B9615B90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Use Athena?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9CCD0-3E0B-E032-75E0-B2B132515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infrastructure to manage.</a:t>
            </a:r>
          </a:p>
          <a:p>
            <a:r>
              <a:rPr lang="en-US" dirty="0"/>
              <a:t>Pay only for the amount of data scanned.</a:t>
            </a:r>
          </a:p>
          <a:p>
            <a:r>
              <a:rPr lang="en-US" dirty="0"/>
              <a:t>Ideal for ad-hoc analysis and quick exploration.</a:t>
            </a:r>
          </a:p>
          <a:p>
            <a:r>
              <a:rPr lang="en-US" dirty="0"/>
              <a:t>Works with CSV, JSON, Parquet, ORC, Avro, logs, clickstreams, IoT data, etc.</a:t>
            </a:r>
          </a:p>
          <a:p>
            <a:r>
              <a:rPr lang="en-US" dirty="0"/>
              <a:t>Integrates well with </a:t>
            </a:r>
            <a:r>
              <a:rPr lang="en-US" b="1" dirty="0" err="1"/>
              <a:t>QuickSight</a:t>
            </a:r>
            <a:r>
              <a:rPr lang="en-US" b="1" dirty="0"/>
              <a:t>, Glue, Redshift, EMR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389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50B2-A447-0A82-B417-61B3969BF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Athena Works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0AF4-AB37-3BA6-EB28-A8F23EF26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stored in S3 (raw/trusted/refined zones).</a:t>
            </a:r>
          </a:p>
          <a:p>
            <a:r>
              <a:rPr lang="en-IN" dirty="0"/>
              <a:t>Glue Crawler creates metadata in </a:t>
            </a:r>
            <a:r>
              <a:rPr lang="en-IN" b="1" dirty="0"/>
              <a:t>Glue Data </a:t>
            </a:r>
            <a:r>
              <a:rPr lang="en-IN" b="1" dirty="0" err="1"/>
              <a:t>Catalog</a:t>
            </a:r>
            <a:r>
              <a:rPr lang="en-IN" dirty="0"/>
              <a:t>.</a:t>
            </a:r>
          </a:p>
          <a:p>
            <a:r>
              <a:rPr lang="en-IN" dirty="0"/>
              <a:t>Athena uses the </a:t>
            </a:r>
            <a:r>
              <a:rPr lang="en-IN" dirty="0" err="1"/>
              <a:t>catalog</a:t>
            </a:r>
            <a:r>
              <a:rPr lang="en-IN" dirty="0"/>
              <a:t> to understand schema.</a:t>
            </a:r>
          </a:p>
          <a:p>
            <a:r>
              <a:rPr lang="en-IN" dirty="0"/>
              <a:t>User writes SQL queries → Athena scans S3 → returns results.</a:t>
            </a:r>
          </a:p>
          <a:p>
            <a:r>
              <a:rPr lang="en-IN" dirty="0"/>
              <a:t>Query results saved automatically back to S3.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831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0586-E1DC-06E2-FB11-9BA4CEC8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Athena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E7767-0CEC-BFDB-DCE5-E940940F9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Storage:</a:t>
            </a:r>
            <a:r>
              <a:rPr lang="en-IN" dirty="0"/>
              <a:t> S3</a:t>
            </a:r>
          </a:p>
          <a:p>
            <a:r>
              <a:rPr lang="en-IN" b="1" dirty="0"/>
              <a:t>Metadata Layer:</a:t>
            </a:r>
            <a:r>
              <a:rPr lang="en-IN" dirty="0"/>
              <a:t> AWS Glue Data </a:t>
            </a:r>
            <a:r>
              <a:rPr lang="en-IN" dirty="0" err="1"/>
              <a:t>Catalog</a:t>
            </a:r>
            <a:endParaRPr lang="en-IN" dirty="0"/>
          </a:p>
          <a:p>
            <a:r>
              <a:rPr lang="en-IN" b="1" dirty="0"/>
              <a:t>Query Engine:</a:t>
            </a:r>
            <a:r>
              <a:rPr lang="en-IN" dirty="0"/>
              <a:t> Presto/Trino</a:t>
            </a:r>
          </a:p>
          <a:p>
            <a:r>
              <a:rPr lang="en-IN" b="1" dirty="0"/>
              <a:t>Result Storage:</a:t>
            </a:r>
            <a:r>
              <a:rPr lang="en-IN" dirty="0"/>
              <a:t> S3 output folder</a:t>
            </a:r>
          </a:p>
          <a:p>
            <a:r>
              <a:rPr lang="en-IN" b="1" dirty="0"/>
              <a:t>Optional:</a:t>
            </a:r>
            <a:r>
              <a:rPr lang="en-IN" dirty="0"/>
              <a:t> Workgroups for cost control &amp; isolation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898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F21B-2A99-2FAB-79F0-0E3310C8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Format Matters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2297-A5B7-C599-32D8-614BBFEE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File format impacts performance &amp; cost.</a:t>
            </a:r>
          </a:p>
          <a:p>
            <a:r>
              <a:rPr lang="en-IN" b="1" dirty="0"/>
              <a:t>Columnar formats (Parquet / ORC)</a:t>
            </a:r>
            <a:r>
              <a:rPr lang="en-IN" dirty="0"/>
              <a:t> reduce scanned data → cheaper + faster.</a:t>
            </a:r>
          </a:p>
          <a:p>
            <a:r>
              <a:rPr lang="en-IN" dirty="0"/>
              <a:t>Partitioning (year, month, day, region) reduces query scope.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26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AF72-2E1F-0E8F-C7F6-6E9F4DC6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Optimize Athena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F9D05-BDC0-CFB3-139B-85AB3B45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raw CSV/JSON into Parquet or ORC.</a:t>
            </a:r>
          </a:p>
          <a:p>
            <a:r>
              <a:rPr lang="en-US" dirty="0"/>
              <a:t>Create partitions &amp; use partition pruning in queries.</a:t>
            </a:r>
          </a:p>
          <a:p>
            <a:r>
              <a:rPr lang="en-US" dirty="0"/>
              <a:t>Compress files (Snappy/GZIP).</a:t>
            </a:r>
          </a:p>
          <a:p>
            <a:r>
              <a:rPr lang="en-US" dirty="0"/>
              <a:t>Use workgroups to set query cost limits.</a:t>
            </a:r>
          </a:p>
          <a:p>
            <a:r>
              <a:rPr lang="en-US" dirty="0"/>
              <a:t>Keep files of optimal size (128–512MB).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251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560D-D539-A3A2-57F9-B5C77834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Athena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43627-2FF0-4014-3423-B0F4F8161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 analysis (CloudTrail, ELB, VPC Flow Logs).</a:t>
            </a:r>
          </a:p>
          <a:p>
            <a:r>
              <a:rPr lang="en-IN" dirty="0"/>
              <a:t>Data lake querying without ETL jobs.</a:t>
            </a:r>
          </a:p>
          <a:p>
            <a:r>
              <a:rPr lang="en-IN" dirty="0"/>
              <a:t>Quick insights for BI dashboards.</a:t>
            </a:r>
          </a:p>
          <a:p>
            <a:r>
              <a:rPr lang="en-IN" dirty="0"/>
              <a:t>Exploring semi-structured data (JSON, logs).</a:t>
            </a:r>
          </a:p>
          <a:p>
            <a:r>
              <a:rPr lang="en-IN" dirty="0"/>
              <a:t>Security &amp; compliance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25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68A5-C1EE-FCD4-AC37-588062FA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Athena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D042C-75E5-8551-0FCA-EF3E7355F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 analysis (CloudTrail, ELB, VPC Flow Logs).</a:t>
            </a:r>
          </a:p>
          <a:p>
            <a:r>
              <a:rPr lang="en-IN" dirty="0"/>
              <a:t>Data lake querying without ETL jobs.</a:t>
            </a:r>
          </a:p>
          <a:p>
            <a:r>
              <a:rPr lang="en-IN" dirty="0"/>
              <a:t>Quick insights for BI dashboards.</a:t>
            </a:r>
          </a:p>
          <a:p>
            <a:r>
              <a:rPr lang="en-IN" dirty="0"/>
              <a:t>Exploring semi-structured data (JSON, logs).</a:t>
            </a:r>
          </a:p>
          <a:p>
            <a:r>
              <a:rPr lang="en-IN" dirty="0"/>
              <a:t>Security &amp; compliance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12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104B-7C86-4A40-86C1-6465AF24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Athena (WHY)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43476-6F29-50AB-CD25-EE99BFE84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Serverless</a:t>
            </a:r>
            <a:r>
              <a:rPr lang="en-US" dirty="0"/>
              <a:t> → no setup, no scaling worries.</a:t>
            </a:r>
          </a:p>
          <a:p>
            <a:r>
              <a:rPr lang="en-US" b="1" dirty="0"/>
              <a:t>Fast</a:t>
            </a:r>
            <a:r>
              <a:rPr lang="en-US" dirty="0"/>
              <a:t> → distributed query execution.</a:t>
            </a:r>
          </a:p>
          <a:p>
            <a:r>
              <a:rPr lang="en-US" b="1" dirty="0"/>
              <a:t>Low Cost</a:t>
            </a:r>
            <a:r>
              <a:rPr lang="en-US" dirty="0"/>
              <a:t> → pay per TB scanned.</a:t>
            </a:r>
          </a:p>
          <a:p>
            <a:r>
              <a:rPr lang="en-US" b="1" dirty="0"/>
              <a:t>Flexible</a:t>
            </a:r>
            <a:r>
              <a:rPr lang="en-US" dirty="0"/>
              <a:t> → works with many file formats.</a:t>
            </a:r>
          </a:p>
          <a:p>
            <a:r>
              <a:rPr lang="en-US" b="1" dirty="0"/>
              <a:t>Integrated</a:t>
            </a:r>
            <a:r>
              <a:rPr lang="en-US" dirty="0"/>
              <a:t> → easily connects to BI tools.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00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8902-F113-C152-BF07-49BB19CE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2B81-673D-09F8-2732-8F8BF2E75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Athena provides </a:t>
            </a:r>
            <a:r>
              <a:rPr lang="en-IN" b="1" dirty="0"/>
              <a:t>SQL-on-S3</a:t>
            </a:r>
            <a:r>
              <a:rPr lang="en-IN" dirty="0"/>
              <a:t> without servers.</a:t>
            </a:r>
          </a:p>
          <a:p>
            <a:r>
              <a:rPr lang="en-IN" dirty="0"/>
              <a:t>Glue </a:t>
            </a:r>
            <a:r>
              <a:rPr lang="en-IN" dirty="0" err="1"/>
              <a:t>Catalog</a:t>
            </a:r>
            <a:r>
              <a:rPr lang="en-IN" dirty="0"/>
              <a:t> powers schema &amp; metadata.</a:t>
            </a:r>
          </a:p>
          <a:p>
            <a:r>
              <a:rPr lang="en-IN" dirty="0"/>
              <a:t>Best when combined with partitioning + Parquet.</a:t>
            </a:r>
          </a:p>
          <a:p>
            <a:r>
              <a:rPr lang="en-IN"/>
              <a:t>Essential for modern Data Lakes and analytical pipelines.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064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Athena </vt:lpstr>
      <vt:lpstr>Why Do We Use Athena? (WHY) </vt:lpstr>
      <vt:lpstr>How Athena Works (HOW)</vt:lpstr>
      <vt:lpstr>Athena Architecture (WHAT) </vt:lpstr>
      <vt:lpstr>Why Format Matters (WHY) </vt:lpstr>
      <vt:lpstr>How to Optimize Athena (HOW) </vt:lpstr>
      <vt:lpstr>Athena Use Cases (WHAT) </vt:lpstr>
      <vt:lpstr>Athena Use Cases (WHAT) </vt:lpstr>
      <vt:lpstr>Benefits of Athena (WHY)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2025-11-20T06:28:38Z</dcterms:created>
  <dcterms:modified xsi:type="dcterms:W3CDTF">2025-11-20T06:28:43Z</dcterms:modified>
</cp:coreProperties>
</file>