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48" d="100"/>
          <a:sy n="48" d="100"/>
        </p:scale>
        <p:origin x="67" y="7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7E15-6412-B21E-0C0F-9F9A0F74D0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40EB3F-08D2-EF44-158A-6B950A0356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900582-D72F-EF7F-92D5-E85719571A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BD962-EC2E-49AC-8353-D7BE0E6913F7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F4D074-26AC-8A86-9566-3B7BECB031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DCBCC-93C5-C086-7923-E687DAC9F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93762-295C-44AB-A859-E32D6FFA75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29607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434041-2292-2D7F-31A6-0F0B63808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20E048-FBB6-7CC3-F8A9-3D3344A5AB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548A9A-7381-978B-37FC-249199057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BD962-EC2E-49AC-8353-D7BE0E6913F7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AEE642-6CB7-C75F-879C-64382AF60F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F73D34-F13C-F1D9-B7B2-E55E7E16B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93762-295C-44AB-A859-E32D6FFA75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67098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BD7FA-8DA5-DBB4-4653-C82B1678AD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3C2F43-8A4F-D2AA-296E-796862EB59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488A39-BEF1-BC8D-D1DC-5FA0EA12D3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BD962-EC2E-49AC-8353-D7BE0E6913F7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E7BBA6-40F8-7A19-84D8-EC7A352E7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487FF9-EC56-860A-7721-464476E17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93762-295C-44AB-A859-E32D6FFA75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58432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205F9-194C-344F-DF8D-075B6AA929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9FAED2-AAD5-DEF3-AF8F-7BE52CC1C7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64A5BC-FCF3-7E2D-BDA0-0861399265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AC14224-E6CB-1D70-4FF8-3698E62B5C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BD962-EC2E-49AC-8353-D7BE0E6913F7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C041CE-AA8C-BEBC-2761-82A0066C28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A88646-D3AC-63EC-97BF-F598993BD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93762-295C-44AB-A859-E32D6FFA75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50370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AE6285-F09D-634C-AAEA-DA64A816F8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669FAA-1CC6-ED6E-98AD-4F37715D9A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0AEA77-D1F2-2A8F-BE19-9B77A71C8C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B19E8F-97EB-A7DA-8CA4-235CF42A1E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55D83A-75A1-3D11-8567-03E96D3EDC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961B5D-9913-3B3D-71F7-3740A7D39B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BD962-EC2E-49AC-8353-D7BE0E6913F7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3DAC24E-EEBC-2030-8766-8E94CA059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FE2D6AA-726A-4EC6-8D91-B5980A7130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93762-295C-44AB-A859-E32D6FFA75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89681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B9A05-EB52-3223-FA03-331884266C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F07DB1-2F2E-5C6C-5A98-EF7098385B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BD962-EC2E-49AC-8353-D7BE0E6913F7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30B61B-53A1-2E81-9598-C89A7672E0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5EBF98-BF62-1903-EA43-DC1BBF5B8D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93762-295C-44AB-A859-E32D6FFA75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48479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F1B19B-4E9A-B418-338D-FD96FF38D8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BD962-EC2E-49AC-8353-D7BE0E6913F7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2AB9FFE-029E-ED98-E470-F7F36FF915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7E93E5-8FBE-BA7D-328F-21CE71BD0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93762-295C-44AB-A859-E32D6FFA75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67876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45348E-8C3D-248C-5EEA-42A7D84B07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853DBF-6696-4CBF-315D-854DAE14C5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616945-953C-B258-1156-C9A2C38829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AE1FFA-CCF5-C177-5F29-0FA55D08A2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BD962-EC2E-49AC-8353-D7BE0E6913F7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7D75E9-4A71-D039-0990-7FAE410E6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18A801-ED1B-5174-A6FB-01BD93E59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93762-295C-44AB-A859-E32D6FFA75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44017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4591F2-6432-2125-E548-DCD0D5B1A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B237B5-32E1-1D1C-CE17-8253B90572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6C00E2-5129-4D6A-CBAB-D962819B83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74E402-5C60-3B44-5C47-ED2844E85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BD962-EC2E-49AC-8353-D7BE0E6913F7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C5E787-00BB-77D7-C88F-C6F421DB0D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43ED4D-02E2-D119-CAC1-A86542C13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93762-295C-44AB-A859-E32D6FFA75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19685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76FBF7-5F94-9CA2-5675-B845F73DF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EAEE33-E787-45FC-E299-52F2A7C9AD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606C54-7FEE-6CAC-69C5-483373683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BD962-EC2E-49AC-8353-D7BE0E6913F7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829471-A49C-CCA5-01AD-338DE84A9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1213DA-140E-C242-0239-6BFAA2C80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93762-295C-44AB-A859-E32D6FFA75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39668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91D130F-BB6A-9EA2-3453-C85A174FC7C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656820-A0DA-1B9E-444B-9EC031DAB36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46C2F5-066B-2D43-4F23-4D78F678CA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3BD962-EC2E-49AC-8353-D7BE0E6913F7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091A85-4F7F-18B6-FB4D-8E695E670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3F8582-4B45-A25D-E1C3-FB52A5F58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F93762-295C-44AB-A859-E32D6FFA75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43469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32F107-07CF-5900-91C0-F6B1B0F48F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E0430C-4335-C450-2C04-A820283007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DC55C5-A015-4B7B-CCB0-1C87A2C388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3BD962-EC2E-49AC-8353-D7BE0E6913F7}" type="datetimeFigureOut">
              <a:rPr lang="en-IN" smtClean="0"/>
              <a:t>13-11-2025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07E047-9E18-A60C-CA7D-1616D4E71B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745FF9-DA39-962B-EE81-21ED8408BF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6F93762-295C-44AB-A859-E32D6FFA75F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62089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5025C-2F56-7921-DC12-679C9633F9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8547" y="112295"/>
            <a:ext cx="11245516" cy="2374231"/>
          </a:xfrm>
        </p:spPr>
        <p:txBody>
          <a:bodyPr/>
          <a:lstStyle/>
          <a:p>
            <a:r>
              <a:rPr lang="en-US" b="1" dirty="0"/>
              <a:t>Introduction to Inventory and Forecast Management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6B4A34-7DF7-6AB9-DE9C-2EFA2D2B80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9179" y="2486525"/>
            <a:ext cx="11534274" cy="3946359"/>
          </a:xfrm>
        </p:spPr>
        <p:txBody>
          <a:bodyPr>
            <a:normAutofit/>
          </a:bodyPr>
          <a:lstStyle/>
          <a:p>
            <a:pPr algn="l"/>
            <a:r>
              <a:rPr lang="en-US" b="1" dirty="0"/>
              <a:t>What:</a:t>
            </a:r>
            <a:br>
              <a:rPr lang="en-US" dirty="0"/>
            </a:br>
            <a:r>
              <a:rPr lang="en-US" dirty="0"/>
              <a:t>Inventory and Forecast Management is the process of maintaining optimal stock levels while predicting future demand using historical and analytical data.</a:t>
            </a:r>
            <a:br>
              <a:rPr lang="en-US" dirty="0"/>
            </a:br>
            <a:r>
              <a:rPr lang="en-US" b="1" dirty="0"/>
              <a:t>Why:</a:t>
            </a:r>
            <a:br>
              <a:rPr lang="en-US" dirty="0"/>
            </a:br>
            <a:r>
              <a:rPr lang="en-US" dirty="0"/>
              <a:t>Accurate inventory and forecast planning prevents stock shortages, overstocking, and financial losses, ensuring a smooth supply chain.</a:t>
            </a:r>
            <a:br>
              <a:rPr lang="en-US" dirty="0"/>
            </a:br>
            <a:r>
              <a:rPr lang="en-US" b="1" dirty="0"/>
              <a:t>How:</a:t>
            </a:r>
            <a:br>
              <a:rPr lang="en-US" dirty="0"/>
            </a:br>
            <a:r>
              <a:rPr lang="en-US" dirty="0"/>
              <a:t>By continuously tracking inventory, analyzing sales data, and applying predictive models to forecast demand trends.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214203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AE092-D57C-A995-10A8-CE7C587C9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Objectives of Inventory Management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0E43A8-BD0D-4A35-F86B-965E1028F0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What:</a:t>
            </a:r>
            <a:br>
              <a:rPr lang="en-US" dirty="0"/>
            </a:br>
            <a:r>
              <a:rPr lang="en-US" dirty="0"/>
              <a:t>The primary goal is to maintain the right quantity of products, at the right place, and at the right time.</a:t>
            </a:r>
            <a:br>
              <a:rPr lang="en-US" dirty="0"/>
            </a:br>
            <a:r>
              <a:rPr lang="en-US" b="1" dirty="0"/>
              <a:t>Why:</a:t>
            </a:r>
            <a:br>
              <a:rPr lang="en-US" dirty="0"/>
            </a:br>
            <a:r>
              <a:rPr lang="en-US" dirty="0"/>
              <a:t>To ensure uninterrupted operations, minimize storage costs, and enhance customer satisfaction.</a:t>
            </a:r>
            <a:br>
              <a:rPr lang="en-US" dirty="0"/>
            </a:br>
            <a:r>
              <a:rPr lang="en-US" b="1" dirty="0"/>
              <a:t>How:</a:t>
            </a:r>
            <a:br>
              <a:rPr lang="en-US" dirty="0"/>
            </a:br>
            <a:r>
              <a:rPr lang="en-US" dirty="0"/>
              <a:t>Use automated tools and data-driven processes to monitor stock levels, lead times, and reorder points.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39895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C9CD03-949C-1D40-DCBF-CD8BBA2135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Types of Inventory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77467E-08EB-ABE6-4499-47CD6E625C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What:</a:t>
            </a:r>
            <a:br>
              <a:rPr lang="en-US" dirty="0"/>
            </a:br>
            <a:r>
              <a:rPr lang="en-US" dirty="0"/>
              <a:t>Inventory can be classified as Raw Materials, Work-In-Progress (WIP), Finished Goods, and MRO (Maintenance, Repair, Operations).</a:t>
            </a:r>
            <a:br>
              <a:rPr lang="en-US" dirty="0"/>
            </a:br>
            <a:r>
              <a:rPr lang="en-US" b="1" dirty="0"/>
              <a:t>Why:</a:t>
            </a:r>
            <a:br>
              <a:rPr lang="en-US" dirty="0"/>
            </a:br>
            <a:r>
              <a:rPr lang="en-US" dirty="0"/>
              <a:t>Each type serves a specific role in production and logistics, helping organizations plan procurement and manufacturing effectively.</a:t>
            </a:r>
            <a:br>
              <a:rPr lang="en-US" dirty="0"/>
            </a:br>
            <a:r>
              <a:rPr lang="en-US" b="1" dirty="0"/>
              <a:t>How:</a:t>
            </a:r>
            <a:br>
              <a:rPr lang="en-US" dirty="0"/>
            </a:br>
            <a:r>
              <a:rPr lang="en-US" dirty="0"/>
              <a:t>By categorizing and tracking each type separately, managers can prioritize resources and control costs.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879971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A43B80-83BF-BAB2-1970-CB0C5642B7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Demand Forecasting?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7E4758-D8D4-C9EB-5C78-2D8C028AD4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What:</a:t>
            </a:r>
            <a:br>
              <a:rPr lang="en-US" dirty="0"/>
            </a:br>
            <a:r>
              <a:rPr lang="en-US" dirty="0"/>
              <a:t>Demand forecasting is predicting future customer demand using historical sales, seasonality, and trends.</a:t>
            </a:r>
            <a:br>
              <a:rPr lang="en-US" dirty="0"/>
            </a:br>
            <a:r>
              <a:rPr lang="en-US" b="1" dirty="0"/>
              <a:t>Why:</a:t>
            </a:r>
            <a:br>
              <a:rPr lang="en-US" dirty="0"/>
            </a:br>
            <a:r>
              <a:rPr lang="en-US" dirty="0"/>
              <a:t>It enables better decision-making in purchasing, production scheduling, and resource allocation.</a:t>
            </a:r>
            <a:br>
              <a:rPr lang="en-US" dirty="0"/>
            </a:br>
            <a:r>
              <a:rPr lang="en-US" b="1" dirty="0"/>
              <a:t>How:</a:t>
            </a:r>
            <a:br>
              <a:rPr lang="en-US" dirty="0"/>
            </a:br>
            <a:r>
              <a:rPr lang="en-US" dirty="0"/>
              <a:t>Forecasts are generated through methods like moving averages, regression models, or machine learning algorithms.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78269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A21FB-0A48-CFC8-3C8A-D57AF9696B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Why Forecast Accuracy Matters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64082A-1B02-FC3B-3EBA-3C0781AC91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What:</a:t>
            </a:r>
            <a:br>
              <a:rPr lang="en-US" dirty="0"/>
            </a:br>
            <a:r>
              <a:rPr lang="en-US" dirty="0"/>
              <a:t>Forecast accuracy measures how close your predictions are to actual demand.</a:t>
            </a:r>
            <a:br>
              <a:rPr lang="en-US" dirty="0"/>
            </a:br>
            <a:r>
              <a:rPr lang="en-US" b="1" dirty="0"/>
              <a:t>Why:</a:t>
            </a:r>
            <a:br>
              <a:rPr lang="en-US" dirty="0"/>
            </a:br>
            <a:r>
              <a:rPr lang="en-US" dirty="0"/>
              <a:t>Inaccurate forecasts lead to excess inventory, stockouts, and wasted capital.</a:t>
            </a:r>
            <a:br>
              <a:rPr lang="en-US" dirty="0"/>
            </a:br>
            <a:r>
              <a:rPr lang="en-US" b="1" dirty="0"/>
              <a:t>How:</a:t>
            </a:r>
            <a:br>
              <a:rPr lang="en-US" dirty="0"/>
            </a:br>
            <a:r>
              <a:rPr lang="en-US" dirty="0"/>
              <a:t>Track metrics like MAPE (Mean Absolute Percentage Error) and continuously refine forecasting models based on real outcomes.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203642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21F6E4-B014-5E44-C412-CFEBE26FAE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Inventory and Forecast Work Together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C36065-7D21-DF3D-B38B-1A7A9C7226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What:</a:t>
            </a:r>
            <a:br>
              <a:rPr lang="en-US" dirty="0"/>
            </a:br>
            <a:r>
              <a:rPr lang="en-US" dirty="0"/>
              <a:t>Inventory and forecasting are interdependent processes — forecasts guide how much to stock.</a:t>
            </a:r>
            <a:br>
              <a:rPr lang="en-US" dirty="0"/>
            </a:br>
            <a:r>
              <a:rPr lang="en-US" b="1" dirty="0"/>
              <a:t>Why:</a:t>
            </a:r>
            <a:br>
              <a:rPr lang="en-US" dirty="0"/>
            </a:br>
            <a:r>
              <a:rPr lang="en-US" dirty="0"/>
              <a:t>Aligning the two ensures that stock levels meet demand without overcommitting resources.</a:t>
            </a:r>
            <a:br>
              <a:rPr lang="en-US" dirty="0"/>
            </a:br>
            <a:r>
              <a:rPr lang="en-US" b="1" dirty="0"/>
              <a:t>How:</a:t>
            </a:r>
            <a:br>
              <a:rPr lang="en-US" dirty="0"/>
            </a:br>
            <a:r>
              <a:rPr lang="en-US" dirty="0"/>
              <a:t>By linking forecasting systems directly with inventory databases and ERP tools for real-time synchronization.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446487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6BB52-749D-A53E-8398-F4DF79F74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Tools and Technologies Used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97C024-ADE7-7A33-0D81-C0238F4EEB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What:</a:t>
            </a:r>
            <a:br>
              <a:rPr lang="en-US" dirty="0"/>
            </a:br>
            <a:r>
              <a:rPr lang="en-US" dirty="0"/>
              <a:t>Modern systems like SAP, Oracle SCM, AWS Forecast, and Power BI help automate inventory and forecasting workflows.</a:t>
            </a:r>
            <a:br>
              <a:rPr lang="en-US" dirty="0"/>
            </a:br>
            <a:r>
              <a:rPr lang="en-US" b="1" dirty="0"/>
              <a:t>Why:</a:t>
            </a:r>
            <a:br>
              <a:rPr lang="en-US" dirty="0"/>
            </a:br>
            <a:r>
              <a:rPr lang="en-US" dirty="0"/>
              <a:t>Automation reduces manual errors, speeds up reporting, and enables data-driven decision-making.</a:t>
            </a:r>
            <a:br>
              <a:rPr lang="en-US" dirty="0"/>
            </a:br>
            <a:r>
              <a:rPr lang="en-US" b="1" dirty="0"/>
              <a:t>How:</a:t>
            </a:r>
            <a:br>
              <a:rPr lang="en-US" dirty="0"/>
            </a:br>
            <a:r>
              <a:rPr lang="en-US" dirty="0"/>
              <a:t>Integrate these tools with data pipelines that pull live data from sales, warehouse, and supplier systems.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588375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5FA074-739E-C876-B759-97D75ECF3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Metrics in Inventory and Forecast Management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595834-31A2-1175-43E9-E47D36882A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What:</a:t>
            </a:r>
            <a:br>
              <a:rPr lang="en-US" dirty="0"/>
            </a:br>
            <a:r>
              <a:rPr lang="en-US" dirty="0"/>
              <a:t>Important KPIs include Stock Turnover Ratio, Safety Stock, Reorder Point, and Forecast Accuracy.</a:t>
            </a:r>
            <a:br>
              <a:rPr lang="en-US" dirty="0"/>
            </a:br>
            <a:r>
              <a:rPr lang="en-US" b="1" dirty="0"/>
              <a:t>Why:</a:t>
            </a:r>
            <a:br>
              <a:rPr lang="en-US" dirty="0"/>
            </a:br>
            <a:r>
              <a:rPr lang="en-US" dirty="0"/>
              <a:t>These metrics measure efficiency, cost control, and service performance.</a:t>
            </a:r>
            <a:br>
              <a:rPr lang="en-US" dirty="0"/>
            </a:br>
            <a:r>
              <a:rPr lang="en-US" b="1" dirty="0"/>
              <a:t>How:</a:t>
            </a:r>
            <a:br>
              <a:rPr lang="en-US" dirty="0"/>
            </a:br>
            <a:r>
              <a:rPr lang="en-US" dirty="0"/>
              <a:t>Monitor them regularly through dashboards to detect trends or deviations early.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366199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1D11E5-0C81-882F-196E-7E0D53E372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Common Challenges and Mitigation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4B59EC-901E-1428-BA3E-D99036938D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What:</a:t>
            </a:r>
            <a:br>
              <a:rPr lang="en-US" dirty="0"/>
            </a:br>
            <a:r>
              <a:rPr lang="en-US" dirty="0"/>
              <a:t>Challenges include inaccurate data, delayed supplier responses, and sudden demand shifts.</a:t>
            </a:r>
            <a:br>
              <a:rPr lang="en-US" dirty="0"/>
            </a:br>
            <a:r>
              <a:rPr lang="en-US" b="1" dirty="0"/>
              <a:t>Why:</a:t>
            </a:r>
            <a:br>
              <a:rPr lang="en-US" dirty="0"/>
            </a:br>
            <a:r>
              <a:rPr lang="en-US" dirty="0"/>
              <a:t>These issues disrupt production flow and increase holding costs.</a:t>
            </a:r>
            <a:br>
              <a:rPr lang="en-US" dirty="0"/>
            </a:br>
            <a:r>
              <a:rPr lang="en-US" b="1" dirty="0"/>
              <a:t>How:</a:t>
            </a:r>
            <a:br>
              <a:rPr lang="en-US" dirty="0"/>
            </a:br>
            <a:r>
              <a:rPr lang="en-US" dirty="0"/>
              <a:t>Mitigate using real-time analytics, supplier collaboration, and predictive alerts for demand spikes.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281735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4558D8-73B1-7BC4-B576-CE7DB36B91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Summary and Takeaways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D34273-3141-02FB-709B-5FFA9B25BB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What:</a:t>
            </a:r>
            <a:br>
              <a:rPr lang="en-US" dirty="0"/>
            </a:br>
            <a:r>
              <a:rPr lang="en-US" dirty="0"/>
              <a:t>Inventory and Forecast Management help balance supply with demand effectively.</a:t>
            </a:r>
            <a:br>
              <a:rPr lang="en-US" dirty="0"/>
            </a:br>
            <a:r>
              <a:rPr lang="en-US" b="1" dirty="0"/>
              <a:t>Why:</a:t>
            </a:r>
            <a:br>
              <a:rPr lang="en-US" dirty="0"/>
            </a:br>
            <a:r>
              <a:rPr lang="en-US" dirty="0"/>
              <a:t>They ensure business continuity, cost optimization, and customer satisfaction.</a:t>
            </a:r>
            <a:br>
              <a:rPr lang="en-US" dirty="0"/>
            </a:br>
            <a:r>
              <a:rPr lang="en-US" b="1"/>
              <a:t>How:</a:t>
            </a:r>
            <a:br>
              <a:rPr lang="en-US"/>
            </a:br>
            <a:r>
              <a:rPr lang="en-US"/>
              <a:t>Implement integrated, automated, and data-driven systems that adapt to changing business needs.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981543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640</Words>
  <Application>Microsoft Office PowerPoint</Application>
  <PresentationFormat>Widescreen</PresentationFormat>
  <Paragraphs>20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Introduction to Inventory and Forecast Management</vt:lpstr>
      <vt:lpstr>Objectives of Inventory Management</vt:lpstr>
      <vt:lpstr>Types of Inventory </vt:lpstr>
      <vt:lpstr>What is Demand Forecasting?</vt:lpstr>
      <vt:lpstr>Why Forecast Accuracy Matters</vt:lpstr>
      <vt:lpstr>How Inventory and Forecast Work Together</vt:lpstr>
      <vt:lpstr>Tools and Technologies Used </vt:lpstr>
      <vt:lpstr>Key Metrics in Inventory and Forecast Management</vt:lpstr>
      <vt:lpstr>Common Challenges and Mitigation </vt:lpstr>
      <vt:lpstr>Summary and Takeaways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Rahamatunnisa Abdul</dc:creator>
  <cp:lastModifiedBy>Rahamatunnisa Abdul</cp:lastModifiedBy>
  <cp:revision>1</cp:revision>
  <dcterms:created xsi:type="dcterms:W3CDTF">2025-11-13T07:23:29Z</dcterms:created>
  <dcterms:modified xsi:type="dcterms:W3CDTF">2025-11-13T07:23:35Z</dcterms:modified>
</cp:coreProperties>
</file>