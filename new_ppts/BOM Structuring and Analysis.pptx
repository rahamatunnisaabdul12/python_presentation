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3E236-47D3-8489-7682-F94928E95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161CB-AB08-9227-F16F-E6C799CC8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D4FC0-0756-081D-C960-2986DD346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6A93-687D-1128-021C-C7F3A0BE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77A73-5ED1-C480-F95D-013B2B7D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64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FD83-08FC-78D3-2A3D-F2940B60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4745-7955-E7F2-0D2C-FBE6F44BD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684A9-80DA-171B-C4C4-9F8AA300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B06D-2C18-2E94-CA40-FE531D20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14B79-48FA-2453-AEEF-1F4C2B39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6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6188-2B30-0543-D9F2-A8EAA7794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04C21-3DCF-4C69-4F72-7FFDAB5AB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63560-17C5-558B-5B8D-F575C455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979A-8753-9C7C-7F7B-E303A14E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AAD7D-9923-70B8-887A-34488352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7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8631-C189-08DB-3548-E01EC744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0799E-0667-E336-248E-4E44A6AA3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16679-BD88-1CA5-CE82-F36F5EF80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EEE33-D8E1-A57F-22CE-1BAC59ABF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07645-1216-C476-15BE-F6050E3C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CEC43-E20E-6001-06A4-FA8F8F6C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3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82BC-BA58-DA70-CF2D-9F60755C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4A6AB-B1D1-FBEB-C26C-E9C55774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F57F8-5FA0-F9F4-B117-D0BEE2677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E0AF9-F5AB-04BC-F103-6BE193D34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6499D-7245-993A-0941-6E7C6FBB5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88CCA-6FAF-9515-8981-0BC4AF6E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1CB74-68A7-067E-8296-99E3F63F3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2B690-F3F6-D1A5-8401-244A1B68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0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1CEA-9BC3-6EBD-127E-E6B69846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3A604-C427-E885-862F-A36B3F69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FA7CB-95EC-96F0-89FD-F8EEBC12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1AA1A-61A2-D6E0-7E3A-50A1B3AD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9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CD64E5-019C-89EC-110C-F837F2DA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69228-1B69-45DA-24CE-802FED24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265C0-809D-7F4F-3C5F-D561CAC4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79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F746-8A0D-EBB1-7504-C4D583DE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0E71-56DA-3C98-2314-678430946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D175E-8FB0-4CD4-6050-EA02956FE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D5C3D-E18F-BDFC-1C58-382D1F78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CAE29-47BF-CD23-11EE-EE4F26BB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7CCDC-6DC0-9F8B-8A5A-3A978B86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24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2315-6C4F-DBB6-DE24-CB06A3B0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388ED4-98EC-6690-0464-CED50E09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F2F85-1E7A-6C36-317E-7F33E3E95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FF81C-129D-BFEB-18A7-99DEAE3F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AC2FE-F443-4747-B435-9076A268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34CC0-6BE6-9CA6-2602-4AD61512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F720-52F9-02B4-D7B0-21E15B2A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D0209-B1B4-EAE9-517A-2003DE000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C5B4E-E36C-39C3-65DC-98DAAEFE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ECAB-6583-4615-8D73-1FFB345FD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12136-88E1-D898-D835-58982989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57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788D5D-7E6B-2CD9-0DBA-176C99E13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3D015-9F6E-4BDC-114E-222C16ED6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39C7F-6B2E-4FD1-4DF0-C579C727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B5EF1-EE6A-C8C5-66E1-9449E83F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1F62-02C4-9C05-5463-6AC7232B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86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C5BF5-708A-7A53-A3F4-0F42FDCE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F8303-99A0-D8B5-2540-357C91C4B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6CEC7-9528-1242-56DC-A1E799835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3FAE6-DB8E-46FA-B982-362FB41203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AF628-ADF1-53CA-6C07-9752B4594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075BC-8DB3-C39B-25A6-87B35EC6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996B9-AD6F-49C7-BABA-99E4B1842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56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8B26-206E-4F30-D7B5-4E18D2C76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758" y="1"/>
            <a:ext cx="10379242" cy="1459832"/>
          </a:xfrm>
        </p:spPr>
        <p:txBody>
          <a:bodyPr/>
          <a:lstStyle/>
          <a:p>
            <a:r>
              <a:rPr lang="en-IN" dirty="0"/>
              <a:t>BOM Structuring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6B934-F5A0-CC47-DD08-823C08B54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94" y="1459833"/>
            <a:ext cx="10828421" cy="5398166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Introduction to BOM (Bill of Materials)</a:t>
            </a:r>
          </a:p>
          <a:p>
            <a:pPr algn="l"/>
            <a:r>
              <a:rPr lang="en-US" sz="2800" b="1" dirty="0"/>
              <a:t>What:</a:t>
            </a:r>
            <a:br>
              <a:rPr lang="en-US" sz="2800" dirty="0"/>
            </a:br>
            <a:r>
              <a:rPr lang="en-US" sz="2800" dirty="0"/>
              <a:t>A BOM is a complete list of components, raw materials, assemblies, and sub-assemblies required to build a product.</a:t>
            </a:r>
            <a:br>
              <a:rPr lang="en-US" sz="2800" dirty="0"/>
            </a:br>
            <a:r>
              <a:rPr lang="en-US" sz="2800" b="1" dirty="0"/>
              <a:t>Why:</a:t>
            </a:r>
            <a:br>
              <a:rPr lang="en-US" sz="2800" dirty="0"/>
            </a:br>
            <a:r>
              <a:rPr lang="en-US" sz="2800" dirty="0"/>
              <a:t>Manufacturing, procurement, planning, and cost estimation rely on accurate BOM data.</a:t>
            </a:r>
            <a:br>
              <a:rPr lang="en-US" sz="2800" dirty="0"/>
            </a:br>
            <a:r>
              <a:rPr lang="en-US" sz="2800" b="1" dirty="0"/>
              <a:t>How:</a:t>
            </a:r>
            <a:br>
              <a:rPr lang="en-US" sz="2800" dirty="0"/>
            </a:br>
            <a:r>
              <a:rPr lang="en-US" sz="2800" dirty="0"/>
              <a:t>Defined within PLM/ERP systems and used throughout engineering, supply chain, and operations teams.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52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F68E-5C6E-7BAC-B285-B764A527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BOM Structuring?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A1F27-7297-E454-4C92-B348E4B2B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053" y="1235242"/>
            <a:ext cx="10952747" cy="4941721"/>
          </a:xfrm>
        </p:spPr>
        <p:txBody>
          <a:bodyPr>
            <a:normAutofit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BOM structuring is the process of organizing product components into hierarchical levels:</a:t>
            </a:r>
          </a:p>
          <a:p>
            <a:r>
              <a:rPr lang="en-US" dirty="0"/>
              <a:t>Level 0: Final product</a:t>
            </a:r>
          </a:p>
          <a:p>
            <a:r>
              <a:rPr lang="en-US" dirty="0"/>
              <a:t>Level 1: Major assemblies</a:t>
            </a:r>
          </a:p>
          <a:p>
            <a:r>
              <a:rPr lang="en-US" dirty="0"/>
              <a:t>Level 2+: Sub-assemblies, parts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Provides clear visibility into product composition and dependencies.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Mapping parent-child relationships inside tools like SAP, Oracle, or PLM platforms.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18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0017-BA31-79FD-B1F0-5A6D4A64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BOM is Critical for Organizations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35FD3-C8F1-6663-FF60-7EF2DBDEA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 BOM drives procurement, manufacturing, inventory, and costing workflows.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Misstructured BOMs cause shortages, delays, incorrect orders, and inaccurate costing.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Teams maintain version-controlled BOMs aligned with engineering updates and supplier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83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FBA53-97AF-7B80-9EF9-B9BCD52B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BOMs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59AF9-981D-7330-163A-9D26FDC4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b="1" dirty="0"/>
              <a:t>Engineering BOM (EBOM)</a:t>
            </a:r>
            <a:r>
              <a:rPr lang="en-US" dirty="0"/>
              <a:t> – Defined by engineering/ design</a:t>
            </a:r>
          </a:p>
          <a:p>
            <a:r>
              <a:rPr lang="en-US" b="1" dirty="0"/>
              <a:t>Manufacturing BOM (MBOM)</a:t>
            </a:r>
            <a:r>
              <a:rPr lang="en-US" dirty="0"/>
              <a:t> – Structured for assembly processes</a:t>
            </a:r>
          </a:p>
          <a:p>
            <a:r>
              <a:rPr lang="en-US" b="1" dirty="0"/>
              <a:t>Service BOM</a:t>
            </a:r>
            <a:r>
              <a:rPr lang="en-US" dirty="0"/>
              <a:t> – Used for maintenance documentation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Different phases need different structures to reflect real workflows.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Transform EBOM → MBOM → Service BOM through revision control and change management.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855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CEAC-A33E-710B-EF24-353EB2BA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BOM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6EAF-FF4E-CC17-5E1F-59FB4E3E6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Evaluating structure, cost, quantities, dependencies, and risks within the BOM.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Enables cost optimization, supplier planning, and failure risk identification.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analytics:</a:t>
            </a:r>
          </a:p>
          <a:p>
            <a:r>
              <a:rPr lang="en-US" dirty="0"/>
              <a:t>Component frequency analysis</a:t>
            </a:r>
          </a:p>
          <a:p>
            <a:r>
              <a:rPr lang="en-US" dirty="0"/>
              <a:t>Cost roll-ups</a:t>
            </a:r>
          </a:p>
          <a:p>
            <a:r>
              <a:rPr lang="en-US" dirty="0"/>
              <a:t>Lead-time checks</a:t>
            </a:r>
          </a:p>
          <a:p>
            <a:r>
              <a:rPr lang="en-US" dirty="0"/>
              <a:t>Multi-level dependency evaluation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44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25B9-0E11-3840-B1AE-E653181B3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BOM Changes Impact Supply Chain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E5767-A8B7-4BAD-292A-71E424BCC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BOM updates affect procurement orders, inventory levels, and production schedules.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Incorrect or delayed updates cause the supply chain to work with outdated component lists.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controlled change management (ECO/ECN) to ensure approved engineering changes flow to supply chain teams.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01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1AE9-205D-109C-1F08-F9A2C9A8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BOM Costing &amp; Roll-Up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C55E6-1449-A401-7144-8B82D2309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Cost roll-up calculates total product cost by summing the cost of all components across levels.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Supports pricing decisions, budgeting, and margin analysis.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Add material cost + labor cost + overhead cost per component and propagate upward in BOM hierarchy.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6083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73DB-861D-8CD4-41E7-972F8109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BOM Validation and Quality Checks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C7B5-7EB5-D772-184F-0692EDC12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Validation ensures accuracy of part numbers, quantities, revisions, units of measure, and dependencies.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production errors, inventory mismatches, and failed assemblies.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Run checks like:</a:t>
            </a:r>
          </a:p>
          <a:p>
            <a:r>
              <a:rPr lang="en-US" dirty="0"/>
              <a:t>Duplicate part detection</a:t>
            </a:r>
          </a:p>
          <a:p>
            <a:r>
              <a:rPr lang="en-US" dirty="0"/>
              <a:t>Missing component check</a:t>
            </a:r>
          </a:p>
          <a:p>
            <a:r>
              <a:rPr lang="en-US" dirty="0"/>
              <a:t>Unit mismatch validation</a:t>
            </a:r>
          </a:p>
          <a:p>
            <a:r>
              <a:rPr lang="en-US" dirty="0"/>
              <a:t>Revision mismatch vs PLM 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31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51DA-3621-CF2D-798B-C2861E46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Systems for BOM Structuring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FC859-0D49-3753-F81A-F3991AB9B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315453"/>
            <a:ext cx="10984832" cy="486151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PLM, ERP, and product data management systems handle BOM creation and analysis.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Centralizes data and enables collaboration across engineering, supply chain, and manufacturing.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Use systems like:</a:t>
            </a:r>
          </a:p>
          <a:p>
            <a:r>
              <a:rPr lang="en-IN" dirty="0"/>
              <a:t>SAP BOM</a:t>
            </a:r>
          </a:p>
          <a:p>
            <a:r>
              <a:rPr lang="en-IN" dirty="0"/>
              <a:t>Oracle Agile PLM</a:t>
            </a:r>
          </a:p>
          <a:p>
            <a:r>
              <a:rPr lang="en-IN" dirty="0"/>
              <a:t>Siemens Teamcenter</a:t>
            </a:r>
          </a:p>
          <a:p>
            <a:r>
              <a:rPr lang="en-IN" dirty="0"/>
              <a:t>Windchill</a:t>
            </a:r>
            <a:br>
              <a:rPr lang="en-IN" dirty="0"/>
            </a:br>
            <a:r>
              <a:rPr lang="en-IN" dirty="0"/>
              <a:t>These enable hierarchy creation, version control, and multi-level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616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7872-B61A-827B-A6A4-946BD6EA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 &amp; 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FA57-B6CA-9D15-83E2-BEF91D0B3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1219200"/>
            <a:ext cx="11113168" cy="49577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BOM structuring organizes components, and BOM analysis improves product, cost, and supply chain efficiency.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accurate builds, optimized costs, and seamless coordination between engineering and operations.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Maintain version control</a:t>
            </a:r>
          </a:p>
          <a:p>
            <a:r>
              <a:rPr lang="en-US" dirty="0"/>
              <a:t>Validate BOM before release</a:t>
            </a:r>
          </a:p>
          <a:p>
            <a:r>
              <a:rPr lang="en-US" dirty="0"/>
              <a:t>Standardize naming conventions</a:t>
            </a:r>
          </a:p>
          <a:p>
            <a:r>
              <a:rPr lang="en-US" dirty="0"/>
              <a:t>Align engineering &amp; manufacturing BOMs</a:t>
            </a:r>
          </a:p>
          <a:p>
            <a:r>
              <a:rPr lang="en-US" dirty="0"/>
              <a:t>Regularly analyze cost and component risks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809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BOM Structuring and Analysis</vt:lpstr>
      <vt:lpstr>What is BOM Structuring? </vt:lpstr>
      <vt:lpstr>Why BOM is Critical for Organizations</vt:lpstr>
      <vt:lpstr>Types of BOMs </vt:lpstr>
      <vt:lpstr>What is BOM Analysis?</vt:lpstr>
      <vt:lpstr>How BOM Changes Impact Supply Chain </vt:lpstr>
      <vt:lpstr>BOM Costing &amp; Roll-Up Calculations</vt:lpstr>
      <vt:lpstr>BOM Validation and Quality Checks</vt:lpstr>
      <vt:lpstr>Tools &amp; Systems for BOM Structuring </vt:lpstr>
      <vt:lpstr>Summary &amp; Best Practices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2025-11-14T06:44:51Z</dcterms:created>
  <dcterms:modified xsi:type="dcterms:W3CDTF">2025-11-14T06:44:56Z</dcterms:modified>
</cp:coreProperties>
</file>