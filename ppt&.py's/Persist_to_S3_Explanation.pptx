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FCE76-5368-2708-9C37-03E510EB55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EB6779-CF80-5026-489C-4D08EBC61B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D37607-454A-72C9-6FD7-CBF5219EF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F728F-27D3-40DD-9BA6-E7B67A4E4804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0F8CF5-ECF0-24AF-13CA-8207FC611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F9DAA6-DA52-C521-05CD-99BF5FE30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E1826-E20C-422C-BD01-4FDA22FBBD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426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02E51-C785-DC71-8BBB-55F1B0812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4E5781-344E-C20D-6CB3-4AA1892B99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D75DF-F9E5-BCAA-2BE0-E0871AE68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F728F-27D3-40DD-9BA6-E7B67A4E4804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341A12-3F5C-BFA7-A31E-22CF6B274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6B949E-90A5-0452-ACCF-44A09D36F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E1826-E20C-422C-BD01-4FDA22FBBD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8147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BC211-3875-442E-C2B2-472742395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7465BE-BCAB-9A5E-D3E3-1C9219358B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FDAA1B-63C9-AB1C-064B-D596290DF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F728F-27D3-40DD-9BA6-E7B67A4E4804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71873-9B90-969E-CF08-9E1688097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EB9A39-23E6-28D8-C033-18BFE2A61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E1826-E20C-422C-BD01-4FDA22FBBD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133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6154B-F0DE-862C-457F-8421D4235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EDAF7E-4FD3-9838-8DFA-5DB2844AA4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3372E8-3890-04CE-8CA2-F2DF04869B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D870D5-0D0D-3F9F-0C18-74D827F3B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F728F-27D3-40DD-9BA6-E7B67A4E4804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AFA190-4D1B-5995-4E87-5CB9EE131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B4103D-CE6A-B1DC-6EF2-2220864A8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E1826-E20C-422C-BD01-4FDA22FBBD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3325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F8697-81B1-F0C2-4864-F44677896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B62DEC-2FCA-39C5-5CE6-239C05D440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1EDEF2-AC4E-E5A8-98EB-21A551BF05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4F6236-7EA9-D3D0-8942-6567CD536E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132E14-0171-B850-5911-2E23814492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8E5FD6-B27F-A434-CB57-7F832D8A0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F728F-27D3-40DD-9BA6-E7B67A4E4804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D1FF5D-9CE8-A58C-0319-72EC02742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33AC79-8FFB-C5CC-03C2-391B2DA3D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E1826-E20C-422C-BD01-4FDA22FBBD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7052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7EC04-7B35-AC6C-B596-97E973A41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DABFF4-059D-CC2C-EF0E-8380B21D8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F728F-27D3-40DD-9BA6-E7B67A4E4804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11770E-52FB-A5C8-9FA4-CA289F1DB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A2AE08-84C3-9EFB-49AF-AD5380E04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E1826-E20C-422C-BD01-4FDA22FBBD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116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FE71CC-9963-BD0F-5B99-C93BF2CDA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F728F-27D3-40DD-9BA6-E7B67A4E4804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FA70C4-4713-764C-960D-A12B92006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6AA831-7DD2-26D9-24DB-8EFFD6804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E1826-E20C-422C-BD01-4FDA22FBBD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1461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07DF4-A874-47E2-73D3-0155B08C6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064CE-C67B-4F45-269B-50DA8E8563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CE3DC5-F24E-38E2-97DC-3BDB99BD52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5B0B4-42D7-75B3-79A0-4AF6E6089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F728F-27D3-40DD-9BA6-E7B67A4E4804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8A257A-79EC-0237-88B5-C3BD78D95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42EDD-5D3C-7CAA-3465-7F54F26D6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E1826-E20C-422C-BD01-4FDA22FBBD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5810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E5B9E-EAA6-D17F-F6D5-35FFB582C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BFEE98-0E90-1CF1-56E7-FCC8E9A3C8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04CA1D-4AA3-4F2A-56CE-58A9B056A6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4E707C-EBD0-9A1E-54EF-1234B295F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F728F-27D3-40DD-9BA6-E7B67A4E4804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A677C5-9DC5-3DC0-E20F-DA41C4D5A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47A78A-D337-5027-F322-F1773FF5A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E1826-E20C-422C-BD01-4FDA22FBBD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1366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547D5-774B-5818-F4E8-6CE292D47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B5BF40-7303-FD51-AA7C-48AF03DD23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E71C8C-4805-6A10-7ED6-4DDA580DA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F728F-27D3-40DD-9BA6-E7B67A4E4804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7DD65E-783F-E5BD-AE4E-0BF06E7A4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F7FB83-5830-541F-4822-9B06FF08B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E1826-E20C-422C-BD01-4FDA22FBBD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8530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9F7457-CFAB-DACB-C058-04C19E9ADB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9FFFCC-2A6E-2059-03A1-9A2FD80806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04763A-E1C7-D82B-D85A-EB2FDE1CA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F728F-27D3-40DD-9BA6-E7B67A4E4804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B1BDC0-5320-B1BC-DB59-881C17CFB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8A0080-DB9A-4F05-4DC9-B1185BC34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E1826-E20C-422C-BD01-4FDA22FBBD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8665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286DA2-0641-C36C-306B-B3C75F3E2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E80D13-F794-11FA-D582-85769BDAA2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7C072F-F56C-23D5-2718-A1F966AF17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8F728F-27D3-40DD-9BA6-E7B67A4E4804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24C5B1-5B5C-F699-FC69-99E6D69E36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24384E-1F73-D29F-B3C6-5D2F7E385C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9E1826-E20C-422C-BD01-4FDA22FBBD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3483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7E665-B69B-9662-1FBB-8FA542BAB5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5452" y="529389"/>
            <a:ext cx="9352547" cy="2261937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When We Call persist(</a:t>
            </a:r>
            <a:r>
              <a:rPr lang="en-US" b="1" dirty="0" err="1"/>
              <a:t>df</a:t>
            </a:r>
            <a:r>
              <a:rPr lang="en-US" b="1" dirty="0"/>
              <a:t>), Here's What Really Happens in S3”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8D5787-9BAF-0F19-FF69-C0ABF04171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1895" y="2791326"/>
            <a:ext cx="10812379" cy="2466474"/>
          </a:xfrm>
        </p:spPr>
        <p:txBody>
          <a:bodyPr/>
          <a:lstStyle/>
          <a:p>
            <a:pPr algn="l"/>
            <a:r>
              <a:rPr lang="en-US" dirty="0"/>
              <a:t>When you call persist(</a:t>
            </a:r>
            <a:r>
              <a:rPr lang="en-US" dirty="0" err="1"/>
              <a:t>df</a:t>
            </a:r>
            <a:r>
              <a:rPr lang="en-US" dirty="0"/>
              <a:t>) in your ETL or transformer code, it triggers </a:t>
            </a:r>
            <a:r>
              <a:rPr lang="en-US" b="1" dirty="0"/>
              <a:t>a sequence of operations</a:t>
            </a:r>
            <a:r>
              <a:rPr lang="en-US" dirty="0"/>
              <a:t> that convert your in-memory data into physical files stored in </a:t>
            </a:r>
            <a:r>
              <a:rPr lang="en-US" b="1" dirty="0"/>
              <a:t>Amazon S3</a:t>
            </a:r>
            <a:r>
              <a:rPr lang="en-US" dirty="0"/>
              <a:t>.</a:t>
            </a:r>
          </a:p>
          <a:p>
            <a:pPr algn="l"/>
            <a:r>
              <a:rPr lang="en-US" dirty="0"/>
              <a:t>this next topic sounds </a:t>
            </a:r>
            <a:r>
              <a:rPr lang="en-US" b="1" dirty="0"/>
              <a:t>deeper and closer to your real AWS workflow</a:t>
            </a:r>
            <a:r>
              <a:rPr lang="en-US" dirty="0"/>
              <a:t>, where you use persist(</a:t>
            </a:r>
            <a:r>
              <a:rPr lang="en-US" dirty="0" err="1"/>
              <a:t>df</a:t>
            </a:r>
            <a:r>
              <a:rPr lang="en-US" dirty="0"/>
              <a:t>) (from your data transformers, AWS Glue jobs, or Spark contexts) to store processed data in </a:t>
            </a:r>
            <a:r>
              <a:rPr lang="en-US" b="1" dirty="0"/>
              <a:t>S3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44834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D2B90-4812-1344-3507-ED999AB8F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What persist(</a:t>
            </a:r>
            <a:r>
              <a:rPr lang="en-IN" b="1" dirty="0" err="1"/>
              <a:t>df</a:t>
            </a:r>
            <a:r>
              <a:rPr lang="en-IN" b="1" dirty="0"/>
              <a:t>) Means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F0232A7-4DC2-7E55-00C6-A409E995BA9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585524"/>
            <a:ext cx="13024719" cy="2831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Persist” = Save transformed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DataFrame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storage (S3, Redshift, etc.)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Glue or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PySpark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triggers a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write action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Creates files in a specified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 path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Chooses a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file format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(CSV, Parquet, JSON, etc.)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54843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52192-AB44-0F3D-B709-A0118F267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Typical persist(</a:t>
            </a:r>
            <a:r>
              <a:rPr lang="en-IN" b="1" dirty="0" err="1"/>
              <a:t>df</a:t>
            </a:r>
            <a:r>
              <a:rPr lang="en-IN" b="1" dirty="0"/>
              <a:t>)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687E9-505C-E25B-22FF-0EDAA7093B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>
                <a:solidFill>
                  <a:schemeClr val="accent6"/>
                </a:solidFill>
              </a:rPr>
              <a:t>output_path</a:t>
            </a:r>
            <a:r>
              <a:rPr lang="en-US" dirty="0">
                <a:solidFill>
                  <a:schemeClr val="accent6"/>
                </a:solidFill>
              </a:rPr>
              <a:t> = "s3://my-bucket/</a:t>
            </a:r>
            <a:r>
              <a:rPr lang="en-US" dirty="0" err="1">
                <a:solidFill>
                  <a:schemeClr val="accent6"/>
                </a:solidFill>
              </a:rPr>
              <a:t>etl</a:t>
            </a:r>
            <a:r>
              <a:rPr lang="en-US" dirty="0">
                <a:solidFill>
                  <a:schemeClr val="accent6"/>
                </a:solidFill>
              </a:rPr>
              <a:t>/processed/employees/"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accent6"/>
                </a:solidFill>
              </a:rPr>
              <a:t>df.write.mode</a:t>
            </a:r>
            <a:r>
              <a:rPr lang="en-US" dirty="0">
                <a:solidFill>
                  <a:schemeClr val="accent6"/>
                </a:solidFill>
              </a:rPr>
              <a:t>("overwrite").parquet(</a:t>
            </a:r>
            <a:r>
              <a:rPr lang="en-US" dirty="0" err="1">
                <a:solidFill>
                  <a:schemeClr val="accent6"/>
                </a:solidFill>
              </a:rPr>
              <a:t>output_path</a:t>
            </a:r>
            <a:r>
              <a:rPr lang="en-US" dirty="0">
                <a:solidFill>
                  <a:schemeClr val="accent6"/>
                </a:solidFill>
              </a:rPr>
              <a:t>)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print("✅ Data persisted to S3 successfully!")</a:t>
            </a:r>
          </a:p>
          <a:p>
            <a:pPr marL="0" indent="0">
              <a:buNone/>
            </a:pPr>
            <a:endParaRPr lang="en-US" dirty="0">
              <a:solidFill>
                <a:schemeClr val="accent6"/>
              </a:solidFill>
            </a:endParaRPr>
          </a:p>
          <a:p>
            <a:pPr marL="0" indent="0">
              <a:buNone/>
            </a:pPr>
            <a:r>
              <a:rPr lang="en-US" dirty="0"/>
              <a:t>The persist() call internally performs this write operation.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21467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55EDE-F8DC-A384-61CD-1E80A3FC3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What Actually Happens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9F2F00B-EC38-88B2-83CF-ACC00DA11F8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81264" y="2415564"/>
            <a:ext cx="10816852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DataFrame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memory (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df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is serialized into records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Records are split into partitions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 partition is written as a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file in S3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Metadata (schema, file name, partition info) is updated</a:t>
            </a:r>
          </a:p>
        </p:txBody>
      </p:sp>
    </p:spTree>
    <p:extLst>
      <p:ext uri="{BB962C8B-B14F-4D97-AF65-F5344CB8AC3E}">
        <p14:creationId xmlns:p14="http://schemas.microsoft.com/office/powerpoint/2010/main" val="815007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D85C1-8638-A90D-99A1-38E614CAA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Example – Writing Employee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9D4C65-D3A7-7018-E723-5B3BC1C420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data = [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    {"name": "Aisha", "role": "Manager", "region": "APAC"},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    {"name": "Rahul", "role": "Developer", "region": "EMEA"}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]</a:t>
            </a:r>
          </a:p>
          <a:p>
            <a:pPr marL="0" indent="0">
              <a:buNone/>
            </a:pPr>
            <a:endParaRPr lang="en-IN" dirty="0">
              <a:solidFill>
                <a:schemeClr val="accent6"/>
              </a:solidFill>
            </a:endParaRPr>
          </a:p>
          <a:p>
            <a:pPr marL="0" indent="0">
              <a:buNone/>
            </a:pPr>
            <a:r>
              <a:rPr lang="en-IN" dirty="0" err="1">
                <a:solidFill>
                  <a:schemeClr val="accent6"/>
                </a:solidFill>
              </a:rPr>
              <a:t>df</a:t>
            </a:r>
            <a:r>
              <a:rPr lang="en-IN" dirty="0">
                <a:solidFill>
                  <a:schemeClr val="accent6"/>
                </a:solidFill>
              </a:rPr>
              <a:t> = </a:t>
            </a:r>
            <a:r>
              <a:rPr lang="en-IN" dirty="0" err="1">
                <a:solidFill>
                  <a:schemeClr val="accent6"/>
                </a:solidFill>
              </a:rPr>
              <a:t>spark.createDataFrame</a:t>
            </a:r>
            <a:r>
              <a:rPr lang="en-IN" dirty="0">
                <a:solidFill>
                  <a:schemeClr val="accent6"/>
                </a:solidFill>
              </a:rPr>
              <a:t>(data)</a:t>
            </a:r>
          </a:p>
          <a:p>
            <a:pPr marL="0" indent="0">
              <a:buNone/>
            </a:pPr>
            <a:r>
              <a:rPr lang="en-IN" dirty="0" err="1">
                <a:solidFill>
                  <a:schemeClr val="accent6"/>
                </a:solidFill>
              </a:rPr>
              <a:t>df.write.mode</a:t>
            </a:r>
            <a:r>
              <a:rPr lang="en-IN" dirty="0">
                <a:solidFill>
                  <a:schemeClr val="accent6"/>
                </a:solidFill>
              </a:rPr>
              <a:t>("overwrite").parquet("s3://training-bucket/employees/")</a:t>
            </a:r>
          </a:p>
          <a:p>
            <a:pPr marL="0" indent="0">
              <a:buNone/>
            </a:pPr>
            <a:r>
              <a:rPr lang="en-US" dirty="0"/>
              <a:t>This results in multiple .parquet files under the S3 folder.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71124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E1A12-76A8-6BFA-7925-F567E4692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S3 Structure After persist(</a:t>
            </a:r>
            <a:r>
              <a:rPr lang="en-US" b="1" dirty="0" err="1"/>
              <a:t>df</a:t>
            </a:r>
            <a:r>
              <a:rPr lang="en-US" b="1" dirty="0"/>
              <a:t>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303E00-D82B-9635-4F47-B91274B0EF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s3://training-bucket/employees/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    part-0000.parquet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    part-0001.parquet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    _SUCCESS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Each partition becomes a file. _SUCCESS indicates job completion.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84493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BB353-8770-E519-5D40-6E4E2F818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Why Multiple Files?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AD4EA-D1F8-D7E4-B4D9-6C2F5B7709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Spark/Glue parallelize writes across worker nodes</a:t>
            </a:r>
          </a:p>
          <a:p>
            <a:r>
              <a:rPr lang="en-US" sz="3200" dirty="0"/>
              <a:t>Each node writes its partition’s data</a:t>
            </a:r>
          </a:p>
          <a:p>
            <a:r>
              <a:rPr lang="en-US" sz="3200" dirty="0"/>
              <a:t>S3 stores them as independent files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2770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0063A-B481-75B0-1C79-CD8CF59A7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Conversion Process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54C0DDF-1059-794A-155C-10546D499E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6598038"/>
              </p:ext>
            </p:extLst>
          </p:nvPr>
        </p:nvGraphicFramePr>
        <p:xfrm>
          <a:off x="689811" y="1690688"/>
          <a:ext cx="10663989" cy="3949364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554663">
                  <a:extLst>
                    <a:ext uri="{9D8B030D-6E8A-4147-A177-3AD203B41FA5}">
                      <a16:colId xmlns:a16="http://schemas.microsoft.com/office/drawing/2014/main" val="1218964549"/>
                    </a:ext>
                  </a:extLst>
                </a:gridCol>
                <a:gridCol w="3554663">
                  <a:extLst>
                    <a:ext uri="{9D8B030D-6E8A-4147-A177-3AD203B41FA5}">
                      <a16:colId xmlns:a16="http://schemas.microsoft.com/office/drawing/2014/main" val="41508479"/>
                    </a:ext>
                  </a:extLst>
                </a:gridCol>
                <a:gridCol w="3554663">
                  <a:extLst>
                    <a:ext uri="{9D8B030D-6E8A-4147-A177-3AD203B41FA5}">
                      <a16:colId xmlns:a16="http://schemas.microsoft.com/office/drawing/2014/main" val="2857930259"/>
                    </a:ext>
                  </a:extLst>
                </a:gridCol>
              </a:tblGrid>
              <a:tr h="7816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Step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Tool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0938381"/>
                  </a:ext>
                </a:extLst>
              </a:tr>
              <a:tr h="7816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Serialize DataFrame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Spark Engine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0883162"/>
                  </a:ext>
                </a:extLst>
              </a:tr>
              <a:tr h="7816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Convert to Parquet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Arrow / Parquet Writer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8875818"/>
                  </a:ext>
                </a:extLst>
              </a:tr>
              <a:tr h="7816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Upload to S3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AWS SDK (boto3 / Glue library)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3319202"/>
                  </a:ext>
                </a:extLst>
              </a:tr>
              <a:tr h="7816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Mark success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Job Driver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22163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91618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E4AC0-706C-748D-A62B-497093D64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Monitoring in S3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5A35630-D787-2F4B-907C-688F950A8D3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3768" y="2392020"/>
            <a:ext cx="7416738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 can view job logs in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CloudWatch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Files appear in S3 within seconds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Glue catalogs (if enabled) are auto-updated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can be queried via Athena instantly</a:t>
            </a:r>
          </a:p>
        </p:txBody>
      </p:sp>
    </p:spTree>
    <p:extLst>
      <p:ext uri="{BB962C8B-B14F-4D97-AF65-F5344CB8AC3E}">
        <p14:creationId xmlns:p14="http://schemas.microsoft.com/office/powerpoint/2010/main" val="30710686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92268-938E-D854-4E6C-C1F08F19A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F0639F-E402-D887-07CA-59196B7A63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3200" dirty="0"/>
              <a:t>✅ persist(</a:t>
            </a:r>
            <a:r>
              <a:rPr lang="en-IN" sz="3200" dirty="0" err="1"/>
              <a:t>df</a:t>
            </a:r>
            <a:r>
              <a:rPr lang="en-IN" sz="3200" dirty="0"/>
              <a:t>) = Write action to store data</a:t>
            </a:r>
            <a:br>
              <a:rPr lang="en-IN" sz="3200" dirty="0"/>
            </a:br>
            <a:r>
              <a:rPr lang="en-IN" sz="3200" dirty="0"/>
              <a:t>✅ Data serialized → partitioned → written to S3</a:t>
            </a:r>
            <a:br>
              <a:rPr lang="en-IN" sz="3200" dirty="0"/>
            </a:br>
            <a:r>
              <a:rPr lang="en-IN" sz="3200" dirty="0"/>
              <a:t>✅ Files stored as Parquet/CSV under target path</a:t>
            </a:r>
            <a:br>
              <a:rPr lang="en-IN" sz="3200" dirty="0"/>
            </a:br>
            <a:r>
              <a:rPr lang="en-IN" sz="3200" dirty="0"/>
              <a:t>✅ Glue or Spark logs confirm completion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7242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483</Words>
  <Application>Microsoft Office PowerPoint</Application>
  <PresentationFormat>Widescreen</PresentationFormat>
  <Paragraphs>63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When We Call persist(df), Here's What Really Happens in S3”</vt:lpstr>
      <vt:lpstr>What persist(df) Means</vt:lpstr>
      <vt:lpstr>Typical persist(df) Code</vt:lpstr>
      <vt:lpstr>What Actually Happens</vt:lpstr>
      <vt:lpstr>Example – Writing Employee Data</vt:lpstr>
      <vt:lpstr>S3 Structure After persist(df)</vt:lpstr>
      <vt:lpstr>Why Multiple Files?</vt:lpstr>
      <vt:lpstr>Conversion Process</vt:lpstr>
      <vt:lpstr>Monitoring in S3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2025-11-06T09:07:25Z</dcterms:created>
  <dcterms:modified xsi:type="dcterms:W3CDTF">2025-11-06T09:07:45Z</dcterms:modified>
</cp:coreProperties>
</file>