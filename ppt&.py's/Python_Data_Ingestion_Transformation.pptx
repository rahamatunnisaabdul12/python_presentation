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759D-710F-8231-0934-78FB727A2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13538E-4DB8-CF99-4969-AFD34823F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0CE9B-1641-B3ED-78A0-4D3FA5E7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A9A9-61FF-4CF9-A8A1-BD23B7C4966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64ABC-CF25-2673-C062-8F8D81C56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EA119-76F5-1DFF-878A-32A9C6D8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8302-979E-4249-B0C2-243F9E926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A7C2-4CC9-20EE-8A84-0FA03D12F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FB243-0E37-74D4-5E28-D608A017B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10E21-B707-8879-E215-239774C48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A9A9-61FF-4CF9-A8A1-BD23B7C4966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2AA9B-2A3C-14A2-9A6C-88530C489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EE68E-DED2-7ABE-A5AB-11C205677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8302-979E-4249-B0C2-243F9E926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386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68A90-C8BA-FD42-0EA2-2F8D65502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D384B-B4F0-0056-78EE-960A60603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EA487-3C31-ECA9-75E5-B6D429FB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A9A9-61FF-4CF9-A8A1-BD23B7C4966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2520F-7886-9984-E845-6A4F6B45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388D6-11FE-9FF3-82B9-52B91DD1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8302-979E-4249-B0C2-243F9E926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77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24221-F71A-9D2A-1381-FE7BFF98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337A9-3575-C4A8-2346-6DFEE7D9F3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C9415-1A9A-405B-9294-6964E64E8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3A5E0-6D25-76C3-3256-76E776390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A9A9-61FF-4CF9-A8A1-BD23B7C4966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4327B-5B05-7091-90E3-4CED82850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150DA-8ED7-057F-5DE9-7FD748005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8302-979E-4249-B0C2-243F9E926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681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DA15B-9373-EBAA-5A25-DBACA2199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3E095-72E0-9247-2352-02AA68329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E7F11-67AE-5ACE-7BA7-78EB619A6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5D4E19-356F-5C39-B3A1-3580931536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FD1CD6-80CE-B8B4-8CE7-98C18B457B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65DB5E-7387-7685-2D88-45963E0C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A9A9-61FF-4CF9-A8A1-BD23B7C4966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DED67-2D5F-5E76-AB6B-9E0A11E1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A6AC26-1909-9A53-DA2D-F505D939D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8302-979E-4249-B0C2-243F9E926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37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F06F1-4FB6-A4D8-2A1D-AF851AD4D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D12A78-85FF-73BD-7B51-3B9559BA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A9A9-61FF-4CF9-A8A1-BD23B7C4966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837AA-4970-C2FA-A216-C856DFC08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23C134-A44B-7866-9546-D4822430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8302-979E-4249-B0C2-243F9E926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78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9872F-A4C5-E45C-74E5-F39D17837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A9A9-61FF-4CF9-A8A1-BD23B7C4966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427329-B63A-3B6D-FE12-BDC7D3793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84717-E16B-5D56-653D-97ED8172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8302-979E-4249-B0C2-243F9E926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626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A05A-4F8B-F2E2-1397-13C541E78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1CAF5-755B-9AF8-8F04-6B42F612D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A5BE9-3DB8-C9EA-D406-7496E21D3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1EF69-D207-F3E1-886D-D028BA6CD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A9A9-61FF-4CF9-A8A1-BD23B7C4966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F4815-F0C5-A5E2-E47C-431A33532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59681-6735-3E00-41C5-B38BCEFF7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8302-979E-4249-B0C2-243F9E926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6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44480-FB4B-BB3A-DAB4-09DCA2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44CF58-E3BA-AA40-72D9-FCF12EB75F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299DD-DEA5-40FB-5490-841506923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6A2FE-2A5E-B2E4-0317-A42085FD3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A9A9-61FF-4CF9-A8A1-BD23B7C4966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72EF9-613E-C8CD-0E19-A5D83D2CF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2CD59-BEBF-CBA3-6294-AB3CA6AE2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8302-979E-4249-B0C2-243F9E926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842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DA2D9-227A-7B85-3259-39A5A55B8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5565B-4D64-F18A-8B42-A2D4CA2EA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B3A32-7594-F424-1AEE-C449D660B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A9A9-61FF-4CF9-A8A1-BD23B7C4966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12BBA-F315-0824-A468-484F62A51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55608-3A00-5435-839D-38738E499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8302-979E-4249-B0C2-243F9E926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542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09CAA6-A66A-B48A-3641-877F08564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47D9D-47F7-C601-E629-DF97E99AF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7CF8A-381C-57F1-6B5F-B6BAE8A0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A9A9-61FF-4CF9-A8A1-BD23B7C4966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B4CF2-00BC-89EA-5E4B-B4040F778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042F3-1940-9566-60C1-B64DC528E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88302-979E-4249-B0C2-243F9E926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570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93B1F4-E026-382D-60CC-7385A37B6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340BA-9891-2800-0920-A5165613F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E6887-2BF6-6CAA-905E-904BE8F8DB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8A9A9-61FF-4CF9-A8A1-BD23B7C4966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25E28-7080-B3C8-6EB4-E25B2FE1D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3D0A2-72CD-BD1D-27EE-1EEFBA181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88302-979E-4249-B0C2-243F9E926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467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886A4-452E-10EE-81A2-333C4E520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1951368" cy="1655762"/>
          </a:xfrm>
        </p:spPr>
        <p:txBody>
          <a:bodyPr/>
          <a:lstStyle/>
          <a:p>
            <a:r>
              <a:rPr lang="en-IN" dirty="0"/>
              <a:t>“Data Ingestion → Transformation”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D48D17-418C-DE28-D313-67D61D19A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274" y="2133600"/>
            <a:ext cx="9801726" cy="3124200"/>
          </a:xfrm>
        </p:spPr>
        <p:txBody>
          <a:bodyPr/>
          <a:lstStyle/>
          <a:p>
            <a:pPr algn="l"/>
            <a:r>
              <a:rPr lang="en-US" sz="3200" b="1" dirty="0"/>
              <a:t>Data Ingestion → Transformation</a:t>
            </a:r>
          </a:p>
          <a:p>
            <a:pPr algn="l"/>
            <a:r>
              <a:rPr lang="en-US" sz="3200" dirty="0"/>
              <a:t>Data ingestion is collecting data from multiple sources.</a:t>
            </a:r>
            <a:br>
              <a:rPr lang="en-US" sz="3200" dirty="0"/>
            </a:br>
            <a:r>
              <a:rPr lang="en-US" sz="3200" dirty="0"/>
              <a:t>Transformation is the process of cleaning, structuring, and preparing it for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751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19612-B422-74A9-D491-0789EFF2B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Stage Is Important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D5FFB-3EE3-F065-E579-1BBB33659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Forms the foundation of every data pipeline</a:t>
            </a:r>
          </a:p>
          <a:p>
            <a:r>
              <a:rPr lang="en-US" dirty="0"/>
              <a:t>Ensures raw data is usable for analytics</a:t>
            </a:r>
          </a:p>
          <a:p>
            <a:r>
              <a:rPr lang="en-US" dirty="0"/>
              <a:t>Maintains data quality and schema consistency</a:t>
            </a:r>
          </a:p>
          <a:p>
            <a:r>
              <a:rPr lang="en-US" dirty="0"/>
              <a:t>Enables automation and scalability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5102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A95E4-C591-8F0C-9CE4-43A34B1D1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Data Sources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83420D-BA86-AC54-76ED-1C1638B312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0936991"/>
              </p:ext>
            </p:extLst>
          </p:nvPr>
        </p:nvGraphicFramePr>
        <p:xfrm>
          <a:off x="609600" y="1026695"/>
          <a:ext cx="1074419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399">
                  <a:extLst>
                    <a:ext uri="{9D8B030D-6E8A-4147-A177-3AD203B41FA5}">
                      <a16:colId xmlns:a16="http://schemas.microsoft.com/office/drawing/2014/main" val="2913568008"/>
                    </a:ext>
                  </a:extLst>
                </a:gridCol>
                <a:gridCol w="3581399">
                  <a:extLst>
                    <a:ext uri="{9D8B030D-6E8A-4147-A177-3AD203B41FA5}">
                      <a16:colId xmlns:a16="http://schemas.microsoft.com/office/drawing/2014/main" val="3334792708"/>
                    </a:ext>
                  </a:extLst>
                </a:gridCol>
                <a:gridCol w="3581399">
                  <a:extLst>
                    <a:ext uri="{9D8B030D-6E8A-4147-A177-3AD203B41FA5}">
                      <a16:colId xmlns:a16="http://schemas.microsoft.com/office/drawing/2014/main" val="30118674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Source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10526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S3, Local CSVs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 / boto3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032935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MySQL, Redshift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psycopg2 / SQLAlchemy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360245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Logistics, Finance APIs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requests library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982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675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57D23-8C15-B69F-56C3-189E5FB3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Ingestion Example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34277-B0A0-07EF-57FA-ED387E4BC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import pandas as pd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B050"/>
                </a:solidFill>
              </a:rPr>
              <a:t>df</a:t>
            </a:r>
            <a:r>
              <a:rPr lang="en-IN" dirty="0">
                <a:solidFill>
                  <a:srgbClr val="00B050"/>
                </a:solidFill>
              </a:rPr>
              <a:t> = </a:t>
            </a:r>
            <a:r>
              <a:rPr lang="en-IN" dirty="0" err="1">
                <a:solidFill>
                  <a:srgbClr val="00B050"/>
                </a:solidFill>
              </a:rPr>
              <a:t>pd.read_csv</a:t>
            </a:r>
            <a:r>
              <a:rPr lang="en-IN" dirty="0">
                <a:solidFill>
                  <a:srgbClr val="00B050"/>
                </a:solidFill>
              </a:rPr>
              <a:t>("orders.csv")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print(</a:t>
            </a:r>
            <a:r>
              <a:rPr lang="en-IN" dirty="0" err="1">
                <a:solidFill>
                  <a:srgbClr val="00B050"/>
                </a:solidFill>
              </a:rPr>
              <a:t>df.head</a:t>
            </a:r>
            <a:r>
              <a:rPr lang="en-IN" dirty="0">
                <a:solidFill>
                  <a:srgbClr val="00B050"/>
                </a:solidFill>
              </a:rPr>
              <a:t>())</a:t>
            </a:r>
          </a:p>
          <a:p>
            <a:pPr marL="0" indent="0">
              <a:buNone/>
            </a:pPr>
            <a:r>
              <a:rPr lang="en-US" dirty="0"/>
              <a:t>✅ Reads structured data into memory (</a:t>
            </a:r>
            <a:r>
              <a:rPr lang="en-US" dirty="0" err="1"/>
              <a:t>dataframe</a:t>
            </a:r>
            <a:r>
              <a:rPr lang="en-US" dirty="0"/>
              <a:t>) for processing.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5908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2825-AFC7-D8FB-C344-EC585D4C8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18C93-1479-AC80-3AA8-FB72AD8E4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df</a:t>
            </a:r>
            <a:r>
              <a:rPr lang="en-US" dirty="0">
                <a:solidFill>
                  <a:srgbClr val="00B050"/>
                </a:solidFill>
              </a:rPr>
              <a:t>["region"].</a:t>
            </a:r>
            <a:r>
              <a:rPr lang="en-US" dirty="0" err="1">
                <a:solidFill>
                  <a:srgbClr val="00B050"/>
                </a:solidFill>
              </a:rPr>
              <a:t>fillna</a:t>
            </a:r>
            <a:r>
              <a:rPr lang="en-US" dirty="0">
                <a:solidFill>
                  <a:srgbClr val="00B050"/>
                </a:solidFill>
              </a:rPr>
              <a:t>("UNKNOWN", </a:t>
            </a:r>
            <a:r>
              <a:rPr lang="en-US" dirty="0" err="1">
                <a:solidFill>
                  <a:srgbClr val="00B050"/>
                </a:solidFill>
              </a:rPr>
              <a:t>inplace</a:t>
            </a:r>
            <a:r>
              <a:rPr lang="en-US" dirty="0">
                <a:solidFill>
                  <a:srgbClr val="00B050"/>
                </a:solidFill>
              </a:rPr>
              <a:t>=True)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df</a:t>
            </a:r>
            <a:r>
              <a:rPr lang="en-US" dirty="0">
                <a:solidFill>
                  <a:srgbClr val="00B050"/>
                </a:solidFill>
              </a:rPr>
              <a:t>["price"] = </a:t>
            </a:r>
            <a:r>
              <a:rPr lang="en-US" dirty="0" err="1">
                <a:solidFill>
                  <a:srgbClr val="00B050"/>
                </a:solidFill>
              </a:rPr>
              <a:t>df</a:t>
            </a:r>
            <a:r>
              <a:rPr lang="en-US" dirty="0">
                <a:solidFill>
                  <a:srgbClr val="00B050"/>
                </a:solidFill>
              </a:rPr>
              <a:t>["price"].</a:t>
            </a:r>
            <a:r>
              <a:rPr lang="en-US" dirty="0" err="1">
                <a:solidFill>
                  <a:srgbClr val="00B050"/>
                </a:solidFill>
              </a:rPr>
              <a:t>astype</a:t>
            </a:r>
            <a:r>
              <a:rPr lang="en-US" dirty="0">
                <a:solidFill>
                  <a:srgbClr val="00B050"/>
                </a:solidFill>
              </a:rPr>
              <a:t>(float)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✅ Handle nulls, fix types, standardize formats.</a:t>
            </a:r>
          </a:p>
        </p:txBody>
      </p:sp>
    </p:spTree>
    <p:extLst>
      <p:ext uri="{BB962C8B-B14F-4D97-AF65-F5344CB8AC3E}">
        <p14:creationId xmlns:p14="http://schemas.microsoft.com/office/powerpoint/2010/main" val="2757790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CDFF1-2DCD-E479-77AC-CDE5871E5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FAF19-7862-EF88-BB2D-97533C9A6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df</a:t>
            </a:r>
            <a:r>
              <a:rPr lang="en-US" dirty="0">
                <a:solidFill>
                  <a:srgbClr val="00B050"/>
                </a:solidFill>
              </a:rPr>
              <a:t>["</a:t>
            </a:r>
            <a:r>
              <a:rPr lang="en-US" dirty="0" err="1">
                <a:solidFill>
                  <a:srgbClr val="00B050"/>
                </a:solidFill>
              </a:rPr>
              <a:t>price_usd</a:t>
            </a:r>
            <a:r>
              <a:rPr lang="en-US" dirty="0">
                <a:solidFill>
                  <a:srgbClr val="00B050"/>
                </a:solidFill>
              </a:rPr>
              <a:t>"] = </a:t>
            </a:r>
            <a:r>
              <a:rPr lang="en-US" dirty="0" err="1">
                <a:solidFill>
                  <a:srgbClr val="00B050"/>
                </a:solidFill>
              </a:rPr>
              <a:t>df</a:t>
            </a:r>
            <a:r>
              <a:rPr lang="en-US" dirty="0">
                <a:solidFill>
                  <a:srgbClr val="00B050"/>
                </a:solidFill>
              </a:rPr>
              <a:t>["price"] * 0.012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df</a:t>
            </a:r>
            <a:r>
              <a:rPr lang="en-US" dirty="0">
                <a:solidFill>
                  <a:srgbClr val="00B050"/>
                </a:solidFill>
              </a:rPr>
              <a:t>["category"] = </a:t>
            </a:r>
            <a:r>
              <a:rPr lang="en-US" dirty="0" err="1">
                <a:solidFill>
                  <a:srgbClr val="00B050"/>
                </a:solidFill>
              </a:rPr>
              <a:t>df</a:t>
            </a:r>
            <a:r>
              <a:rPr lang="en-US" dirty="0">
                <a:solidFill>
                  <a:srgbClr val="00B050"/>
                </a:solidFill>
              </a:rPr>
              <a:t>["</a:t>
            </a:r>
            <a:r>
              <a:rPr lang="en-US" dirty="0" err="1">
                <a:solidFill>
                  <a:srgbClr val="00B050"/>
                </a:solidFill>
              </a:rPr>
              <a:t>price_usd</a:t>
            </a:r>
            <a:r>
              <a:rPr lang="en-US" dirty="0">
                <a:solidFill>
                  <a:srgbClr val="00B050"/>
                </a:solidFill>
              </a:rPr>
              <a:t>"].apply(lambda x: "High" if x &gt; 3 else "Low")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✅ Adds business logic and derived fields.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859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B1979-A7A3-15A9-DD0B-B52B2A6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816"/>
            <a:ext cx="10515600" cy="1325563"/>
          </a:xfrm>
        </p:spPr>
        <p:txBody>
          <a:bodyPr/>
          <a:lstStyle/>
          <a:p>
            <a:r>
              <a:rPr lang="en-IN" b="1" dirty="0"/>
              <a:t>Logging Each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88AAB-F85C-0022-98CF-166CC43AD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logging.info(</a:t>
            </a:r>
            <a:r>
              <a:rPr lang="en-IN" dirty="0" err="1">
                <a:solidFill>
                  <a:srgbClr val="00B050"/>
                </a:solidFill>
              </a:rPr>
              <a:t>f"Records</a:t>
            </a:r>
            <a:r>
              <a:rPr lang="en-IN" dirty="0">
                <a:solidFill>
                  <a:srgbClr val="00B050"/>
                </a:solidFill>
              </a:rPr>
              <a:t> before transform: {</a:t>
            </a:r>
            <a:r>
              <a:rPr lang="en-IN" dirty="0" err="1">
                <a:solidFill>
                  <a:srgbClr val="00B050"/>
                </a:solidFill>
              </a:rPr>
              <a:t>len</a:t>
            </a:r>
            <a:r>
              <a:rPr lang="en-IN" dirty="0">
                <a:solidFill>
                  <a:srgbClr val="00B050"/>
                </a:solidFill>
              </a:rPr>
              <a:t>(</a:t>
            </a:r>
            <a:r>
              <a:rPr lang="en-IN" dirty="0" err="1">
                <a:solidFill>
                  <a:srgbClr val="00B050"/>
                </a:solidFill>
              </a:rPr>
              <a:t>df</a:t>
            </a:r>
            <a:r>
              <a:rPr lang="en-IN" dirty="0">
                <a:solidFill>
                  <a:srgbClr val="00B050"/>
                </a:solidFill>
              </a:rPr>
              <a:t>)}")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logging.info("Transformation completed successfully")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Keeps a record of every modification for audit &amp; debugging.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2640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25444-D3A6-979C-076F-3211120F1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Validate the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5BCB7-CC5B-D823-58D6-1F05F961D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assert </a:t>
            </a:r>
            <a:r>
              <a:rPr lang="en-US" dirty="0" err="1">
                <a:solidFill>
                  <a:srgbClr val="00B050"/>
                </a:solidFill>
              </a:rPr>
              <a:t>df</a:t>
            </a:r>
            <a:r>
              <a:rPr lang="en-US" dirty="0">
                <a:solidFill>
                  <a:srgbClr val="00B050"/>
                </a:solidFill>
              </a:rPr>
              <a:t>["</a:t>
            </a:r>
            <a:r>
              <a:rPr lang="en-US" dirty="0" err="1">
                <a:solidFill>
                  <a:srgbClr val="00B050"/>
                </a:solidFill>
              </a:rPr>
              <a:t>price_usd</a:t>
            </a:r>
            <a:r>
              <a:rPr lang="en-US" dirty="0">
                <a:solidFill>
                  <a:srgbClr val="00B050"/>
                </a:solidFill>
              </a:rPr>
              <a:t>"].</a:t>
            </a:r>
            <a:r>
              <a:rPr lang="en-US" dirty="0" err="1">
                <a:solidFill>
                  <a:srgbClr val="00B050"/>
                </a:solidFill>
              </a:rPr>
              <a:t>notnull</a:t>
            </a:r>
            <a:r>
              <a:rPr lang="en-US" dirty="0">
                <a:solidFill>
                  <a:srgbClr val="00B050"/>
                </a:solidFill>
              </a:rPr>
              <a:t>().all()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assert "category" in </a:t>
            </a:r>
            <a:r>
              <a:rPr lang="en-US" dirty="0" err="1">
                <a:solidFill>
                  <a:srgbClr val="00B050"/>
                </a:solidFill>
              </a:rPr>
              <a:t>df.columns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Ensure expected columns exist and data is valid.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4336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ED77C-A1AF-95CA-5C19-9FF61B9D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Real-World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BCCCA-11E4-7136-A06C-8D971D3C0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S3 JSON → Glue ETL → Pandas Transform → Redshift Load → Athena Query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Each layer logs record counts and transformations.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7905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02B31-FCDB-0F7B-FCAB-438CEAF51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B3BB0-C523-A4E8-0736-037FB78C5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✅ Ingestion = bring data in</a:t>
            </a:r>
            <a:br>
              <a:rPr lang="en-US"/>
            </a:br>
            <a:r>
              <a:rPr lang="en-US"/>
              <a:t>✅ Transformation = clean &amp; enrich</a:t>
            </a:r>
            <a:br>
              <a:rPr lang="en-US"/>
            </a:br>
            <a:r>
              <a:rPr lang="en-US"/>
              <a:t>✅ Logging &amp; validation = ensure reliability</a:t>
            </a:r>
            <a:br>
              <a:rPr lang="en-US"/>
            </a:br>
            <a:r>
              <a:rPr lang="en-US"/>
              <a:t>✅ Together they form the ETL backbone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601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“Data Ingestion → Transformation”</vt:lpstr>
      <vt:lpstr>Why This Stage Is Important</vt:lpstr>
      <vt:lpstr>Common Data Sources </vt:lpstr>
      <vt:lpstr>Data Ingestion Example </vt:lpstr>
      <vt:lpstr>Data Cleaning</vt:lpstr>
      <vt:lpstr>Data Transformation</vt:lpstr>
      <vt:lpstr>Logging Each Step</vt:lpstr>
      <vt:lpstr>Validate the Output</vt:lpstr>
      <vt:lpstr>Real-World Flow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2025-11-07T10:46:43Z</dcterms:created>
  <dcterms:modified xsi:type="dcterms:W3CDTF">2025-11-07T10:46:58Z</dcterms:modified>
</cp:coreProperties>
</file>