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A523D-8779-3701-D3B3-746D6B7A22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9231AB-CDAA-7768-F13F-D938D2C26B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4C912D-F2AD-3B8B-B41F-A4CEB1A61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B0A54-AB1D-4387-8B7A-8B8EF510D907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08045-B402-3D63-257B-53A24CCA3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0E1E70-27D6-5C11-BC8A-3CAEE1DD1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79516-CE48-4329-9A2F-EE06414742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1022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49627-BA5B-B099-0146-47D061FA6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989E9-0F6F-5AF1-483B-29158B6A6B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24345-70DD-5386-F261-218BE7F68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B0A54-AB1D-4387-8B7A-8B8EF510D907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C5EB62-B838-D22A-9F28-C849AF0B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FF4C66-3605-834E-7D94-70897D988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79516-CE48-4329-9A2F-EE06414742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4798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0E06D-DDA8-2DEE-6720-8F638B9CC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831D06-050C-D4E7-2991-88EB4DC50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439E4-0E48-C337-38E9-E1113B4DF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B0A54-AB1D-4387-8B7A-8B8EF510D907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AE6FD-482D-CEAF-CFF1-3E2978D0E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75CF8-8735-1EE9-980B-BA7F7223A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79516-CE48-4329-9A2F-EE06414742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7717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7CCE7-D021-24AF-B4DD-8E2CF836D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ACEC8-9761-D8D5-86E1-304627B9A3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4F0061-1263-89BA-EDCD-A4C69864D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47CE6A-5955-7202-CA57-914AE52B1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B0A54-AB1D-4387-8B7A-8B8EF510D907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DB09BB-8A68-F98D-9202-9EBB6DCE2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5038BC-0181-B82E-06EB-4A754F3D3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79516-CE48-4329-9A2F-EE06414742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4502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2B49C-0247-F2D8-6CDD-FFDFEBC28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283762-6E65-86B7-BCC5-482D5727DA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74153C-36EE-10E0-83EC-AB0707ABC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925DE2-CFF3-DA91-AAAB-7DC64C985A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BDB537-0102-F1D3-AF91-10A790A17E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320551-A177-7A10-6612-FE32F69AA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B0A54-AB1D-4387-8B7A-8B8EF510D907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C55836-268C-BB08-1557-977E274B3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42B4B8-FEE9-0FE5-BCA4-1D45776859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79516-CE48-4329-9A2F-EE06414742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4916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638A7-C052-9970-EC1A-84C5F6569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D64359-B29B-11D2-5021-BA4E8212D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B0A54-AB1D-4387-8B7A-8B8EF510D907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0ACDC7-A189-6043-1B67-FE475CA07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AB223D-F3D7-DBA7-3D44-C45B2B359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79516-CE48-4329-9A2F-EE06414742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110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F7CEFA-139E-AF97-E3F5-3797D08F3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B0A54-AB1D-4387-8B7A-8B8EF510D907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14BA80-FF77-4EDF-9CB4-756BA547B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FE9E58-CBC6-31F3-C696-E03D4C02C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79516-CE48-4329-9A2F-EE06414742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4218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2EE91-8591-FBB5-7AEF-B1FACBAFB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B9053-9DA7-B71C-2D97-119404EC4C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031DD4-CF12-EA3F-3719-DFC55522F4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EF8801-A676-2D5E-0BA9-4827A3B22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B0A54-AB1D-4387-8B7A-8B8EF510D907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50EBB7-DDE3-5D5B-CE2F-05C3733C6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5CE4F9-27B0-1072-E780-FE735DB68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79516-CE48-4329-9A2F-EE06414742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0503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9AB3A-E56C-D792-C6B2-B4EED729A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3A7D07-B46A-B6B0-72C2-913DD2D7E9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5CA682-5818-D0A1-6FF8-A883D93EAD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ED67DB-E3D6-5F90-AAED-DD56EFCEA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B0A54-AB1D-4387-8B7A-8B8EF510D907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6F55B2-EF22-E20E-F16A-FD91AFAE7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DCBF98-2B37-913B-8D11-0DAD659B2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79516-CE48-4329-9A2F-EE06414742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4279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184BF-761B-4578-3BAB-1A423EE2E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6FC2FB-A138-2A91-9AA8-213E4CCA3A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3EDF32-C0FF-4439-04E5-6227D9201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B0A54-AB1D-4387-8B7A-8B8EF510D907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581CE9-77CB-D89E-1A54-22AA3EEC3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E46930-E08C-F5C6-F7D5-0D5CBA0FC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79516-CE48-4329-9A2F-EE06414742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9002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EE0480-32D3-E92A-5A14-2F1034A56E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3CFB32-13EB-813F-53F8-84ECBA2987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0195B-73AD-4E5C-FC02-E215BCBB9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B0A54-AB1D-4387-8B7A-8B8EF510D907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823F6-7D48-40AE-C11B-3395316B3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CEB9A-1150-2CDC-C161-6E089DFBC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F79516-CE48-4329-9A2F-EE06414742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7721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9FBA89-7099-090B-3770-B9C39998F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0045C4-B7B5-9A66-CBF0-86E5DB5A3C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213FB4-C54A-88C6-A61E-0AB445148B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0B0A54-AB1D-4387-8B7A-8B8EF510D907}" type="datetimeFigureOut">
              <a:rPr lang="en-IN" smtClean="0"/>
              <a:t>08-11-2025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61E29-2052-2973-C152-6C0A8CB4FB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A5054-17CE-1B45-2B3F-65B605CAFA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F79516-CE48-4329-9A2F-EE06414742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6611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E550B-3BDE-9D5D-75F6-736328BB48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6294" y="256675"/>
            <a:ext cx="9031705" cy="1171072"/>
          </a:xfrm>
        </p:spPr>
        <p:txBody>
          <a:bodyPr/>
          <a:lstStyle/>
          <a:p>
            <a:r>
              <a:rPr lang="en-IN" b="1" dirty="0"/>
              <a:t>Where Python Fits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B16B79-714B-65FB-F0CC-7EF8B272B8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389" y="1780674"/>
            <a:ext cx="10138611" cy="4299284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Where Python Fits in Data Engineering</a:t>
            </a:r>
          </a:p>
          <a:p>
            <a:pPr algn="l"/>
            <a:r>
              <a:rPr lang="en-US" dirty="0"/>
              <a:t>Python acts as the “glue” that connects all systems — from raw data to analytics dashboards.</a:t>
            </a:r>
          </a:p>
          <a:p>
            <a:pPr algn="l"/>
            <a:endParaRPr lang="en-US" dirty="0"/>
          </a:p>
          <a:p>
            <a:pPr algn="l"/>
            <a:r>
              <a:rPr lang="en-US" dirty="0"/>
              <a:t>this topic </a:t>
            </a:r>
            <a:r>
              <a:rPr lang="en-US" b="1" dirty="0"/>
              <a:t>“Where Python Fits”</a:t>
            </a:r>
            <a:r>
              <a:rPr lang="en-US" dirty="0"/>
              <a:t> is key to understanding </a:t>
            </a:r>
            <a:r>
              <a:rPr lang="en-US" i="1" dirty="0"/>
              <a:t>why</a:t>
            </a:r>
            <a:r>
              <a:rPr lang="en-US" dirty="0"/>
              <a:t> Python is such a powerful part of the data pipeline and AI ecosystem you’re building.</a:t>
            </a:r>
          </a:p>
          <a:p>
            <a:pPr algn="l"/>
            <a:r>
              <a:rPr lang="en-US" dirty="0"/>
              <a:t>It connects everything you’ve been learning — ETL, APIs, AWS orchestration, and automation — and shows </a:t>
            </a:r>
            <a:r>
              <a:rPr lang="en-US" b="1" dirty="0"/>
              <a:t>exactly where Python plays a role in each part</a:t>
            </a:r>
            <a:r>
              <a:rPr lang="en-US" dirty="0"/>
              <a:t> of the data lifecycle.</a:t>
            </a:r>
          </a:p>
          <a:p>
            <a:pPr algn="l"/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0775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569D7-3C36-0754-E4DD-176199D68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Python?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CFD4B89-70B4-29EE-30F1-8BCEC3945C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093354"/>
            <a:ext cx="10645863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 and readable syntax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Huge ecosystem (pandas, boto3,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pyspark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requests,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sqlalchemy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Works well with AWS, APIs, ML, and automation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in every stage of a data pipeline</a:t>
            </a:r>
          </a:p>
        </p:txBody>
      </p:sp>
    </p:spTree>
    <p:extLst>
      <p:ext uri="{BB962C8B-B14F-4D97-AF65-F5344CB8AC3E}">
        <p14:creationId xmlns:p14="http://schemas.microsoft.com/office/powerpoint/2010/main" val="3620136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24FCA-AFFC-3F1D-7FC1-0E9494FEC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in the Data Lifecycle</a:t>
            </a:r>
            <a:endParaRPr lang="en-IN" b="1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DA2C50D-C34A-927D-1BD7-13EAC5D963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12159839"/>
              </p:ext>
            </p:extLst>
          </p:nvPr>
        </p:nvGraphicFramePr>
        <p:xfrm>
          <a:off x="838198" y="1825625"/>
          <a:ext cx="10515600" cy="44307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56298712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2083041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458452371"/>
                    </a:ext>
                  </a:extLst>
                </a:gridCol>
              </a:tblGrid>
              <a:tr h="7384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Stage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Python Role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Libraries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2034403"/>
                  </a:ext>
                </a:extLst>
              </a:tr>
              <a:tr h="7384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Ingestion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Read files, APIs, DBs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pandas</a:t>
                      </a:r>
                      <a:r>
                        <a:rPr lang="en-IN"/>
                        <a:t>,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requests</a:t>
                      </a:r>
                      <a:r>
                        <a:rPr lang="en-IN"/>
                        <a:t>,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boto3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8231108"/>
                  </a:ext>
                </a:extLst>
              </a:tr>
              <a:tr h="7384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Transformation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Clean and merge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pandas</a:t>
                      </a:r>
                      <a:r>
                        <a:rPr lang="en-IN"/>
                        <a:t>,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numpy</a:t>
                      </a:r>
                      <a:r>
                        <a:rPr lang="en-IN"/>
                        <a:t>,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pyspark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7427816"/>
                  </a:ext>
                </a:extLst>
              </a:tr>
              <a:tr h="7384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Validation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Apply rules, checks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pytest</a:t>
                      </a:r>
                      <a:r>
                        <a:rPr lang="en-IN"/>
                        <a:t>,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jsonschema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1095716"/>
                  </a:ext>
                </a:extLst>
              </a:tr>
              <a:tr h="7384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Storage/Load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Write to S3, DB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boto3</a:t>
                      </a:r>
                      <a:r>
                        <a:rPr lang="en-IN"/>
                        <a:t>, </a:t>
                      </a:r>
                      <a:r>
                        <a:rPr lang="en-IN">
                          <a:latin typeface="Courier New" panose="02070309020205020404" pitchFamily="49" charset="0"/>
                        </a:rPr>
                        <a:t>sqlalchemy</a:t>
                      </a:r>
                      <a:endParaRPr lang="en-IN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1684263"/>
                  </a:ext>
                </a:extLst>
              </a:tr>
              <a:tr h="7384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Orchestration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Automate jobs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airflow</a:t>
                      </a:r>
                      <a:r>
                        <a:rPr lang="en-IN" dirty="0"/>
                        <a:t>, </a:t>
                      </a:r>
                      <a:r>
                        <a:rPr lang="en-IN" dirty="0" err="1">
                          <a:latin typeface="Courier New" panose="02070309020205020404" pitchFamily="49" charset="0"/>
                        </a:rPr>
                        <a:t>stepfunctions</a:t>
                      </a:r>
                      <a:endParaRPr lang="en-IN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09554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7813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00F05-8D8B-6CAA-97A6-4072F5771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 — Ingestion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BE8FC-258F-5947-5F20-B8C9E8E8D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import pandas as pd</a:t>
            </a:r>
          </a:p>
          <a:p>
            <a:pPr marL="0" indent="0">
              <a:buNone/>
            </a:pPr>
            <a:r>
              <a:rPr lang="en-IN" dirty="0" err="1">
                <a:solidFill>
                  <a:schemeClr val="accent6"/>
                </a:solidFill>
              </a:rPr>
              <a:t>df</a:t>
            </a:r>
            <a:r>
              <a:rPr lang="en-IN" dirty="0">
                <a:solidFill>
                  <a:schemeClr val="accent6"/>
                </a:solidFill>
              </a:rPr>
              <a:t> = </a:t>
            </a:r>
            <a:r>
              <a:rPr lang="en-IN" dirty="0" err="1">
                <a:solidFill>
                  <a:schemeClr val="accent6"/>
                </a:solidFill>
              </a:rPr>
              <a:t>pd.read_csv</a:t>
            </a:r>
            <a:r>
              <a:rPr lang="en-IN" dirty="0">
                <a:solidFill>
                  <a:schemeClr val="accent6"/>
                </a:solidFill>
              </a:rPr>
              <a:t>("orders.csv")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print(</a:t>
            </a:r>
            <a:r>
              <a:rPr lang="en-IN" dirty="0" err="1">
                <a:solidFill>
                  <a:schemeClr val="accent6"/>
                </a:solidFill>
              </a:rPr>
              <a:t>df.head</a:t>
            </a:r>
            <a:r>
              <a:rPr lang="en-IN" dirty="0">
                <a:solidFill>
                  <a:schemeClr val="accent6"/>
                </a:solidFill>
              </a:rPr>
              <a:t>())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✅ Reads structured data from local or S3 easily.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5114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4E4D9-22FC-21A7-A90D-10DF82BC1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 — Transformation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AC5601-D914-AB6C-0EE5-A0D5392E0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df</a:t>
            </a:r>
            <a:r>
              <a:rPr lang="en-US" dirty="0">
                <a:solidFill>
                  <a:schemeClr val="accent6"/>
                </a:solidFill>
              </a:rPr>
              <a:t>["</a:t>
            </a:r>
            <a:r>
              <a:rPr lang="en-US" dirty="0" err="1">
                <a:solidFill>
                  <a:schemeClr val="accent6"/>
                </a:solidFill>
              </a:rPr>
              <a:t>price_usd</a:t>
            </a:r>
            <a:r>
              <a:rPr lang="en-US" dirty="0">
                <a:solidFill>
                  <a:schemeClr val="accent6"/>
                </a:solidFill>
              </a:rPr>
              <a:t>"] = </a:t>
            </a:r>
            <a:r>
              <a:rPr lang="en-US" dirty="0" err="1">
                <a:solidFill>
                  <a:schemeClr val="accent6"/>
                </a:solidFill>
              </a:rPr>
              <a:t>df</a:t>
            </a:r>
            <a:r>
              <a:rPr lang="en-US" dirty="0">
                <a:solidFill>
                  <a:schemeClr val="accent6"/>
                </a:solidFill>
              </a:rPr>
              <a:t>["price"] * 0.012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df</a:t>
            </a:r>
            <a:r>
              <a:rPr lang="en-US" dirty="0">
                <a:solidFill>
                  <a:schemeClr val="accent6"/>
                </a:solidFill>
              </a:rPr>
              <a:t>["region"].</a:t>
            </a:r>
            <a:r>
              <a:rPr lang="en-US" dirty="0" err="1">
                <a:solidFill>
                  <a:schemeClr val="accent6"/>
                </a:solidFill>
              </a:rPr>
              <a:t>fillna</a:t>
            </a:r>
            <a:r>
              <a:rPr lang="en-US" dirty="0">
                <a:solidFill>
                  <a:schemeClr val="accent6"/>
                </a:solidFill>
              </a:rPr>
              <a:t>("UNKNOWN", </a:t>
            </a:r>
            <a:r>
              <a:rPr lang="en-US" dirty="0" err="1">
                <a:solidFill>
                  <a:schemeClr val="accent6"/>
                </a:solidFill>
              </a:rPr>
              <a:t>inplace</a:t>
            </a:r>
            <a:r>
              <a:rPr lang="en-US" dirty="0">
                <a:solidFill>
                  <a:schemeClr val="accent6"/>
                </a:solidFill>
              </a:rPr>
              <a:t>=True)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✅ Cleans and enriches data.</a:t>
            </a:r>
          </a:p>
        </p:txBody>
      </p:sp>
    </p:spTree>
    <p:extLst>
      <p:ext uri="{BB962C8B-B14F-4D97-AF65-F5344CB8AC3E}">
        <p14:creationId xmlns:p14="http://schemas.microsoft.com/office/powerpoint/2010/main" val="2064631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BEABA-9D21-AA63-529D-0369BA0AA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 — API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FBFAD-7B52-EAA6-5E3E-6F2E12D0C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import requests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response = </a:t>
            </a:r>
            <a:r>
              <a:rPr lang="en-IN" dirty="0" err="1">
                <a:solidFill>
                  <a:schemeClr val="accent6"/>
                </a:solidFill>
              </a:rPr>
              <a:t>requests.get</a:t>
            </a:r>
            <a:r>
              <a:rPr lang="en-IN" dirty="0">
                <a:solidFill>
                  <a:schemeClr val="accent6"/>
                </a:solidFill>
              </a:rPr>
              <a:t>("https://api.exchangerate-api.com/v4/latest/USD")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print(</a:t>
            </a:r>
            <a:r>
              <a:rPr lang="en-IN" dirty="0" err="1">
                <a:solidFill>
                  <a:schemeClr val="accent6"/>
                </a:solidFill>
              </a:rPr>
              <a:t>response.json</a:t>
            </a:r>
            <a:r>
              <a:rPr lang="en-IN" dirty="0">
                <a:solidFill>
                  <a:schemeClr val="accent6"/>
                </a:solidFill>
              </a:rPr>
              <a:t>()["rates"]["INR"])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✅ Python makes it simple to interact with real APIs.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6252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0E96F-A701-B0A8-EFCE-2E1268497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 — AWS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16C9C-D135-EBE9-AAAF-EF1F9BC161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import boto3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s3 = boto3.client("s3")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s3.upload_file("report.csv", "my-data-bucket", "processed/report.csv")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✅ Directly integrate with AWS S3, Glue, Lambda, </a:t>
            </a:r>
            <a:r>
              <a:rPr lang="en-US" dirty="0" err="1"/>
              <a:t>etc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0682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BAFD7-73D3-436D-76AC-3F4DD98D3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 — Automation / Orchestration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DAA862-3385-3BF9-7134-8017DDA006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095" y="1251284"/>
            <a:ext cx="10936705" cy="56067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import schedule, time</a:t>
            </a:r>
          </a:p>
          <a:p>
            <a:pPr marL="0" indent="0">
              <a:buNone/>
            </a:pPr>
            <a:endParaRPr lang="en-US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def </a:t>
            </a:r>
            <a:r>
              <a:rPr lang="en-US" dirty="0" err="1">
                <a:solidFill>
                  <a:schemeClr val="accent6"/>
                </a:solidFill>
              </a:rPr>
              <a:t>run_etl</a:t>
            </a:r>
            <a:r>
              <a:rPr lang="en-US" dirty="0">
                <a:solidFill>
                  <a:schemeClr val="accent6"/>
                </a:solidFill>
              </a:rPr>
              <a:t>():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 print("ETL job started...")</a:t>
            </a:r>
          </a:p>
          <a:p>
            <a:pPr marL="0" indent="0">
              <a:buNone/>
            </a:pPr>
            <a:endParaRPr lang="en-US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schedule.every</a:t>
            </a:r>
            <a:r>
              <a:rPr lang="en-US" dirty="0">
                <a:solidFill>
                  <a:schemeClr val="accent6"/>
                </a:solidFill>
              </a:rPr>
              <a:t>().day.at("08:00").do(</a:t>
            </a:r>
            <a:r>
              <a:rPr lang="en-US" dirty="0" err="1">
                <a:solidFill>
                  <a:schemeClr val="accent6"/>
                </a:solidFill>
              </a:rPr>
              <a:t>run_etl</a:t>
            </a:r>
            <a:r>
              <a:rPr lang="en-US" dirty="0">
                <a:solidFill>
                  <a:schemeClr val="accent6"/>
                </a:solidFill>
              </a:rPr>
              <a:t>)</a:t>
            </a:r>
          </a:p>
          <a:p>
            <a:pPr marL="0" indent="0">
              <a:buNone/>
            </a:pPr>
            <a:endParaRPr lang="en-US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while True: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 </a:t>
            </a:r>
            <a:r>
              <a:rPr lang="en-US" dirty="0" err="1">
                <a:solidFill>
                  <a:schemeClr val="accent6"/>
                </a:solidFill>
              </a:rPr>
              <a:t>schedule.run_pending</a:t>
            </a:r>
            <a:r>
              <a:rPr lang="en-US" dirty="0">
                <a:solidFill>
                  <a:schemeClr val="accent6"/>
                </a:solidFill>
              </a:rPr>
              <a:t>()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    </a:t>
            </a:r>
            <a:r>
              <a:rPr lang="en-US" dirty="0" err="1">
                <a:solidFill>
                  <a:schemeClr val="accent6"/>
                </a:solidFill>
              </a:rPr>
              <a:t>time.sleep</a:t>
            </a:r>
            <a:r>
              <a:rPr lang="en-US" dirty="0">
                <a:solidFill>
                  <a:schemeClr val="accent6"/>
                </a:solidFill>
              </a:rPr>
              <a:t>(60)</a:t>
            </a:r>
          </a:p>
          <a:p>
            <a:pPr marL="0" indent="0">
              <a:buNone/>
            </a:pPr>
            <a:r>
              <a:rPr lang="en-US" dirty="0"/>
              <a:t>✅ Automates ETL jobs like a lightweight Airflow.</a:t>
            </a:r>
            <a:endParaRPr lang="en-US" dirty="0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218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51EB3-2B44-29FA-C70A-BC1136524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 — Monitoring &amp; Logging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61740-23A3-B3B9-1172-6C586B5DD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import logging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logging.info("Pipeline executed successfully")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dirty="0"/>
              <a:t>✅ Adds observability and debugging capability.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8713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C91EA-B51F-8F7F-BAD7-12D8C36E0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8525A-C04F-0CAC-EE39-702C92193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200" dirty="0"/>
              <a:t>✅ Python fits </a:t>
            </a:r>
            <a:r>
              <a:rPr lang="en-US" sz="3200" i="1" dirty="0"/>
              <a:t>everywhere</a:t>
            </a:r>
            <a:r>
              <a:rPr lang="en-US" sz="3200" dirty="0"/>
              <a:t> in the pipeline</a:t>
            </a:r>
            <a:br>
              <a:rPr lang="en-US" sz="3200" dirty="0"/>
            </a:br>
            <a:r>
              <a:rPr lang="en-US" sz="3200" dirty="0"/>
              <a:t>✅ Acts as the link between data sources, cloud, and logic</a:t>
            </a:r>
            <a:br>
              <a:rPr lang="en-US" sz="3200" dirty="0"/>
            </a:br>
            <a:r>
              <a:rPr lang="en-US" sz="3200" dirty="0"/>
              <a:t>✅ Enables automation, analysis, and monitoring</a:t>
            </a:r>
            <a:br>
              <a:rPr lang="en-US" sz="3200" dirty="0"/>
            </a:br>
            <a:r>
              <a:rPr lang="en-US" sz="3200" dirty="0"/>
              <a:t>✅ The universal tool for modern data workflows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2496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470</Words>
  <Application>Microsoft Office PowerPoint</Application>
  <PresentationFormat>Widescreen</PresentationFormat>
  <Paragraphs>72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Courier New</vt:lpstr>
      <vt:lpstr>Office Theme</vt:lpstr>
      <vt:lpstr>Where Python Fits</vt:lpstr>
      <vt:lpstr>Why Python?</vt:lpstr>
      <vt:lpstr>Python in the Data Lifecycle</vt:lpstr>
      <vt:lpstr>Example — Ingestion</vt:lpstr>
      <vt:lpstr>Example — Transformation</vt:lpstr>
      <vt:lpstr>Example — API Integration</vt:lpstr>
      <vt:lpstr>Example — AWS Integration</vt:lpstr>
      <vt:lpstr>Example — Automation / Orchestration</vt:lpstr>
      <vt:lpstr>Example — Monitoring &amp; Logging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2025-11-08T05:26:59Z</dcterms:created>
  <dcterms:modified xsi:type="dcterms:W3CDTF">2025-11-08T05:27:09Z</dcterms:modified>
</cp:coreProperties>
</file>