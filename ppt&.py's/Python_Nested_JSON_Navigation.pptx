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74F0F-BF75-840F-DA99-BAC8654BE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6EC8D9-FD49-0A76-3D8F-4B21ED479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6C9E7-269A-CA73-7E01-9A3C66E76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189E-1B3D-4082-A675-6A1E02AD89A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FE555-EA51-170C-F821-E7372F54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D09E7-801B-3331-82C9-CB2D96BA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2F1E-81FA-4FF4-B050-5835DE45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875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E2193-E752-9F42-E4D8-3C0790B40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FF69A-2374-642E-5720-B251C33F3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45105-DCBD-AB00-5780-89572F6C9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189E-1B3D-4082-A675-6A1E02AD89A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91C92-A486-B148-EE18-6137562BA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26499-4053-BD45-BF6D-ED6246AA6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2F1E-81FA-4FF4-B050-5835DE45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18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8125B-1865-C9B6-2A1F-21F246D2F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18F1B-EBF9-8589-526D-094616661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6F218-DBE1-65EA-8B16-BEEEBC9E8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189E-1B3D-4082-A675-6A1E02AD89A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3D53E-E3B2-5247-180E-03EDA1F7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BA3BD-332D-E6EF-905E-88445A86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2F1E-81FA-4FF4-B050-5835DE45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42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484E4-4788-2227-B663-A5A82946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C1B3C-1E74-F864-B9EA-BB803D240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10FC6-B0A1-05FB-E511-A8234107D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8FC5A-3E96-1BFC-3CD8-E08E62493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189E-1B3D-4082-A675-6A1E02AD89A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AE07C-82EE-B194-873B-F0764E2E2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BA83F-4430-313B-4095-8FE58E1E0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2F1E-81FA-4FF4-B050-5835DE45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175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9C128-BA26-6240-2FD8-43B58AB9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B421F-155B-ED80-89EA-C8BB129F3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080E38-0E37-D498-FC2A-BA9A9E1D7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FD5413-EF1F-7AF2-D427-D6DEA33B22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AED147-2769-F38E-B5ED-C2ABB29C2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F52598-AEC0-AD48-EF92-8A1EDC451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189E-1B3D-4082-A675-6A1E02AD89A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C1E5FC-C0AE-E66C-C93F-A373CDD3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FA7B3-9300-17B3-5AA9-AD8081E3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2F1E-81FA-4FF4-B050-5835DE45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469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87F5E-30B6-2557-5791-BD058362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558B4C-A8E9-1BFF-3637-BEC890FB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189E-1B3D-4082-A675-6A1E02AD89A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3365D-A985-B916-42ED-AE3664FCB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28DDA-7FEB-3352-BDAE-06CF77E8A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2F1E-81FA-4FF4-B050-5835DE45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200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3B93A3-2144-0C97-6469-9C7E5981C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189E-1B3D-4082-A675-6A1E02AD89A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27406-76C8-38B4-81A3-EF602A4E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0441E-E394-B243-E952-4C96B9E7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2F1E-81FA-4FF4-B050-5835DE45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28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45ACE-5721-0C83-F51D-F7E6B541A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F35AB-4181-E0C7-BF52-4D195E683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34D53-9CC8-0E89-219F-E7BE84E00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210B3-EA7C-0BEC-4568-2A11CE415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189E-1B3D-4082-A675-6A1E02AD89A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1930C-2D67-41D6-3F5C-F30B92823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9A93B-C76D-2AB6-C9D3-09C58781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2F1E-81FA-4FF4-B050-5835DE45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52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247CB-F2C8-9978-2802-C23BCD38F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56E78-65E3-9E34-E637-FF2961EBA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E932C-5AEC-0A07-D7C1-391C9F201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86C5F-D2C7-7645-55F4-096B260EA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189E-1B3D-4082-A675-6A1E02AD89A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C217A-1A6B-2030-FC21-E8C3DABD5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A0033-5F48-6938-C41E-786BD1AD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2F1E-81FA-4FF4-B050-5835DE45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08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287C0-B394-EFDD-BE21-FC0A2D7D1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F37F2-72EA-8DA6-806A-D974438CE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253CB-B534-65B6-F2E0-3ACE5CCE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189E-1B3D-4082-A675-6A1E02AD89A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D9621-AABA-8407-89FB-47818EEFA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59C98-F38A-CA6B-DD2B-EEDA3D83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2F1E-81FA-4FF4-B050-5835DE45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177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84EFEA-575B-BEF9-8821-F8896A6147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CE407A-B2C3-B0FE-3DE0-1E355C1E80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A138B-9424-89C9-F13F-ED4954FC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189E-1B3D-4082-A675-6A1E02AD89A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52C01-61F2-4D63-971E-011616858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BD2B-B4B4-EB36-4ECB-73E3E3CE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2F1E-81FA-4FF4-B050-5835DE45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5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B8D069-5976-5A29-C4EC-0CC07B43E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A165D-3486-A665-7A9F-2D7534979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7698A-1AEE-D72B-6097-843DFD183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4189E-1B3D-4082-A675-6A1E02AD89A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085E3-593F-D5A1-1C1D-1EF900A4CE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09A0F-9F8A-56A5-B53F-48BD61A0F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62F1E-81FA-4FF4-B050-5835DE45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496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8B98-EB62-283C-0C17-90F158EB1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074" y="256675"/>
            <a:ext cx="9496926" cy="1343525"/>
          </a:xfrm>
        </p:spPr>
        <p:txBody>
          <a:bodyPr/>
          <a:lstStyle/>
          <a:p>
            <a:r>
              <a:rPr lang="en-IN" b="1" dirty="0"/>
              <a:t>Nested JSON Navigation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ACC8F-F174-F678-F878-252BBF0FB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0042" y="2053389"/>
            <a:ext cx="9127958" cy="3204411"/>
          </a:xfrm>
        </p:spPr>
        <p:txBody>
          <a:bodyPr/>
          <a:lstStyle/>
          <a:p>
            <a:pPr algn="l"/>
            <a:r>
              <a:rPr lang="en-US" sz="3200" dirty="0"/>
              <a:t>Real-world JSON data often contains </a:t>
            </a:r>
            <a:r>
              <a:rPr lang="en-US" sz="3200" b="1" dirty="0"/>
              <a:t>multiple layers</a:t>
            </a:r>
            <a:r>
              <a:rPr lang="en-US" sz="3200" dirty="0"/>
              <a:t> (objects within objects).</a:t>
            </a:r>
            <a:br>
              <a:rPr lang="en-US" sz="3200" dirty="0"/>
            </a:br>
            <a:r>
              <a:rPr lang="en-US" sz="3200" dirty="0"/>
              <a:t>Python lets you navigate these structures using </a:t>
            </a:r>
            <a:r>
              <a:rPr lang="en-US" sz="3200" dirty="0" err="1"/>
              <a:t>dict.get</a:t>
            </a:r>
            <a:r>
              <a:rPr lang="en-US" sz="3200" dirty="0"/>
              <a:t>() and nested loops.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044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2579A-9C7B-293B-1417-8CC96B677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– Nested Employee 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83ED2-2E30-DCEA-13F2-7FCD7F6BD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"department": {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"name": "IT",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"employees": [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  {"name": "Aisha", "role": "Manager", "projects": ["Automation", "Migration"]},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  {"name": "Rahul", "role": "Developer", "projects": ["ETL Pipeline"]}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]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}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7658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5DBE-0859-6467-C21F-260ADA7C7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Accessing Nested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C873D-619A-885A-01CA-5DB49B6D8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chemeClr val="accent6"/>
                </a:solidFill>
              </a:rPr>
              <a:t>data["department"]["name"]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accent6"/>
                </a:solidFill>
              </a:rPr>
              <a:t>data["department"]["employees"][0]["name"]</a:t>
            </a:r>
          </a:p>
          <a:p>
            <a:pPr marL="0" indent="0">
              <a:buNone/>
            </a:pPr>
            <a:endParaRPr lang="en-US" sz="32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3200" dirty="0"/>
              <a:t>You can access nested elements using key chaining (</a:t>
            </a:r>
            <a:r>
              <a:rPr lang="en-US" sz="3200" dirty="0" err="1"/>
              <a:t>dict</a:t>
            </a:r>
            <a:r>
              <a:rPr lang="en-US" sz="3200" dirty="0"/>
              <a:t>[key][index][key]).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28568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ECB2-D9C3-DE77-E0FF-B219C5BA6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Using </a:t>
            </a:r>
            <a:r>
              <a:rPr lang="en-IN" b="1" dirty="0" err="1"/>
              <a:t>dict.get</a:t>
            </a:r>
            <a:r>
              <a:rPr lang="en-IN" b="1" dirty="0"/>
              <a:t>() Safely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9E993-3876-54ED-5131-FE6453856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dept = </a:t>
            </a:r>
            <a:r>
              <a:rPr lang="en-IN" dirty="0" err="1">
                <a:solidFill>
                  <a:schemeClr val="accent6"/>
                </a:solidFill>
              </a:rPr>
              <a:t>data.get</a:t>
            </a:r>
            <a:r>
              <a:rPr lang="en-IN" dirty="0">
                <a:solidFill>
                  <a:schemeClr val="accent6"/>
                </a:solidFill>
              </a:rPr>
              <a:t>("department", {})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print(</a:t>
            </a:r>
            <a:r>
              <a:rPr lang="en-IN" dirty="0" err="1">
                <a:solidFill>
                  <a:schemeClr val="accent6"/>
                </a:solidFill>
              </a:rPr>
              <a:t>dept.get</a:t>
            </a:r>
            <a:r>
              <a:rPr lang="en-IN" dirty="0">
                <a:solidFill>
                  <a:schemeClr val="accent6"/>
                </a:solidFill>
              </a:rPr>
              <a:t>("name"))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</a:t>
            </a:r>
            <a:r>
              <a:rPr lang="en-US" dirty="0" err="1"/>
              <a:t>dict.get</a:t>
            </a:r>
            <a:r>
              <a:rPr lang="en-US" dirty="0"/>
              <a:t>() avoids </a:t>
            </a:r>
            <a:r>
              <a:rPr lang="en-US" dirty="0" err="1"/>
              <a:t>KeyError</a:t>
            </a:r>
            <a:r>
              <a:rPr lang="en-US" dirty="0"/>
              <a:t> and allows fallback defaults.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9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F125A-BE50-B5B9-0E61-1ED6E2E58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Looping Through Nested Lists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39FC2-C622-ADD1-77CB-0A886B6F0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for emp in data["department"]["employees"]: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print(emp["name"], "-", emp["role"])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3200" dirty="0"/>
              <a:t>Loops help extract values from lists inside nested dictionaries.</a:t>
            </a:r>
            <a:endParaRPr lang="en-US" sz="32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8354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101D-E4AA-76EA-C61F-3856084F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Nested Loops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FEA3A-6185-C29C-41F3-0B9746DC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for emp in data["department"]["employees"]: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print(f"{emp['name']} works on:")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for </a:t>
            </a:r>
            <a:r>
              <a:rPr lang="en-US" dirty="0" err="1">
                <a:solidFill>
                  <a:schemeClr val="accent6"/>
                </a:solidFill>
              </a:rPr>
              <a:t>proj</a:t>
            </a:r>
            <a:r>
              <a:rPr lang="en-US" dirty="0">
                <a:solidFill>
                  <a:schemeClr val="accent6"/>
                </a:solidFill>
              </a:rPr>
              <a:t> in </a:t>
            </a:r>
            <a:r>
              <a:rPr lang="en-US" dirty="0" err="1">
                <a:solidFill>
                  <a:schemeClr val="accent6"/>
                </a:solidFill>
              </a:rPr>
              <a:t>emp.get</a:t>
            </a:r>
            <a:r>
              <a:rPr lang="en-US" dirty="0">
                <a:solidFill>
                  <a:schemeClr val="accent6"/>
                </a:solidFill>
              </a:rPr>
              <a:t>("projects", []):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    print("  •", </a:t>
            </a:r>
            <a:r>
              <a:rPr lang="en-US" dirty="0" err="1">
                <a:solidFill>
                  <a:schemeClr val="accent6"/>
                </a:solidFill>
              </a:rPr>
              <a:t>proj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This prints all employee projects in a structured format.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0986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2F359-837D-538F-D124-F7E368BDD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Example (Shipments JSON)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44DCE-9D96-8413-EF13-D89023ED1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"shipments": [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{"lane": "BLR-NYC", "status": "Delivered", "details": {"weight": 45, "carrier": "UPS"}},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{"lane": "DEL-LHR", "status": "In-Transit", "details": {"weight": 60, "carrier": "FedEx"}}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]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/>
              <a:t>You can loop through each shipment and its nested details.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75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62DF0-F423-E2EB-D043-E5FCBE94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Extracting Deeply Nested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25D04-97A8-476D-ED5B-FA624124F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for s in data["shipments"]: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print(s["lane"], "-", s["details"]["carrier"])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2652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1455D-F826-6494-0362-87DFF6F3D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Issues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5EC92-4BB4-F3D4-2FE9-4916D3CD9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err="1"/>
              <a:t>KeyError</a:t>
            </a:r>
            <a:r>
              <a:rPr lang="en-US" sz="3200" dirty="0"/>
              <a:t> if key is missing</a:t>
            </a:r>
          </a:p>
          <a:p>
            <a:r>
              <a:rPr lang="en-US" sz="3200" dirty="0" err="1"/>
              <a:t>TypeError</a:t>
            </a:r>
            <a:r>
              <a:rPr lang="en-US" sz="3200" dirty="0"/>
              <a:t> when trying to loop over None</a:t>
            </a:r>
          </a:p>
          <a:p>
            <a:r>
              <a:rPr lang="en-US" sz="3200" dirty="0"/>
              <a:t>Uneven nesting depth across records</a:t>
            </a:r>
          </a:p>
          <a:p>
            <a:r>
              <a:rPr lang="en-US" sz="3200" dirty="0"/>
              <a:t>✅ Fix: use .get() and default empty lists/</a:t>
            </a:r>
            <a:r>
              <a:rPr lang="en-US" sz="3200" dirty="0" err="1"/>
              <a:t>dicts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183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2A6FE-0743-43F8-4913-D62C8772F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E6B95-DDD0-6947-391E-538506CD3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/>
              <a:t>✅ Use </a:t>
            </a:r>
            <a:r>
              <a:rPr lang="en-IN" sz="3200" dirty="0" err="1"/>
              <a:t>dict.get</a:t>
            </a:r>
            <a:r>
              <a:rPr lang="en-IN" sz="3200" dirty="0"/>
              <a:t>() for safe access</a:t>
            </a:r>
            <a:br>
              <a:rPr lang="en-IN" sz="3200" dirty="0"/>
            </a:br>
            <a:r>
              <a:rPr lang="en-IN" sz="3200" dirty="0"/>
              <a:t>✅ Use nested loops for multi-level lists</a:t>
            </a:r>
            <a:br>
              <a:rPr lang="en-IN" sz="3200" dirty="0"/>
            </a:br>
            <a:r>
              <a:rPr lang="en-IN" sz="3200" dirty="0"/>
              <a:t>✅ Always check structure before accessing keys</a:t>
            </a:r>
            <a:br>
              <a:rPr lang="en-IN" sz="3200" dirty="0"/>
            </a:br>
            <a:r>
              <a:rPr lang="en-IN" sz="3200" dirty="0"/>
              <a:t>✅ Perfect for parsing complex API/ETL JSON data</a:t>
            </a:r>
          </a:p>
        </p:txBody>
      </p:sp>
    </p:spTree>
    <p:extLst>
      <p:ext uri="{BB962C8B-B14F-4D97-AF65-F5344CB8AC3E}">
        <p14:creationId xmlns:p14="http://schemas.microsoft.com/office/powerpoint/2010/main" val="597339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Nested JSON Navigation</vt:lpstr>
      <vt:lpstr>Example – Nested Employee JSON</vt:lpstr>
      <vt:lpstr>Accessing Nested Data</vt:lpstr>
      <vt:lpstr>Using dict.get() Safely</vt:lpstr>
      <vt:lpstr>Looping Through Nested Lists </vt:lpstr>
      <vt:lpstr>Nested Loops Example</vt:lpstr>
      <vt:lpstr>Real-World Example (Shipments JSON)</vt:lpstr>
      <vt:lpstr>Extracting Deeply Nested Fields</vt:lpstr>
      <vt:lpstr>Common Issues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2025-11-06T05:57:31Z</dcterms:created>
  <dcterms:modified xsi:type="dcterms:W3CDTF">2025-11-06T05:57:45Z</dcterms:modified>
</cp:coreProperties>
</file>