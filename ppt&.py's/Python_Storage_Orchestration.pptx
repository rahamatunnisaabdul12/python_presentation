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C59A-74D9-D6FA-26B9-99952E763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17C5A-E749-B49B-1DC0-6077872F6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BF566-B5D7-136C-9105-4DBB1ABD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9F86B-F39E-7BF0-2BEA-360DB7C3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E30F-2F77-B606-5F53-66BB05BE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45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B2D6-84F6-FC9B-D474-45612D10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CA041-3B18-110C-28F0-1FB61EF56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003F6-F305-C631-0C26-99C22830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37E42-24E9-55CD-8F52-2FEA5B62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02B33-5009-0373-0F0F-ACB1E0BD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2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DCEE-2BBD-200C-2461-414F0869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DEF9B-DC45-3642-0563-2CD0BFEA1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92597-61D5-3E17-53D0-C528072C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1DD21-8EFE-EBC7-0249-B80CFF6A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D1E20-AA1A-82C4-7234-264C3697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73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63CF-A3E5-2D33-928C-A3B602B2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4FF48-909B-6576-0134-4D3782C0C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685ED-86E7-F3C5-E2E9-44FE2F6BA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C5F90-E746-0997-6504-7B99EEC7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60992-1822-F599-9A7C-83F9C696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12A0E-945F-9C17-EDE2-8E34090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8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7A17-30D0-9284-B94A-F4129ADF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D7955-7C56-AD13-3A68-0F2375A3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365FE-57D6-0759-65DE-E8FCD43A8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63195-7767-7001-031B-A7BAE30B2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5CF933-50CA-6810-0058-3570F3F59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D0AF9-F0AC-92DA-4A2B-4D2860E3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306DC-E692-0207-2430-61FBC462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EEF5C-6389-5F2B-772C-046DCCDC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DF96-F1A3-1180-08B5-E0B49E87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FFD88-0992-85CE-4F2A-BAF0818F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BE774-34C0-86D6-EF64-2CB48981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16389-9367-3307-E428-699C4877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9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C185B-6351-BD61-5D07-71A93662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9ED97-B391-C350-81FE-BD0795C1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73D8C-50A1-E3F7-3586-7455656F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2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B41C-DEAF-ED90-24D8-BA63FCDB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E359F-FFA4-B52B-CAF6-ECB994A4B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D8D117-7656-EC61-DB32-7C59E9076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D7417-E762-5830-749C-5D0A7304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FC474-CA36-AEFD-B7B4-6F5C46DC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78975-C42E-9940-A624-48D59157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0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56A7-E24A-1FA2-B812-68F94C271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75D4A-CADF-3BCA-4E61-89D60E016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6D883-D157-2ECA-DB4B-407B38E55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1DC55-A6F4-C73F-A150-436870ED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32F98-2840-7448-FD0E-396BE782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BEB2B-D602-EDC9-4F0D-A963C644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5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2BDF-1D6D-D1C5-F620-8CD64514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B3D04-C486-E94B-8D06-1693BB479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1A79B-84AC-8DBB-91B3-998AB81B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274B-664A-5637-C888-05C147B9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6E76-36D9-4236-85CE-F381077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2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A24945-75DA-385D-367E-0DE2E213E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AD47B-7B5C-A887-E1CF-12C43E6AF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F2C23-5A3C-A029-6E43-AC37E4B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95EC7-89C9-02EA-178F-37EEF7A3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7F44-69DD-B17B-F63D-6A54CA10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60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C5DBC-4BAF-3ABB-0FEC-031B6D92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083BF-25B4-A5F0-1FFC-81BF41EFC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9CC11-365B-0878-8A13-7705A0227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2B907-683A-4172-BE62-DB6D5E3C715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C18E7-D5AE-DE94-BA66-7EEA3EFCE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D2754-27C0-4DF6-AE94-D05CC1274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3500C-E570-4D02-8A87-A1740BFA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2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0B09-E861-BA4E-79FF-112E483B1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779" y="156997"/>
            <a:ext cx="9609221" cy="1655761"/>
          </a:xfrm>
        </p:spPr>
        <p:txBody>
          <a:bodyPr>
            <a:normAutofit/>
          </a:bodyPr>
          <a:lstStyle/>
          <a:p>
            <a:r>
              <a:rPr lang="en-IN" b="1" dirty="0"/>
              <a:t>“Storage → Orchestration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7D241-6287-5807-D7F2-4FB12F1B1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8779" y="1812758"/>
            <a:ext cx="9609221" cy="3445042"/>
          </a:xfrm>
        </p:spPr>
        <p:txBody>
          <a:bodyPr/>
          <a:lstStyle/>
          <a:p>
            <a:pPr algn="l"/>
            <a:r>
              <a:rPr lang="en-US" b="1" dirty="0"/>
              <a:t>Storage → Orchestration</a:t>
            </a:r>
          </a:p>
          <a:p>
            <a:pPr algn="l"/>
            <a:r>
              <a:rPr lang="en-US" dirty="0"/>
              <a:t>Storage is where data lives.</a:t>
            </a:r>
            <a:br>
              <a:rPr lang="en-US" dirty="0"/>
            </a:br>
            <a:r>
              <a:rPr lang="en-US" dirty="0"/>
              <a:t>Orchestration controls </a:t>
            </a:r>
            <a:r>
              <a:rPr lang="en-US" i="1" dirty="0"/>
              <a:t>when, how,</a:t>
            </a:r>
            <a:r>
              <a:rPr lang="en-US" dirty="0"/>
              <a:t> and </a:t>
            </a:r>
            <a:r>
              <a:rPr lang="en-US" i="1" dirty="0"/>
              <a:t>in what order</a:t>
            </a:r>
            <a:r>
              <a:rPr lang="en-US" dirty="0"/>
              <a:t> data moves between systems.</a:t>
            </a:r>
          </a:p>
          <a:p>
            <a:pPr algn="l"/>
            <a:r>
              <a:rPr lang="en-US" dirty="0"/>
              <a:t>This topic connects everything you’ve learned — how data moves from </a:t>
            </a:r>
            <a:r>
              <a:rPr lang="en-US" b="1" dirty="0"/>
              <a:t>storage layers (S3, DBs, CSVs)</a:t>
            </a:r>
            <a:r>
              <a:rPr lang="en-US" dirty="0"/>
              <a:t> to being </a:t>
            </a:r>
            <a:r>
              <a:rPr lang="en-US" b="1" dirty="0"/>
              <a:t>controlled, scheduled, and automated</a:t>
            </a:r>
            <a:r>
              <a:rPr lang="en-US" dirty="0"/>
              <a:t> using </a:t>
            </a:r>
            <a:r>
              <a:rPr lang="en-US" b="1" dirty="0"/>
              <a:t>orchestration tools</a:t>
            </a:r>
            <a:r>
              <a:rPr lang="en-US" dirty="0"/>
              <a:t> like AWS Step Functions or Apache Airflow.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88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0E71-2DF5-6B3C-C6AD-A9C4177B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Storage?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D74D-D5B2-4C13-FA20-FCF94060E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= data sources (raw, processed, curated).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/>
              <a:t>AWS S3 (object storage)</a:t>
            </a:r>
          </a:p>
          <a:p>
            <a:r>
              <a:rPr lang="en-US" dirty="0"/>
              <a:t>Databases (Redshift, Aurora)</a:t>
            </a:r>
          </a:p>
          <a:p>
            <a:r>
              <a:rPr lang="en-US" dirty="0"/>
              <a:t>Local / Shared Drives</a:t>
            </a:r>
          </a:p>
          <a:p>
            <a:r>
              <a:rPr lang="en-US" dirty="0"/>
              <a:t>Data Lakes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9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B176D-93C8-70A2-0697-D07F8064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Orchestration?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F0D8-1114-5E35-59F9-6705B9D1E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Orchestration = automation layer that coordinates pipeline steps (ingestion, transformation, validation, loading).</a:t>
            </a:r>
            <a:br>
              <a:rPr lang="en-US" sz="3200" dirty="0"/>
            </a:br>
            <a:r>
              <a:rPr lang="en-US" sz="3200" dirty="0"/>
              <a:t>Tools: </a:t>
            </a:r>
            <a:r>
              <a:rPr lang="en-US" sz="3200" b="1" dirty="0"/>
              <a:t>AWS Step Functions, Apache Airflow, Prefect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29042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150C-4462-5C3F-0B53-E46CB64F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6F4E4-3955-91B3-4865-767C6406E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Raw Data → S3 (Storage)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Transformation (Glue Job)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Validation → Load → Report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Orchestration (Step Function / Airflow)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84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9415-A8AD-0619-2B6A-58FCA4F6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Orchestration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2D3845-2C1C-1A11-71CA-3C5371D47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772423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ETL jobs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dependencies (Task A → Task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retries and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multiple services</a:t>
            </a:r>
          </a:p>
        </p:txBody>
      </p:sp>
    </p:spTree>
    <p:extLst>
      <p:ext uri="{BB962C8B-B14F-4D97-AF65-F5344CB8AC3E}">
        <p14:creationId xmlns:p14="http://schemas.microsoft.com/office/powerpoint/2010/main" val="400518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41AA-44E0-084E-015E-E65A7F84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Storage Layers in Pipelines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05CBD1-1FCE-4D48-A8FF-8A32667B4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887112"/>
              </p:ext>
            </p:extLst>
          </p:nvPr>
        </p:nvGraphicFramePr>
        <p:xfrm>
          <a:off x="593558" y="1825624"/>
          <a:ext cx="10760238" cy="399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6746">
                  <a:extLst>
                    <a:ext uri="{9D8B030D-6E8A-4147-A177-3AD203B41FA5}">
                      <a16:colId xmlns:a16="http://schemas.microsoft.com/office/drawing/2014/main" val="209496441"/>
                    </a:ext>
                  </a:extLst>
                </a:gridCol>
                <a:gridCol w="3586746">
                  <a:extLst>
                    <a:ext uri="{9D8B030D-6E8A-4147-A177-3AD203B41FA5}">
                      <a16:colId xmlns:a16="http://schemas.microsoft.com/office/drawing/2014/main" val="1224613679"/>
                    </a:ext>
                  </a:extLst>
                </a:gridCol>
                <a:gridCol w="3586746">
                  <a:extLst>
                    <a:ext uri="{9D8B030D-6E8A-4147-A177-3AD203B41FA5}">
                      <a16:colId xmlns:a16="http://schemas.microsoft.com/office/drawing/2014/main" val="1262901023"/>
                    </a:ext>
                  </a:extLst>
                </a:gridCol>
              </a:tblGrid>
              <a:tr h="999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234957"/>
                  </a:ext>
                </a:extLst>
              </a:tr>
              <a:tr h="999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Raw Zone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Unprocessed source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 /incoming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649238"/>
                  </a:ext>
                </a:extLst>
              </a:tr>
              <a:tr h="999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Staging Zone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Cleaned intermediate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 /staging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65660"/>
                  </a:ext>
                </a:extLst>
              </a:tr>
              <a:tr h="999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Curated Zone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validated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S3 /curated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5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58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15F0-A4FC-96DC-A502-73C96604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Orchestration Example (AWS Step Functions)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0A15D-9D99-634B-E7D7-C48E5BE75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</a:t>
            </a:r>
            <a:r>
              <a:rPr lang="en-IN" dirty="0" err="1">
                <a:solidFill>
                  <a:schemeClr val="accent6"/>
                </a:solidFill>
              </a:rPr>
              <a:t>StartAt</a:t>
            </a:r>
            <a:r>
              <a:rPr lang="en-IN" dirty="0">
                <a:solidFill>
                  <a:schemeClr val="accent6"/>
                </a:solidFill>
              </a:rPr>
              <a:t>": "Ingest",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"States": 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"Ingest": {"Type": "Task", "Next": "Transform"},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"Transform": {"Type": "Task", "Next": "Validate"},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"Validate": {"Type": "Task", "End": true}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✅ Defines sequence of pipeline steps.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81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5E79-5DD3-BE3B-675B-250CCAF3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648F4-D877-3DA7-D8BC-B06F1423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for step in ["Ingest", "Transform", "Validate"]: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print(</a:t>
            </a:r>
            <a:r>
              <a:rPr lang="en-IN" dirty="0" err="1">
                <a:solidFill>
                  <a:schemeClr val="accent6"/>
                </a:solidFill>
              </a:rPr>
              <a:t>f"Running</a:t>
            </a:r>
            <a:r>
              <a:rPr lang="en-IN" dirty="0">
                <a:solidFill>
                  <a:schemeClr val="accent6"/>
                </a:solidFill>
              </a:rPr>
              <a:t> step: {step}")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You can test orchestration flow before deploying to AWS.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57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FFCE-66C2-9342-895F-4FB80939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46E6E8-4EF5-D8E9-E164-394F6D200E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306" y="2239101"/>
            <a:ext cx="918658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raw, clean, and curated data separately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consistent naming (bucket paths, prefixes)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transitions between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retries in orchestrator for reliability</a:t>
            </a:r>
          </a:p>
        </p:txBody>
      </p:sp>
    </p:spTree>
    <p:extLst>
      <p:ext uri="{BB962C8B-B14F-4D97-AF65-F5344CB8AC3E}">
        <p14:creationId xmlns:p14="http://schemas.microsoft.com/office/powerpoint/2010/main" val="367584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22BE-6E04-285B-9FA9-205A56AC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32DF-46C0-7D00-934C-E08CFED2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✅ Storage → keeps your data safe</a:t>
            </a:r>
            <a:br>
              <a:rPr lang="en-US" sz="3600" dirty="0"/>
            </a:br>
            <a:r>
              <a:rPr lang="en-US" sz="3600" dirty="0"/>
              <a:t>✅ Orchestration → controls data movement</a:t>
            </a:r>
            <a:br>
              <a:rPr lang="en-US" sz="3600" dirty="0"/>
            </a:br>
            <a:r>
              <a:rPr lang="en-US" sz="3600" dirty="0"/>
              <a:t>✅ Together = backbone of scalable, automated pipelines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168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7966-3F3D-CBBD-A6E5-7DA12617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2ADB-0BCA-82AE-4998-11310938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4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“Storage → Orchestration</vt:lpstr>
      <vt:lpstr>What Is Storage?</vt:lpstr>
      <vt:lpstr>What Is Orchestration?</vt:lpstr>
      <vt:lpstr>Flow Overview</vt:lpstr>
      <vt:lpstr>Why Use Orchestration</vt:lpstr>
      <vt:lpstr>Storage Layers in Pipelines</vt:lpstr>
      <vt:lpstr>Orchestration Example (AWS Step Functions)</vt:lpstr>
      <vt:lpstr>Local Simulation</vt:lpstr>
      <vt:lpstr>Best Practices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2025-11-08T05:05:05Z</dcterms:created>
  <dcterms:modified xsi:type="dcterms:W3CDTF">2025-11-08T05:05:21Z</dcterms:modified>
</cp:coreProperties>
</file>