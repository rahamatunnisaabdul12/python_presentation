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3584A-8A23-D9DC-E317-ADC3EBD56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3171B-D394-8E72-FD0F-0001A6C7E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86FDE-E661-0CCB-C4A1-874C79C0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E3513-7413-FBA2-389B-2091976B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34620-F388-1EFD-0E53-F14ADCA1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58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413D4-A6EE-5F04-E67A-94CC179D8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8A128-315B-7CA2-BB03-537CB43D1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27924-BC21-A8F1-42B3-26712A9B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FAD7A-4FD3-D843-4941-5347C7D0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A2296-447D-BC63-0B72-7381FF4F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76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BC74F-EA8E-2E1A-11B1-FDAC12A2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FB2F4-5CC3-8E26-3B7B-1E93EABB1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18D29-0B87-A76B-EC1C-0B9F931CD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CC2ED-6ACD-67D6-1C80-7D613DBE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F6977-3965-21B4-0460-FE7DAD8F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68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C6F8-4653-3FED-FDF5-9C8ED499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843B9-604D-67DD-21DC-89767637A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605EB-C874-2722-F54A-0DE402DA0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03953-BD81-0DE7-C1F4-F5C73A71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61E7F-7FC3-8B52-2F30-B81A2860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E2285-2508-9780-4A63-410464AC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40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D9BD-CB5A-CB4D-4467-D2659864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F0B7A-BBF9-90F5-281D-084686B02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ABA57-AAFF-D923-ECF6-36F9EA08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C7B89-DC99-DFB1-8AEA-1599C5BA2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74794-380C-BD1C-2F4E-307D030C0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B98F7-25A1-4574-FAA2-4274AA97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BDE99-9E2A-6A40-99EB-7E245F7E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00698-A056-ACFB-B5DC-5E0FEFBD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65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6892-80B4-268C-9B13-2B6D31CB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EAC2B-A3EC-1BFA-ADCE-E2CF803D8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E9BB0-C7C5-5A3C-79CD-F45F1EF4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BDEAA-6C32-62D7-AD86-946800E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73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44F46-BE51-92DC-120C-A05F6424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21D8B-FE74-0E5D-E549-D4CAFE83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D41C4-19F7-7B88-771C-80C83310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33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6BDF-0A00-AEEE-DC64-1D48E1181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FB8E-56B6-4540-5564-9F7BF75EC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5751C-24CB-7C94-8AF0-DEE5B0BFD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A97E2-1C48-C439-9C34-1C351CF2F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36BE4-7BEB-ED0D-5A10-336F32BD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375B5-BA87-B7A7-4DA1-3C36AD59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31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06EF-663F-B427-064F-ADAA34D9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AEE9F4-AAF1-1195-E3D5-81DB3FA0C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1E903-6337-2334-68E7-CA0CC6610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099B9-3D04-3DE3-FD55-1A3F6B9D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E6DE3-E99E-1373-95BC-AAC8123E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22517-5F03-62BF-388D-99C5970D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52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D6EF-0EF3-71DD-222E-056F3709F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4FFC8-1C58-2F6F-B947-953391706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09E71-9854-886F-3CFB-294BFB67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5A8AB-D108-25BF-C3AB-9C5DF5B8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C5AF-FEEB-99BC-7A3A-52A9DA26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24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46640-53C7-87B7-C343-1F3AA7356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01D0A-BBAB-57B3-0871-098986D66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BB369-6AA8-9B20-A253-19145F603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6C5ED-52D7-7A91-FE41-7267035A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5EE83-6338-56B0-27EA-58FD7BE6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0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18C59-AA5E-074D-BE09-20EE45A0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C2A72-5E86-E18C-4B40-64AEC5045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F8795-18B2-A5C1-299E-CC60056A6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7991C-559E-463E-8DCC-3323C26F8FE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1CC9C-C611-F149-CEC4-3EDAB8697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2FFFA-F2AE-5D1A-30B7-432875F80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C2AD7-313D-4853-868F-8E4D17A1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32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088F-F7C7-8F30-ABB3-E34F24593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284" y="207963"/>
            <a:ext cx="9144000" cy="1829384"/>
          </a:xfrm>
        </p:spPr>
        <p:txBody>
          <a:bodyPr/>
          <a:lstStyle/>
          <a:p>
            <a:r>
              <a:rPr lang="en-US" b="1" dirty="0"/>
              <a:t>Local vs Dev vs Prod — What Changes?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83661-50BC-8001-9450-F13B804A1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6905" y="2582779"/>
            <a:ext cx="9561095" cy="2675021"/>
          </a:xfrm>
        </p:spPr>
        <p:txBody>
          <a:bodyPr/>
          <a:lstStyle/>
          <a:p>
            <a:pPr algn="l"/>
            <a:r>
              <a:rPr lang="en-US" dirty="0"/>
              <a:t>Different environments = same code, different configurations.**</a:t>
            </a:r>
            <a:br>
              <a:rPr lang="en-US" dirty="0"/>
            </a:br>
            <a:r>
              <a:rPr lang="en-US" dirty="0"/>
              <a:t>They ensure safe testing, smooth deployment, and stable production.</a:t>
            </a:r>
          </a:p>
          <a:p>
            <a:pPr algn="l"/>
            <a:r>
              <a:rPr lang="en-US" dirty="0"/>
              <a:t>It directly connects with your AWS Step Functions, Glue jobs, and GitLab CI/CD setup — where you run the </a:t>
            </a:r>
            <a:r>
              <a:rPr lang="en-US" b="1" dirty="0"/>
              <a:t>same code</a:t>
            </a:r>
            <a:r>
              <a:rPr lang="en-US" dirty="0"/>
              <a:t> but under </a:t>
            </a:r>
            <a:r>
              <a:rPr lang="en-US" b="1" dirty="0"/>
              <a:t>different environments</a:t>
            </a:r>
            <a:r>
              <a:rPr lang="en-US" dirty="0"/>
              <a:t> with different paths, configurations, and permissions.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429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D871-E5D4-0D2D-D460-389F6223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These Environments?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D73812-ED1F-8E2F-AB25-EF8E848A5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27235"/>
              </p:ext>
            </p:extLst>
          </p:nvPr>
        </p:nvGraphicFramePr>
        <p:xfrm>
          <a:off x="657726" y="1690688"/>
          <a:ext cx="10696074" cy="304212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65358">
                  <a:extLst>
                    <a:ext uri="{9D8B030D-6E8A-4147-A177-3AD203B41FA5}">
                      <a16:colId xmlns:a16="http://schemas.microsoft.com/office/drawing/2014/main" val="439499189"/>
                    </a:ext>
                  </a:extLst>
                </a:gridCol>
                <a:gridCol w="3565358">
                  <a:extLst>
                    <a:ext uri="{9D8B030D-6E8A-4147-A177-3AD203B41FA5}">
                      <a16:colId xmlns:a16="http://schemas.microsoft.com/office/drawing/2014/main" val="4105161425"/>
                    </a:ext>
                  </a:extLst>
                </a:gridCol>
                <a:gridCol w="3565358">
                  <a:extLst>
                    <a:ext uri="{9D8B030D-6E8A-4147-A177-3AD203B41FA5}">
                      <a16:colId xmlns:a16="http://schemas.microsoft.com/office/drawing/2014/main" val="2189624931"/>
                    </a:ext>
                  </a:extLst>
                </a:gridCol>
              </a:tblGrid>
              <a:tr h="760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79428"/>
                  </a:ext>
                </a:extLst>
              </a:tr>
              <a:tr h="760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Your laptop or Jupyter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 testing, logic debugging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803821"/>
                  </a:ext>
                </a:extLst>
              </a:tr>
              <a:tr h="760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Dev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 AWS or sandbox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 &amp; data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883719"/>
                  </a:ext>
                </a:extLst>
              </a:tr>
              <a:tr h="760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Production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 data, real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798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286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0BD58-DDB9-FC76-F34C-023163A70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Differences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87925B-7E2E-FE74-FDF1-133FF3CF57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0960109"/>
              </p:ext>
            </p:extLst>
          </p:nvPr>
        </p:nvGraphicFramePr>
        <p:xfrm>
          <a:off x="561474" y="1556084"/>
          <a:ext cx="10792328" cy="354249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698082">
                  <a:extLst>
                    <a:ext uri="{9D8B030D-6E8A-4147-A177-3AD203B41FA5}">
                      <a16:colId xmlns:a16="http://schemas.microsoft.com/office/drawing/2014/main" val="3702213253"/>
                    </a:ext>
                  </a:extLst>
                </a:gridCol>
                <a:gridCol w="2698082">
                  <a:extLst>
                    <a:ext uri="{9D8B030D-6E8A-4147-A177-3AD203B41FA5}">
                      <a16:colId xmlns:a16="http://schemas.microsoft.com/office/drawing/2014/main" val="1032955555"/>
                    </a:ext>
                  </a:extLst>
                </a:gridCol>
                <a:gridCol w="2698082">
                  <a:extLst>
                    <a:ext uri="{9D8B030D-6E8A-4147-A177-3AD203B41FA5}">
                      <a16:colId xmlns:a16="http://schemas.microsoft.com/office/drawing/2014/main" val="2000863203"/>
                    </a:ext>
                  </a:extLst>
                </a:gridCol>
                <a:gridCol w="2698082">
                  <a:extLst>
                    <a:ext uri="{9D8B030D-6E8A-4147-A177-3AD203B41FA5}">
                      <a16:colId xmlns:a16="http://schemas.microsoft.com/office/drawing/2014/main" val="1874696743"/>
                    </a:ext>
                  </a:extLst>
                </a:gridCol>
              </a:tblGrid>
              <a:tr h="590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7837101"/>
                  </a:ext>
                </a:extLst>
              </a:tr>
              <a:tr h="590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S3 Bucket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 folder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my-dev-bucket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my-prod-bucket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7785857"/>
                  </a:ext>
                </a:extLst>
              </a:tr>
              <a:tr h="590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Redshift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 SQLite / skip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dev-cluster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prod-cluster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197445"/>
                  </a:ext>
                </a:extLst>
              </a:tr>
              <a:tr h="590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Logs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CloudWatch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CloudWatch + 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706602"/>
                  </a:ext>
                </a:extLst>
              </a:tr>
              <a:tr h="590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Volume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177479"/>
                  </a:ext>
                </a:extLst>
              </a:tr>
              <a:tr h="590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Credentials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 ~/.aws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IAM role (dev)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IAM role (prod)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108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133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E19F-985C-BC9F-5BEE-49DEC7BE3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Different Environments?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E08400-9510-CFCA-7136-E09F561807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4"/>
            <a:ext cx="772198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production data corruption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incremental features safely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pipeline behavior before release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CI/CD automation and rollbacks</a:t>
            </a:r>
          </a:p>
        </p:txBody>
      </p:sp>
    </p:spTree>
    <p:extLst>
      <p:ext uri="{BB962C8B-B14F-4D97-AF65-F5344CB8AC3E}">
        <p14:creationId xmlns:p14="http://schemas.microsoft.com/office/powerpoint/2010/main" val="2630305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F635-AAA3-D7F6-74DD-07777C8E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Config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24254-742E-06AD-1E0A-9DE3B5E40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"local": {"s3_path": "data/output/"},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"dev": {"s3_path": "s3://dev-bucket/data/"},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"prod": {"s3_path": "s3://prod-bucket/data/"}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19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DAC7-008B-1404-73FF-089AFE7A1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042736"/>
          </a:xfrm>
        </p:spPr>
        <p:txBody>
          <a:bodyPr/>
          <a:lstStyle/>
          <a:p>
            <a:r>
              <a:rPr lang="en-IN" b="1" dirty="0"/>
              <a:t>Switching Environments in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C4D66-9198-49BA-7265-F7FAFC230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786063"/>
            <a:ext cx="11000874" cy="5390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</a:t>
            </a:r>
            <a:r>
              <a:rPr lang="en-IN" dirty="0" err="1">
                <a:solidFill>
                  <a:schemeClr val="accent6"/>
                </a:solidFill>
              </a:rPr>
              <a:t>json</a:t>
            </a:r>
            <a:r>
              <a:rPr lang="en-IN" dirty="0">
                <a:solidFill>
                  <a:schemeClr val="accent6"/>
                </a:solidFill>
              </a:rPr>
              <a:t>, </a:t>
            </a:r>
            <a:r>
              <a:rPr lang="en-IN" dirty="0" err="1">
                <a:solidFill>
                  <a:schemeClr val="accent6"/>
                </a:solidFill>
              </a:rPr>
              <a:t>os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env = </a:t>
            </a:r>
            <a:r>
              <a:rPr lang="en-IN" dirty="0" err="1">
                <a:solidFill>
                  <a:schemeClr val="accent6"/>
                </a:solidFill>
              </a:rPr>
              <a:t>os.getenv</a:t>
            </a:r>
            <a:r>
              <a:rPr lang="en-IN" dirty="0">
                <a:solidFill>
                  <a:schemeClr val="accent6"/>
                </a:solidFill>
              </a:rPr>
              <a:t>("ENV", "local")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with open("</a:t>
            </a:r>
            <a:r>
              <a:rPr lang="en-IN" dirty="0" err="1">
                <a:solidFill>
                  <a:schemeClr val="accent6"/>
                </a:solidFill>
              </a:rPr>
              <a:t>config.json</a:t>
            </a:r>
            <a:r>
              <a:rPr lang="en-IN" dirty="0">
                <a:solidFill>
                  <a:schemeClr val="accent6"/>
                </a:solidFill>
              </a:rPr>
              <a:t>") as f: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</a:t>
            </a:r>
            <a:r>
              <a:rPr lang="en-IN" dirty="0" err="1">
                <a:solidFill>
                  <a:schemeClr val="accent6"/>
                </a:solidFill>
              </a:rPr>
              <a:t>cfg</a:t>
            </a:r>
            <a:r>
              <a:rPr lang="en-IN" dirty="0">
                <a:solidFill>
                  <a:schemeClr val="accent6"/>
                </a:solidFill>
              </a:rPr>
              <a:t> = </a:t>
            </a:r>
            <a:r>
              <a:rPr lang="en-IN" dirty="0" err="1">
                <a:solidFill>
                  <a:schemeClr val="accent6"/>
                </a:solidFill>
              </a:rPr>
              <a:t>json.load</a:t>
            </a:r>
            <a:r>
              <a:rPr lang="en-IN" dirty="0">
                <a:solidFill>
                  <a:schemeClr val="accent6"/>
                </a:solidFill>
              </a:rPr>
              <a:t>(f)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</a:t>
            </a:r>
            <a:r>
              <a:rPr lang="en-IN" dirty="0" err="1">
                <a:solidFill>
                  <a:schemeClr val="accent6"/>
                </a:solidFill>
              </a:rPr>
              <a:t>f"Running</a:t>
            </a:r>
            <a:r>
              <a:rPr lang="en-IN" dirty="0">
                <a:solidFill>
                  <a:schemeClr val="accent6"/>
                </a:solidFill>
              </a:rPr>
              <a:t> in {</a:t>
            </a:r>
            <a:r>
              <a:rPr lang="en-IN" dirty="0" err="1">
                <a:solidFill>
                  <a:schemeClr val="accent6"/>
                </a:solidFill>
              </a:rPr>
              <a:t>env.upper</a:t>
            </a:r>
            <a:r>
              <a:rPr lang="en-IN" dirty="0">
                <a:solidFill>
                  <a:schemeClr val="accent6"/>
                </a:solidFill>
              </a:rPr>
              <a:t>()} mode")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print("S3 Path:", </a:t>
            </a:r>
            <a:r>
              <a:rPr lang="en-IN" dirty="0" err="1">
                <a:solidFill>
                  <a:schemeClr val="accent6"/>
                </a:solidFill>
              </a:rPr>
              <a:t>cfg</a:t>
            </a:r>
            <a:r>
              <a:rPr lang="en-IN" dirty="0">
                <a:solidFill>
                  <a:schemeClr val="accent6"/>
                </a:solidFill>
              </a:rPr>
              <a:t>[env]["s3_path"])</a:t>
            </a:r>
          </a:p>
          <a:p>
            <a:pPr marL="0" indent="0">
              <a:buNone/>
            </a:pPr>
            <a:r>
              <a:rPr lang="en-IN" dirty="0"/>
              <a:t>Set environment dynamically: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set ENV=prod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93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5B73C-9F44-D1D2-1AB0-BA653DDB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11" y="557630"/>
            <a:ext cx="10515600" cy="1325563"/>
          </a:xfrm>
        </p:spPr>
        <p:txBody>
          <a:bodyPr/>
          <a:lstStyle/>
          <a:p>
            <a:r>
              <a:rPr lang="en-IN" b="1" dirty="0"/>
              <a:t>Real Workflow Example: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69D97D-DBA6-F6EA-3285-871C75CFC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008342"/>
              </p:ext>
            </p:extLst>
          </p:nvPr>
        </p:nvGraphicFramePr>
        <p:xfrm>
          <a:off x="838200" y="2232660"/>
          <a:ext cx="81280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9530123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767290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71109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23218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034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50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Fetch S3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from disk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from dev 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from prod 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526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Trigger Step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65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 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console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CloudWatch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CloudWatch + SNS alert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64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164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11D7-DCC5-F06A-D8F3-4ADDA7F18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Handling Sensitive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0CBD3-A70B-DC84-2A34-343BBE4B1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Never keep prod credentials in local machine</a:t>
            </a:r>
          </a:p>
          <a:p>
            <a:r>
              <a:rPr lang="en-US" dirty="0"/>
              <a:t>Use </a:t>
            </a:r>
            <a:r>
              <a:rPr lang="en-US" b="1" dirty="0"/>
              <a:t>IAM roles</a:t>
            </a:r>
            <a:r>
              <a:rPr lang="en-US" dirty="0"/>
              <a:t> or </a:t>
            </a:r>
            <a:r>
              <a:rPr lang="en-US" b="1" dirty="0"/>
              <a:t>AWS Secrets Manager</a:t>
            </a:r>
            <a:endParaRPr lang="en-US" dirty="0"/>
          </a:p>
          <a:p>
            <a:r>
              <a:rPr lang="en-US" dirty="0"/>
              <a:t>Separate KMS keys per environment</a:t>
            </a:r>
          </a:p>
          <a:p>
            <a:r>
              <a:rPr lang="en-US" dirty="0"/>
              <a:t>Always test changes in dev first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02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24EDA-5AA1-97B5-6833-417D3372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 Example — S3 Path Logic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F0348-3E3F-229F-DC5E-9F82B0130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if env == "local":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path = "data/output/"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elif</a:t>
            </a:r>
            <a:r>
              <a:rPr lang="en-US" dirty="0">
                <a:solidFill>
                  <a:schemeClr val="accent6"/>
                </a:solidFill>
              </a:rPr>
              <a:t> env == "dev":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path = "s3://my-dev-bucket/output/"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else: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path = "s3://my-prod-bucket/output/"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print("Data will be saved to:", path)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006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0916-1D5D-4537-55D4-892C0D82E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140D2-9655-7E59-CE8F-374B40463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✅ Local → for coding and debugging</a:t>
            </a:r>
            <a:br>
              <a:rPr lang="en-IN"/>
            </a:br>
            <a:r>
              <a:rPr lang="en-IN"/>
              <a:t>✅ Dev → for testing in AWS</a:t>
            </a:r>
            <a:br>
              <a:rPr lang="en-IN"/>
            </a:br>
            <a:r>
              <a:rPr lang="en-IN"/>
              <a:t>✅ Prod → for live data and pipelines</a:t>
            </a:r>
            <a:br>
              <a:rPr lang="en-IN"/>
            </a:br>
            <a:r>
              <a:rPr lang="en-IN"/>
              <a:t>✅ Use configs and env vars to isolate safely</a:t>
            </a:r>
            <a:br>
              <a:rPr lang="en-IN"/>
            </a:br>
            <a:r>
              <a:rPr lang="en-IN"/>
              <a:t>✅ CI/CD ensures consistent promotion between stages</a:t>
            </a:r>
          </a:p>
        </p:txBody>
      </p:sp>
    </p:spTree>
    <p:extLst>
      <p:ext uri="{BB962C8B-B14F-4D97-AF65-F5344CB8AC3E}">
        <p14:creationId xmlns:p14="http://schemas.microsoft.com/office/powerpoint/2010/main" val="390857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Local vs Dev vs Prod — What Changes?</vt:lpstr>
      <vt:lpstr>What Are These Environments?</vt:lpstr>
      <vt:lpstr>Key Differences</vt:lpstr>
      <vt:lpstr>Why Use Different Environments?</vt:lpstr>
      <vt:lpstr>Example — Config Differences</vt:lpstr>
      <vt:lpstr>Switching Environments in Code</vt:lpstr>
      <vt:lpstr>Real Workflow Example:</vt:lpstr>
      <vt:lpstr>Handling Sensitive Data</vt:lpstr>
      <vt:lpstr>Real Example — S3 Path Logic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2025-11-06T09:38:12Z</dcterms:created>
  <dcterms:modified xsi:type="dcterms:W3CDTF">2025-11-06T09:38:35Z</dcterms:modified>
</cp:coreProperties>
</file>