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5A606-659C-B865-C563-F628AD042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F4557-91CD-1BA3-8AD1-D15D7ED49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8213B-845E-774F-DF41-34A6FD82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103-1410-49C8-9C00-D5DADD76C3D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788B4-C813-9D79-CC6C-CB5BAEC29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88280-7766-A4F2-1654-ECF1621A2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3E55-E5F0-400B-9B0C-13C201D37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650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FAEEE-E06A-943E-7846-43F16545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1F6E-5360-C6F8-BC72-D2C88BB02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3BA0E-8CB7-D943-C880-75336965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103-1410-49C8-9C00-D5DADD76C3D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8F97E-1D03-3C8B-5C8A-B2159BC3B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FF4B-2F8F-16CB-A5F2-0B164C1C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3E55-E5F0-400B-9B0C-13C201D37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28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7F55D-1717-279D-9DDA-4C5C92817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D5664-890B-F8E8-A309-84203CC84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52FDE-56A0-209F-CA1E-49C764B9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103-1410-49C8-9C00-D5DADD76C3D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F5BC9-630D-47CA-E7AD-558958849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7DEE4-2D50-EB93-E1B7-F37F4FB4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3E55-E5F0-400B-9B0C-13C201D37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501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9686B-071E-1A3F-7EA4-89B7DCB8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FF100-5278-5CD2-C3B5-E46424070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69888-ABC7-AC52-9081-B5F4B6D9A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E7620-8754-C41A-D685-74173791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103-1410-49C8-9C00-D5DADD76C3D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4FF50-6530-1C47-9F2A-87A23AA71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49D73-8A3B-4B0A-734D-EDFFAF5D2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3E55-E5F0-400B-9B0C-13C201D37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652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88210-C846-9BCD-BCEC-26C3EDEC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30D86-0063-114D-D254-815F9C13D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56F42-1558-A683-E220-83C33EEFF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047E6-C4A3-D256-A86B-0B6CF5555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2DFE3-66BB-26AD-B52F-6A57D64B9E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5DFAE4-3CFD-9460-A321-1DA527997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103-1410-49C8-9C00-D5DADD76C3D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CB6DF0-3CDD-8807-E0F8-23C7C560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B71EF6-5B17-0251-A62B-A785EDC1F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3E55-E5F0-400B-9B0C-13C201D37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95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6595-9457-A512-29CB-0FC756AE3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E5D7E2-ED44-FB06-84E9-FD6D395AC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103-1410-49C8-9C00-D5DADD76C3D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7A1F1E-1842-7F5C-9B9A-219AC3539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B494F-2523-00A7-B411-C74C7DFA4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3E55-E5F0-400B-9B0C-13C201D37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70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240FB-7E81-9CEE-F9DF-8502BCDE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103-1410-49C8-9C00-D5DADD76C3D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06437-585C-A48E-8285-8C6E1B79E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6C035-1E3E-B862-7A95-183D6F1B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3E55-E5F0-400B-9B0C-13C201D37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722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97BC-DF25-51FB-9127-5C3EC0A4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6F47B-95DE-3CD3-F6AC-F456FD26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E957E-85B7-1371-D1F6-0A65BB7F8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5F090-51F0-39D0-BD6C-43AEC4AF4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103-1410-49C8-9C00-D5DADD76C3D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556B2-DABD-E7BE-0683-ACF69AA86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C39AC-A8FD-D581-C0CF-A608B34DF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3E55-E5F0-400B-9B0C-13C201D37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825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01FC-FBFB-057C-87E6-DF109EE9A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CB198-8762-BDB3-908D-19C63A10E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0103E-7C1C-0A49-11FC-F205A292B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EA42F-8592-4CDC-CD8E-367C610AB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103-1410-49C8-9C00-D5DADD76C3D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E5E29-EF32-32FA-8EE9-5A02C5FA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3F786-7CA3-480A-FA6D-725D10F0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3E55-E5F0-400B-9B0C-13C201D37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348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9FED-1375-F18C-0D6B-E59C61202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B824F-3BCF-8A7E-29D9-50EB0F939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DB4E8-1D2B-8815-EFBD-26AEEE4B7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103-1410-49C8-9C00-D5DADD76C3D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8185E-76F8-5993-B94B-8BC9E99C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4D302-A236-C406-04AA-A9F26C27B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3E55-E5F0-400B-9B0C-13C201D37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24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107CC-4C42-8DAF-B5FC-F436167D2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B815A-724E-1EC9-D4C6-8587AFAD4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C5778-2F39-C7FB-F600-CE43BA344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103-1410-49C8-9C00-D5DADD76C3D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BBAB9-3FE1-0DA7-4F5D-ED06BE77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E3D2-0B83-5338-A5FE-94C3F4FE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3E55-E5F0-400B-9B0C-13C201D37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48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89F81-113C-E497-FF96-D44B1081A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07BD5-18FD-E972-1EFD-31CBF5DDA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F727E-8109-1706-CF08-1B3B85CFC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E4103-1410-49C8-9C00-D5DADD76C3D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944F9-1D1C-7D88-5C63-E6FFEBE100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5A187-CB6D-ABE6-64EA-3CCA92ADB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63E55-E5F0-400B-9B0C-13C201D37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46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8F881-E0DE-1F96-6325-00C31F7E0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937" y="317417"/>
            <a:ext cx="9930063" cy="16557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“Data Validation Tests (Row Count, Schema, Null Handling)”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BC5A8-8B85-173E-B493-EED080114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305" y="2229853"/>
            <a:ext cx="10170695" cy="3027947"/>
          </a:xfrm>
        </p:spPr>
        <p:txBody>
          <a:bodyPr/>
          <a:lstStyle/>
          <a:p>
            <a:pPr algn="l"/>
            <a:r>
              <a:rPr lang="en-US" b="1" dirty="0"/>
              <a:t>What Is Data Validation?</a:t>
            </a:r>
          </a:p>
          <a:p>
            <a:pPr algn="l"/>
            <a:r>
              <a:rPr lang="en-US" dirty="0"/>
              <a:t>Data validation ensures that </a:t>
            </a:r>
            <a:r>
              <a:rPr lang="en-US" b="1" dirty="0"/>
              <a:t>data moved through a pipeline</a:t>
            </a:r>
            <a:r>
              <a:rPr lang="en-US" dirty="0"/>
              <a:t> is complete, accurate, and formatted correctly.</a:t>
            </a:r>
            <a:br>
              <a:rPr lang="en-US" dirty="0"/>
            </a:br>
            <a:r>
              <a:rPr lang="en-US" dirty="0"/>
              <a:t>It verifies both the </a:t>
            </a:r>
            <a:r>
              <a:rPr lang="en-US" b="1" dirty="0"/>
              <a:t>structure (schema)</a:t>
            </a:r>
            <a:r>
              <a:rPr lang="en-US" dirty="0"/>
              <a:t> and </a:t>
            </a:r>
            <a:r>
              <a:rPr lang="en-US" b="1" dirty="0"/>
              <a:t>content (values)</a:t>
            </a:r>
            <a:r>
              <a:rPr lang="en-US" dirty="0"/>
              <a:t> of data.</a:t>
            </a:r>
          </a:p>
          <a:p>
            <a:pPr algn="l"/>
            <a:r>
              <a:rPr lang="en-US" dirty="0"/>
              <a:t>These are the </a:t>
            </a:r>
            <a:r>
              <a:rPr lang="en-US" b="1" dirty="0"/>
              <a:t>tests you run before and after ETL</a:t>
            </a:r>
            <a:r>
              <a:rPr lang="en-US" dirty="0"/>
              <a:t> — to ensure that your data is </a:t>
            </a:r>
            <a:r>
              <a:rPr lang="en-US" i="1" dirty="0"/>
              <a:t>complete, clean, and consistent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They’re the backbone of data reliability across Glue, Redshift, and S3 pipelines.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9371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B960E-BD5C-CD0D-3A72-F1E42A1E3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Data Validation?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911A37-66BF-2156-2703-328FBBD410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9811" y="2078680"/>
            <a:ext cx="1029090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data loss and corruption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missing, duplicate, or invalid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reports and dashboards show correct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 trust in your data warehouse</a:t>
            </a:r>
          </a:p>
        </p:txBody>
      </p:sp>
    </p:spTree>
    <p:extLst>
      <p:ext uri="{BB962C8B-B14F-4D97-AF65-F5344CB8AC3E}">
        <p14:creationId xmlns:p14="http://schemas.microsoft.com/office/powerpoint/2010/main" val="1516985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9D29B-34DD-D9F5-470F-8091718A2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Validation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EFDFB0-B872-FD34-1831-4392A76681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516334"/>
              </p:ext>
            </p:extLst>
          </p:nvPr>
        </p:nvGraphicFramePr>
        <p:xfrm>
          <a:off x="561474" y="1825624"/>
          <a:ext cx="10792323" cy="3372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7441">
                  <a:extLst>
                    <a:ext uri="{9D8B030D-6E8A-4147-A177-3AD203B41FA5}">
                      <a16:colId xmlns:a16="http://schemas.microsoft.com/office/drawing/2014/main" val="1378254490"/>
                    </a:ext>
                  </a:extLst>
                </a:gridCol>
                <a:gridCol w="3597441">
                  <a:extLst>
                    <a:ext uri="{9D8B030D-6E8A-4147-A177-3AD203B41FA5}">
                      <a16:colId xmlns:a16="http://schemas.microsoft.com/office/drawing/2014/main" val="3587149737"/>
                    </a:ext>
                  </a:extLst>
                </a:gridCol>
                <a:gridCol w="3597441">
                  <a:extLst>
                    <a:ext uri="{9D8B030D-6E8A-4147-A177-3AD203B41FA5}">
                      <a16:colId xmlns:a16="http://schemas.microsoft.com/office/drawing/2014/main" val="1828260136"/>
                    </a:ext>
                  </a:extLst>
                </a:gridCol>
              </a:tblGrid>
              <a:tr h="713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Validation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150343"/>
                  </a:ext>
                </a:extLst>
              </a:tr>
              <a:tr h="713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Row Count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all records moved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len(src) == len(tgt)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721772"/>
                  </a:ext>
                </a:extLst>
              </a:tr>
              <a:tr h="1231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Schema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Ensure columns 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set(src.columns) == set(tgt.columns)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705154"/>
                  </a:ext>
                </a:extLst>
              </a:tr>
              <a:tr h="713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Null Handling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missing critical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df.isnull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().sum()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227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07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65E0-03C2-9641-A47D-9481F7F0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Typical Flow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4A88D-17CF-D468-A6E2-CBA4159BB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Extract → Transform → Load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   ↓    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Validate Rows  Validate Schema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Validation can run after ETL jobs or as part of CI/CD testing.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878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17C6-4A38-8547-5ECA-924D079F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Row Count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C8658-0151-1706-B925-1A84FAB38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assert </a:t>
            </a:r>
            <a:r>
              <a:rPr lang="en-US" dirty="0" err="1">
                <a:solidFill>
                  <a:schemeClr val="accent6"/>
                </a:solidFill>
              </a:rPr>
              <a:t>len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source_df</a:t>
            </a:r>
            <a:r>
              <a:rPr lang="en-US" dirty="0">
                <a:solidFill>
                  <a:schemeClr val="accent6"/>
                </a:solidFill>
              </a:rPr>
              <a:t>) == </a:t>
            </a:r>
            <a:r>
              <a:rPr lang="en-US" dirty="0" err="1">
                <a:solidFill>
                  <a:schemeClr val="accent6"/>
                </a:solidFill>
              </a:rPr>
              <a:t>len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target_df</a:t>
            </a:r>
            <a:r>
              <a:rPr lang="en-US" dirty="0">
                <a:solidFill>
                  <a:schemeClr val="accent6"/>
                </a:solidFill>
              </a:rPr>
              <a:t>), "Row count mismatch!"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Confirms all records from source reached the target.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3063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C7D2D-A2D4-3620-0003-536FBC9D3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Schema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7ACBB-B401-F4B7-7A9C-F36C8D7E7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assert set(</a:t>
            </a:r>
            <a:r>
              <a:rPr lang="en-IN" dirty="0" err="1">
                <a:solidFill>
                  <a:schemeClr val="accent6"/>
                </a:solidFill>
              </a:rPr>
              <a:t>source_df.columns</a:t>
            </a:r>
            <a:r>
              <a:rPr lang="en-IN" dirty="0">
                <a:solidFill>
                  <a:schemeClr val="accent6"/>
                </a:solidFill>
              </a:rPr>
              <a:t>) == set(</a:t>
            </a:r>
            <a:r>
              <a:rPr lang="en-IN" dirty="0" err="1">
                <a:solidFill>
                  <a:schemeClr val="accent6"/>
                </a:solidFill>
              </a:rPr>
              <a:t>target_df.columns</a:t>
            </a:r>
            <a:r>
              <a:rPr lang="en-IN" dirty="0">
                <a:solidFill>
                  <a:schemeClr val="accent6"/>
                </a:solidFill>
              </a:rPr>
              <a:t>), "Schema mismatch!"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✅ Ensures structure consistency after transformation or load.</a:t>
            </a:r>
          </a:p>
        </p:txBody>
      </p:sp>
    </p:spTree>
    <p:extLst>
      <p:ext uri="{BB962C8B-B14F-4D97-AF65-F5344CB8AC3E}">
        <p14:creationId xmlns:p14="http://schemas.microsoft.com/office/powerpoint/2010/main" val="671484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BAF9-23CA-2875-BE8A-6A159B667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Null Handling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8411F-99E1-9A74-F5C1-3145D3C73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assert </a:t>
            </a:r>
            <a:r>
              <a:rPr lang="en-US" dirty="0" err="1">
                <a:solidFill>
                  <a:schemeClr val="accent6"/>
                </a:solidFill>
              </a:rPr>
              <a:t>df</a:t>
            </a:r>
            <a:r>
              <a:rPr lang="en-US" dirty="0">
                <a:solidFill>
                  <a:schemeClr val="accent6"/>
                </a:solidFill>
              </a:rPr>
              <a:t>["price"].</a:t>
            </a:r>
            <a:r>
              <a:rPr lang="en-US" dirty="0" err="1">
                <a:solidFill>
                  <a:schemeClr val="accent6"/>
                </a:solidFill>
              </a:rPr>
              <a:t>notnull</a:t>
            </a:r>
            <a:r>
              <a:rPr lang="en-US" dirty="0">
                <a:solidFill>
                  <a:schemeClr val="accent6"/>
                </a:solidFill>
              </a:rPr>
              <a:t>().all(), "Null prices found!"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Checks for missing mandatory fields before loading to target.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030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526F-95AB-E925-3AE1-E9D356DD8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Handling Failures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0AF092-BE8A-CE5A-3A4E-70CCB825A9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1474" y="1792535"/>
            <a:ext cx="895891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failed validation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 alerts (email, Slack, SNS)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Skip downstream steps until data is fixed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validation logs in S3</a:t>
            </a:r>
          </a:p>
        </p:txBody>
      </p:sp>
    </p:spTree>
    <p:extLst>
      <p:ext uri="{BB962C8B-B14F-4D97-AF65-F5344CB8AC3E}">
        <p14:creationId xmlns:p14="http://schemas.microsoft.com/office/powerpoint/2010/main" val="32593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096C2-B449-1A08-C422-45062F419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7DF5-F4AA-2BD4-6F04-585A5FFB8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Glue job merges shipment + forecast data</a:t>
            </a:r>
          </a:p>
          <a:p>
            <a:r>
              <a:rPr lang="en-US" dirty="0"/>
              <a:t>Row count validation ensures completeness</a:t>
            </a:r>
          </a:p>
          <a:p>
            <a:r>
              <a:rPr lang="en-US" dirty="0"/>
              <a:t>Schema validation checks column order</a:t>
            </a:r>
          </a:p>
          <a:p>
            <a:r>
              <a:rPr lang="en-US" dirty="0"/>
              <a:t>Null handling prevents Redshift load errors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083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3D0F7-6E02-564A-0A71-EE289647B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515A7-D168-650F-B1DE-078540D0F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✅ Validation = “data quality insurance”</a:t>
            </a:r>
            <a:br>
              <a:rPr lang="en-US"/>
            </a:br>
            <a:r>
              <a:rPr lang="en-US"/>
              <a:t>✅ Run tests after every ETL stage</a:t>
            </a:r>
            <a:br>
              <a:rPr lang="en-US"/>
            </a:br>
            <a:r>
              <a:rPr lang="en-US"/>
              <a:t>✅ Automate checks in pipelines</a:t>
            </a:r>
            <a:br>
              <a:rPr lang="en-US"/>
            </a:br>
            <a:r>
              <a:rPr lang="en-US"/>
              <a:t>✅ Critical for production data governance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579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“Data Validation Tests (Row Count, Schema, Null Handling)”</vt:lpstr>
      <vt:lpstr>Why Data Validation?</vt:lpstr>
      <vt:lpstr>Key Validation Types</vt:lpstr>
      <vt:lpstr>Typical Flow </vt:lpstr>
      <vt:lpstr>Row Count Validation</vt:lpstr>
      <vt:lpstr>Schema Validation</vt:lpstr>
      <vt:lpstr>Null Handling Validation</vt:lpstr>
      <vt:lpstr>Handling Failures </vt:lpstr>
      <vt:lpstr>Real-World 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2025-11-08T09:31:39Z</dcterms:created>
  <dcterms:modified xsi:type="dcterms:W3CDTF">2025-11-08T09:31:50Z</dcterms:modified>
</cp:coreProperties>
</file>