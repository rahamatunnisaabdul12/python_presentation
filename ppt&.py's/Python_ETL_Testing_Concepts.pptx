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48D3D-9F83-7A9D-51FC-710F9DBA65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A0ACE8-B93F-BD7F-A194-72D80969D3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88395-9E61-106D-8655-37A2FA6F7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EA830-5A26-91C0-6210-0EDE66B6E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FED30C-2EB2-A122-718B-8716E5AFE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454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9ED77-3DD5-005A-0A3F-096F5B2A4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B98D2-4201-BFCA-B8C6-B0224D603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287F3-BC7A-81DC-7401-834C6F59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8FADF-8287-87B6-D02E-AD877EBE6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3975D-1B3A-48B0-05BD-F0B79411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507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31D80-8529-08F0-ACF9-89B01D378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ACBE2-16C8-BA88-D8D2-D2450B951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4ECD2-666C-DDF7-F293-7EB805FE7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B892A-AC71-7E75-5027-A7B0E8212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B480BB-C120-8BCC-CCCC-D9E5562B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45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DAE5A-BE25-578E-5AF2-211C0D758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1BD76-7DB6-F9FF-382D-38D32B8BC4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28632-2824-5DE2-30AE-DE0404FE9A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CBB68F-8F00-3C0B-5C80-165406A0E6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5D6A40-4E06-FDA1-F008-F9A6C3F9F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DD952-6CA5-3ED3-2172-0226ED58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612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8F4A7D-BAC6-A76E-F79D-F84B89B5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11467-A6EF-2F41-F4CB-A6547B49B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4655A0-D663-ACC7-6A25-98A5059AC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B447-69F1-3FC8-F97F-C6B3F565A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34B6BA-EF0D-5302-2617-EF46FA7936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FAFFD3-5FAB-C96E-3289-6C166C31D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96F2D6-33E5-8C1B-DEAA-1A3B7F77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A57FD-B47F-EC62-D46C-AAB6BC70C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278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E930-0E38-7909-1F97-33EDE172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7AD9C-9608-9B7F-CFD2-BD0C6C58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87DE88-6648-7424-A448-C98F60830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FEF5BF-27FD-4EFA-7497-73C6932AB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6974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27408-4438-3DF1-BBAE-CAA5B1F9F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22DBB4-AF9A-06C4-B159-89DB86F05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931D19-DA4F-6DB7-77D8-0F67623D1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7843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EE2E5-7104-3FA2-AF9A-F3159BC06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CC711-9649-A02B-3808-F6DD7C0E7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A3838-92E3-BB67-5834-F00750430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076742-B3B3-F380-A4F4-37B4019CC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953AD-A7EF-6799-7ACE-7EAAB8C7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27CCC7-1586-5676-32C5-C65513DF4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3352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8082B-4DA1-2D56-6026-ABAEE6132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83D066-94A7-7CD8-2AD6-C8C9CCCE09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06C50-71B3-C4F2-779D-7BD39E1323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277B3-8700-68C1-04E8-356602A52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BE679-18CB-7A33-C740-A74EF8A92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CFD792-C361-E4B5-8ED2-6DA90834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6185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59971-A2DD-CE0B-DB82-4F71B1818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A23C1-245C-33CE-EFCF-1C871B8F92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14F7C-9782-9082-630F-7A8CC448D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370DC-2C95-627F-3E0C-A42B363C3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86993-E528-F440-357C-B6FA46199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415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EC5A3-C3D2-9B16-D4B8-F88E5B5A6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BF71C0-4F1D-29CC-78C0-5DE7101FC3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11A8D9-B05D-A00F-D101-50582A36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006F5-E504-2353-E5A4-CD7AE5949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1446-A3EF-0CD7-8C49-C5925D6F4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366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077AF0-42AA-89C7-36AE-6F45B3FA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82E7B-6141-9323-EF94-D7C372E3E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3F931-44C0-C548-A14B-406AC98E0D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C3913-D663-4F75-8D7D-4068AEDA47FC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8A3EC-0352-81F7-13A8-AF1F7A31CA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C7583-BD51-6ED0-3914-1D1287E238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3F6A5-DCC2-4C6C-AC70-1B6D32CE90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44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47A6-4F55-7FB7-7699-886BEE9AC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91448"/>
          </a:xfrm>
        </p:spPr>
        <p:txBody>
          <a:bodyPr/>
          <a:lstStyle/>
          <a:p>
            <a:r>
              <a:rPr lang="en-IN" b="1" dirty="0"/>
              <a:t>“ETL Testing Concepts”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9620FC-D899-5820-12BF-B1FCE02F4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8568" y="2358189"/>
            <a:ext cx="9689432" cy="2899611"/>
          </a:xfrm>
        </p:spPr>
        <p:txBody>
          <a:bodyPr/>
          <a:lstStyle/>
          <a:p>
            <a:pPr algn="l"/>
            <a:r>
              <a:rPr lang="en-US" b="1" dirty="0"/>
              <a:t>ETL Testing — Overview</a:t>
            </a:r>
          </a:p>
          <a:p>
            <a:pPr algn="l"/>
            <a:r>
              <a:rPr lang="en-US" dirty="0"/>
              <a:t>ETL Testing ensures that data is:</a:t>
            </a:r>
          </a:p>
          <a:p>
            <a:pPr algn="l"/>
            <a:r>
              <a:rPr lang="en-US" dirty="0"/>
              <a:t>Extracted correctly from sources</a:t>
            </a:r>
          </a:p>
          <a:p>
            <a:pPr algn="l"/>
            <a:r>
              <a:rPr lang="en-US" dirty="0"/>
              <a:t>Transformed accurately according to business rules</a:t>
            </a:r>
          </a:p>
          <a:p>
            <a:pPr algn="l"/>
            <a:r>
              <a:rPr lang="en-US" dirty="0"/>
              <a:t>Loaded properly into the target system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4178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AD55-0DBE-30A6-77A9-16C47E3E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ETL Testing Matters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022CC5-457D-B8ED-D5BE-A6CEDFB226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9811" y="2292634"/>
            <a:ext cx="891553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Prevents data loss and corruption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data consistency between source and target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Validates transformation logic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Builds trust in reports and dashboards</a:t>
            </a:r>
          </a:p>
        </p:txBody>
      </p:sp>
    </p:spTree>
    <p:extLst>
      <p:ext uri="{BB962C8B-B14F-4D97-AF65-F5344CB8AC3E}">
        <p14:creationId xmlns:p14="http://schemas.microsoft.com/office/powerpoint/2010/main" val="799153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4C2A-F869-F73B-8843-A8092B2E8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ETL Process 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911FE-C54B-8BE6-DA99-8D228EAF6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Extract → Transform → Load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↓          ↓           ↓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Source    Business     Target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Systems     Rules      Warehouse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Each stage requires verification.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887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47D2E-27A6-7150-FC2F-E91CD7E7A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ETL Testing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18C843E-6288-5700-41B9-D765B3EAA9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125442"/>
              </p:ext>
            </p:extLst>
          </p:nvPr>
        </p:nvGraphicFramePr>
        <p:xfrm>
          <a:off x="545432" y="1825625"/>
          <a:ext cx="10808368" cy="32757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4184">
                  <a:extLst>
                    <a:ext uri="{9D8B030D-6E8A-4147-A177-3AD203B41FA5}">
                      <a16:colId xmlns:a16="http://schemas.microsoft.com/office/drawing/2014/main" val="4179027313"/>
                    </a:ext>
                  </a:extLst>
                </a:gridCol>
                <a:gridCol w="5404184">
                  <a:extLst>
                    <a:ext uri="{9D8B030D-6E8A-4147-A177-3AD203B41FA5}">
                      <a16:colId xmlns:a16="http://schemas.microsoft.com/office/drawing/2014/main" val="1469982166"/>
                    </a:ext>
                  </a:extLst>
                </a:gridCol>
              </a:tblGrid>
              <a:tr h="54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5170302"/>
                  </a:ext>
                </a:extLst>
              </a:tr>
              <a:tr h="54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Completeness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record counts match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4249757"/>
                  </a:ext>
                </a:extLst>
              </a:tr>
              <a:tr h="54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Accuracy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Validate transformations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5161678"/>
                  </a:ext>
                </a:extLst>
              </a:tr>
              <a:tr h="54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Data Integrity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Ensure keys/joins are correct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9848171"/>
                  </a:ext>
                </a:extLst>
              </a:tr>
              <a:tr h="54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Performance Testing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Verify job speed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0434684"/>
                  </a:ext>
                </a:extLst>
              </a:tr>
              <a:tr h="5459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Regression Testing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Confirm new changes don’t break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5748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5127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EEEBC-BA0D-EF6E-DA0F-1661C955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ETL Test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A5A5-6276-2A4D-1846-CBFFBF899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1️⃣ Identify source &amp; target datasets</a:t>
            </a:r>
            <a:br>
              <a:rPr lang="en-IN" dirty="0"/>
            </a:br>
            <a:r>
              <a:rPr lang="en-IN" dirty="0"/>
              <a:t>2️⃣ Define expected output (rules)</a:t>
            </a:r>
            <a:br>
              <a:rPr lang="en-IN" dirty="0"/>
            </a:br>
            <a:r>
              <a:rPr lang="en-IN" dirty="0"/>
              <a:t>3️⃣ Run ETL pipeline</a:t>
            </a:r>
            <a:br>
              <a:rPr lang="en-IN" dirty="0"/>
            </a:br>
            <a:r>
              <a:rPr lang="en-IN" dirty="0"/>
              <a:t>4️⃣ Validate with automated Python checks</a:t>
            </a:r>
            <a:br>
              <a:rPr lang="en-IN" dirty="0"/>
            </a:br>
            <a:r>
              <a:rPr lang="en-IN" dirty="0"/>
              <a:t>5️⃣ Log and report discrepancies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1359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3539-2D81-9EE9-6C4E-5563F1E2A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Completeness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727CA-48F2-6340-8AD2-1CBEA671F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assert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source_df</a:t>
            </a:r>
            <a:r>
              <a:rPr lang="en-US" dirty="0">
                <a:solidFill>
                  <a:schemeClr val="accent6"/>
                </a:solidFill>
              </a:rPr>
              <a:t>) == </a:t>
            </a:r>
            <a:r>
              <a:rPr lang="en-US" dirty="0" err="1">
                <a:solidFill>
                  <a:schemeClr val="accent6"/>
                </a:solidFill>
              </a:rPr>
              <a:t>len</a:t>
            </a:r>
            <a:r>
              <a:rPr lang="en-US" dirty="0">
                <a:solidFill>
                  <a:schemeClr val="accent6"/>
                </a:solidFill>
              </a:rPr>
              <a:t>(</a:t>
            </a:r>
            <a:r>
              <a:rPr lang="en-US" dirty="0" err="1">
                <a:solidFill>
                  <a:schemeClr val="accent6"/>
                </a:solidFill>
              </a:rPr>
              <a:t>target_df</a:t>
            </a:r>
            <a:r>
              <a:rPr lang="en-US" dirty="0">
                <a:solidFill>
                  <a:schemeClr val="accent6"/>
                </a:solidFill>
              </a:rPr>
              <a:t>), "Record count mismatch!"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Ensures all records are loaded correctly.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07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CB95C-0091-ED7E-CDA7-5A2CA87B2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Transformation Test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D4687-37C3-0251-5602-E0F3B983E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505" y="1090863"/>
            <a:ext cx="11790947" cy="50861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assert all(</a:t>
            </a:r>
            <a:r>
              <a:rPr lang="en-US" dirty="0" err="1">
                <a:solidFill>
                  <a:schemeClr val="accent6"/>
                </a:solidFill>
              </a:rPr>
              <a:t>target_df</a:t>
            </a:r>
            <a:r>
              <a:rPr lang="en-US" dirty="0">
                <a:solidFill>
                  <a:schemeClr val="accent6"/>
                </a:solidFill>
              </a:rPr>
              <a:t>["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"] == </a:t>
            </a:r>
            <a:r>
              <a:rPr lang="en-US" dirty="0" err="1">
                <a:solidFill>
                  <a:schemeClr val="accent6"/>
                </a:solidFill>
              </a:rPr>
              <a:t>source_df</a:t>
            </a:r>
            <a:r>
              <a:rPr lang="en-US" dirty="0">
                <a:solidFill>
                  <a:schemeClr val="accent6"/>
                </a:solidFill>
              </a:rPr>
              <a:t>["price"] * 0.012), "Incorrect transformation"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Verifies transformation logic matches business rule.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88490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A95A3-7D1E-9AB0-D804-BE48767AE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Integrity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6388D-F636-650F-8D7B-DB5B195FC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assert </a:t>
            </a:r>
            <a:r>
              <a:rPr lang="en-US" dirty="0" err="1">
                <a:solidFill>
                  <a:schemeClr val="accent6"/>
                </a:solidFill>
              </a:rPr>
              <a:t>target_df</a:t>
            </a:r>
            <a:r>
              <a:rPr lang="en-US" dirty="0">
                <a:solidFill>
                  <a:schemeClr val="accent6"/>
                </a:solidFill>
              </a:rPr>
              <a:t>["</a:t>
            </a:r>
            <a:r>
              <a:rPr lang="en-US" dirty="0" err="1">
                <a:solidFill>
                  <a:schemeClr val="accent6"/>
                </a:solidFill>
              </a:rPr>
              <a:t>order_id</a:t>
            </a:r>
            <a:r>
              <a:rPr lang="en-US" dirty="0">
                <a:solidFill>
                  <a:schemeClr val="accent6"/>
                </a:solidFill>
              </a:rPr>
              <a:t>"].</a:t>
            </a:r>
            <a:r>
              <a:rPr lang="en-US" dirty="0" err="1">
                <a:solidFill>
                  <a:schemeClr val="accent6"/>
                </a:solidFill>
              </a:rPr>
              <a:t>is_unique</a:t>
            </a:r>
            <a:r>
              <a:rPr lang="en-US" dirty="0">
                <a:solidFill>
                  <a:schemeClr val="accent6"/>
                </a:solidFill>
              </a:rPr>
              <a:t>, "Duplicate order IDs found"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Ensures uniqueness and key constraints.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6441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9D3C8-9CF0-4422-D8A7-02987DBBB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06239-CB63-7B8F-FAD2-3950D189B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600" dirty="0"/>
              <a:t>✅ Use test datasets (mock CSVs or S3 JSONs)</a:t>
            </a:r>
            <a:br>
              <a:rPr lang="en-US" sz="3600" dirty="0"/>
            </a:br>
            <a:r>
              <a:rPr lang="en-US" sz="3600" dirty="0"/>
              <a:t>✅ Log all test results</a:t>
            </a:r>
            <a:br>
              <a:rPr lang="en-US" sz="3600" dirty="0"/>
            </a:br>
            <a:r>
              <a:rPr lang="en-US" sz="3600" dirty="0"/>
              <a:t>✅ Automate ETL tests with </a:t>
            </a:r>
            <a:r>
              <a:rPr lang="en-US" sz="3600" dirty="0" err="1"/>
              <a:t>pytest</a:t>
            </a:r>
            <a:r>
              <a:rPr lang="en-US" sz="3600" dirty="0"/>
              <a:t> or CI/CD pipelines</a:t>
            </a:r>
            <a:br>
              <a:rPr lang="en-US" sz="3600" dirty="0"/>
            </a:br>
            <a:r>
              <a:rPr lang="en-US" sz="3600" dirty="0"/>
              <a:t>✅ Separate test configs from production data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384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2F54F-00EA-BACE-36FE-20E48C7A9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011E73-A2B7-2B64-90D7-E0F2F57FAC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/>
              <a:t>✅ ETL testing ensures pipeline correctness</a:t>
            </a:r>
            <a:br>
              <a:rPr lang="en-IN"/>
            </a:br>
            <a:r>
              <a:rPr lang="en-IN"/>
              <a:t>✅ Test for accuracy, completeness, integrity</a:t>
            </a:r>
            <a:br>
              <a:rPr lang="en-IN"/>
            </a:br>
            <a:r>
              <a:rPr lang="en-IN"/>
              <a:t>✅ Automate checks using Python</a:t>
            </a:r>
            <a:br>
              <a:rPr lang="en-IN"/>
            </a:br>
            <a:r>
              <a:rPr lang="en-IN"/>
              <a:t>✅ Foundation of reliable data pipelines</a:t>
            </a:r>
          </a:p>
        </p:txBody>
      </p:sp>
    </p:spTree>
    <p:extLst>
      <p:ext uri="{BB962C8B-B14F-4D97-AF65-F5344CB8AC3E}">
        <p14:creationId xmlns:p14="http://schemas.microsoft.com/office/powerpoint/2010/main" val="4143842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Widescreen</PresentationFormat>
  <Paragraphs>50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“ETL Testing Concepts”</vt:lpstr>
      <vt:lpstr>Why ETL Testing Matters</vt:lpstr>
      <vt:lpstr>ETL Process Recap</vt:lpstr>
      <vt:lpstr>Types of ETL Testing</vt:lpstr>
      <vt:lpstr>ETL Test Flow</vt:lpstr>
      <vt:lpstr>Example — Completeness Test</vt:lpstr>
      <vt:lpstr>Example — Transformation Test </vt:lpstr>
      <vt:lpstr>Example — Integrity Test</vt:lpstr>
      <vt:lpstr>Best Practices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2025-11-08T05:46:14Z</dcterms:created>
  <dcterms:modified xsi:type="dcterms:W3CDTF">2025-11-08T05:46:29Z</dcterms:modified>
</cp:coreProperties>
</file>