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CFC4-3C3D-F3E4-8A51-452C976CF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EA21E-296C-40B4-9C6E-8E75A2576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E6F20-36F7-E3CD-984C-3E53DF958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2A12-4C09-420F-9D3E-EDA347DAB88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F7876-20AA-3FF3-A971-E21DD7CFE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847FF-EA09-6742-95BB-A620D72A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A773-221A-430F-8C81-24D6C3256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41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13E2D-A886-F768-918F-24A940FF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BD967-BBA6-3B00-D07E-3CDF1A2E2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E8AE6-46F3-680A-A9BC-11859D3CC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2A12-4C09-420F-9D3E-EDA347DAB88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90B56-C717-42B1-9493-04E986FDE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AF8C8-4DDA-B579-FA54-9F20574F0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A773-221A-430F-8C81-24D6C3256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02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BDD4C-74E0-5DDA-4305-8D20D555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B9049-4E8C-DA59-5623-22FB3870D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4D0DC-7642-A84F-8380-72D4CE7F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2A12-4C09-420F-9D3E-EDA347DAB88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F40E2-8CE5-C465-2F8D-261D8498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C2097-EB60-C94D-7D33-F3A2056E2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A773-221A-430F-8C81-24D6C3256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49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A2FDB-E45F-BDD9-0BE8-CA06063B7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00B1-CEE3-92E3-006A-B85F29B307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56328-FB89-31BD-150C-0A118BAE2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0DC4B-6B82-E7A7-1AC6-9337EECF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2A12-4C09-420F-9D3E-EDA347DAB88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0F49B-E44C-9337-18A6-482A22373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472E-A6FC-D15A-88D3-AA9A5069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A773-221A-430F-8C81-24D6C3256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644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135D8-6DCA-4BB7-0C97-DA4207BC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65091-6BAA-D657-8AA6-837AF9DB4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81777-4121-5C53-AC11-555D4ADB3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3755A-EDFF-AD41-C281-360AFB7D4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8BAF3-8EF1-B531-0B79-C5B029162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0D238-94CE-C482-4FBA-06AEE0F8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2A12-4C09-420F-9D3E-EDA347DAB88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ABCFC9-1D4A-B8D3-3B63-86D18097B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46773-9AB2-0F5A-1EB3-F30B3492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A773-221A-430F-8C81-24D6C3256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199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834C-985B-697D-A6AC-98D18D512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46EE8B-DFD9-C820-CC6C-E3C8E9A21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2A12-4C09-420F-9D3E-EDA347DAB88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C9315-2407-3192-862C-3711272C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2BAAB-1318-3FE7-8D26-80E70761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A773-221A-430F-8C81-24D6C3256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85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2BD10-151D-0E9D-C69C-C1081531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2A12-4C09-420F-9D3E-EDA347DAB88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E3068-34AE-09FE-B0FB-DF4341B3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47E17-9AD3-3DCB-0DDF-E6684117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A773-221A-430F-8C81-24D6C3256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7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985C-2FD4-7600-7B6C-25E077042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5AFD8-4003-C97E-D66F-9FB206A26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3DEB6-C9F9-44A7-6DAB-902111E93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070C8-9769-8A29-3A3E-56BD96CC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2A12-4C09-420F-9D3E-EDA347DAB88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7D923-195E-1735-143F-63160631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46842-7BE8-9BC0-ED43-E494FC3F9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A773-221A-430F-8C81-24D6C3256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836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3DB4-7659-41E8-BF2E-55A5811E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3ABF1-506F-E9B6-A5E3-045DF82C2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511CC3-9F97-2D2A-C238-48D892469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6FAF9-66C7-1D2F-6E1F-6F006820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2A12-4C09-420F-9D3E-EDA347DAB88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A0217-3F88-8130-6DD9-FE7C8006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92BD5-7359-1569-FD7B-06D7886AE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A773-221A-430F-8C81-24D6C3256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92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CB4A-62E8-829B-CA44-5C2C7A58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A4B12-D163-BBC7-5D78-3A4B3FE5A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E9065-21A8-DCAE-D3A8-236572EB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2A12-4C09-420F-9D3E-EDA347DAB88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FBE0A-2D4B-779A-BE07-914BE2D04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A2087-E7B2-B184-9392-BA918AE6A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A773-221A-430F-8C81-24D6C3256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910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C9F6E4-788D-B991-4E76-58BD078E3E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FA343-1B5A-222F-A9ED-A2DF750FA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ECFAE-1729-AC1F-E192-86CD85730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C2A12-4C09-420F-9D3E-EDA347DAB88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99CDD-ACD9-9905-F818-BE76BA495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D30DC-14B1-D7FB-DF0E-F1F0B085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A773-221A-430F-8C81-24D6C3256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20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834D2-15D1-B1FE-B0F7-E06195739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739F2-1D42-B0EA-7963-47F93C0EC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544C1-A447-6C4E-76FC-577FB3768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C2A12-4C09-420F-9D3E-EDA347DAB88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6FE1D-D997-5278-0C75-6463F80A2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E4824-C667-2414-CFA8-A41A3B878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EA773-221A-430F-8C81-24D6C3256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64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C8DA-2EB1-2E92-930F-E04F119F4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611" y="288759"/>
            <a:ext cx="9673389" cy="1311442"/>
          </a:xfrm>
        </p:spPr>
        <p:txBody>
          <a:bodyPr/>
          <a:lstStyle/>
          <a:p>
            <a:r>
              <a:rPr lang="en-IN" b="1" dirty="0"/>
              <a:t>Data Pipeline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7FF90-EC01-A36C-45D1-8AD38CC6B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969" y="1989221"/>
            <a:ext cx="10299032" cy="4868779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What is a Data Pipeline?</a:t>
            </a:r>
          </a:p>
          <a:p>
            <a:pPr algn="l"/>
            <a:r>
              <a:rPr lang="en-US" sz="2800" b="1" dirty="0"/>
              <a:t>Theory:</a:t>
            </a:r>
            <a:br>
              <a:rPr lang="en-US" sz="2800" dirty="0"/>
            </a:br>
            <a:r>
              <a:rPr lang="en-US" sz="2800" dirty="0"/>
              <a:t>A data pipeline is an automated process that moves, transforms, and delivers data from one system to another — reliably and consistently.</a:t>
            </a:r>
            <a:br>
              <a:rPr lang="en-US" sz="2800" dirty="0"/>
            </a:br>
            <a:r>
              <a:rPr lang="en-US" sz="2800" b="1" dirty="0"/>
              <a:t>Core Purpose:</a:t>
            </a:r>
            <a:endParaRPr lang="en-US" sz="2800" dirty="0"/>
          </a:p>
          <a:p>
            <a:pPr algn="l"/>
            <a:r>
              <a:rPr lang="en-US" sz="2800" dirty="0"/>
              <a:t>Automate data flow</a:t>
            </a:r>
          </a:p>
          <a:p>
            <a:pPr algn="l"/>
            <a:r>
              <a:rPr lang="en-US" sz="2800" dirty="0"/>
              <a:t>Maintain consistency</a:t>
            </a:r>
          </a:p>
          <a:p>
            <a:pPr algn="l"/>
            <a:r>
              <a:rPr lang="en-US" sz="2800" dirty="0"/>
              <a:t>Enable analytics and decision-making</a:t>
            </a:r>
            <a:br>
              <a:rPr lang="en-US" sz="2800" dirty="0"/>
            </a:br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Supplier → S3 (Raw) → Glue (Transform) → Redshift (Analyze)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51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FF2D-F864-9ADA-E77F-7A27671E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79B38-D829-6C2B-F541-E9D3D358C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Main Layers:</a:t>
            </a:r>
            <a:br>
              <a:rPr lang="en-IN" dirty="0"/>
            </a:br>
            <a:r>
              <a:rPr lang="en-IN" dirty="0"/>
              <a:t>1️⃣ </a:t>
            </a:r>
            <a:r>
              <a:rPr lang="en-IN" b="1" dirty="0"/>
              <a:t>Data Source:</a:t>
            </a:r>
            <a:r>
              <a:rPr lang="en-IN" dirty="0"/>
              <a:t> Systems that generate raw data (APIs, databases, IoT, logs).</a:t>
            </a:r>
            <a:br>
              <a:rPr lang="en-IN" dirty="0"/>
            </a:br>
            <a:r>
              <a:rPr lang="en-IN" dirty="0"/>
              <a:t>2️⃣ </a:t>
            </a:r>
            <a:r>
              <a:rPr lang="en-IN" b="1" dirty="0"/>
              <a:t>Ingestion Layer:</a:t>
            </a:r>
            <a:r>
              <a:rPr lang="en-IN" dirty="0"/>
              <a:t> Collects and stores raw data (e.g., AWS S3).</a:t>
            </a:r>
            <a:br>
              <a:rPr lang="en-IN" dirty="0"/>
            </a:br>
            <a:r>
              <a:rPr lang="en-IN" dirty="0"/>
              <a:t>3️⃣ </a:t>
            </a:r>
            <a:r>
              <a:rPr lang="en-IN" b="1" dirty="0"/>
              <a:t>Transformation Layer:</a:t>
            </a:r>
            <a:r>
              <a:rPr lang="en-IN" dirty="0"/>
              <a:t> Cleans and processes data (e.g., AWS Glue).</a:t>
            </a:r>
            <a:br>
              <a:rPr lang="en-IN" dirty="0"/>
            </a:br>
            <a:r>
              <a:rPr lang="en-IN" dirty="0"/>
              <a:t>4️⃣ </a:t>
            </a:r>
            <a:r>
              <a:rPr lang="en-IN" b="1" dirty="0"/>
              <a:t>Storage Layer:</a:t>
            </a:r>
            <a:r>
              <a:rPr lang="en-IN" dirty="0"/>
              <a:t> Stores transformed data for querying (e.g., Redshift, S3).</a:t>
            </a:r>
            <a:br>
              <a:rPr lang="en-IN" dirty="0"/>
            </a:br>
            <a:r>
              <a:rPr lang="en-IN" dirty="0"/>
              <a:t>5️⃣ </a:t>
            </a:r>
            <a:r>
              <a:rPr lang="en-IN" b="1" dirty="0"/>
              <a:t>Analytics Layer:</a:t>
            </a:r>
            <a:r>
              <a:rPr lang="en-IN" dirty="0"/>
              <a:t> Visualization tools (e.g., Athena, </a:t>
            </a:r>
            <a:r>
              <a:rPr lang="en-IN" dirty="0" err="1"/>
              <a:t>QuickSight</a:t>
            </a:r>
            <a:r>
              <a:rPr lang="en-IN" dirty="0"/>
              <a:t>).</a:t>
            </a:r>
            <a:br>
              <a:rPr lang="en-IN" dirty="0"/>
            </a:br>
            <a:r>
              <a:rPr lang="en-IN" b="1" dirty="0"/>
              <a:t>Flow:</a:t>
            </a:r>
            <a:br>
              <a:rPr lang="en-IN" dirty="0"/>
            </a:br>
            <a:r>
              <a:rPr lang="en-IN" dirty="0"/>
              <a:t>Source → Ingest → Transform → Store → Visualize</a:t>
            </a:r>
          </a:p>
        </p:txBody>
      </p:sp>
    </p:spTree>
    <p:extLst>
      <p:ext uri="{BB962C8B-B14F-4D97-AF65-F5344CB8AC3E}">
        <p14:creationId xmlns:p14="http://schemas.microsoft.com/office/powerpoint/2010/main" val="94686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A392-696B-A178-6FA0-C22982A87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Data Pipelines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7AA43-6164-0E47-F264-CA692EE44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1️⃣ Batch Pipelines:</a:t>
            </a:r>
            <a:endParaRPr lang="en-IN" dirty="0"/>
          </a:p>
          <a:p>
            <a:r>
              <a:rPr lang="en-IN" dirty="0"/>
              <a:t>Process data at scheduled intervals</a:t>
            </a:r>
          </a:p>
          <a:p>
            <a:r>
              <a:rPr lang="en-IN" dirty="0"/>
              <a:t>Example: Daily Glue ETL job from S3 → Redshift</a:t>
            </a:r>
            <a:br>
              <a:rPr lang="en-IN" dirty="0"/>
            </a:br>
            <a:r>
              <a:rPr lang="en-IN" b="1" dirty="0"/>
              <a:t>2️⃣ Streaming Pipelines:</a:t>
            </a:r>
            <a:endParaRPr lang="en-IN" dirty="0"/>
          </a:p>
          <a:p>
            <a:r>
              <a:rPr lang="en-IN" dirty="0"/>
              <a:t>Process data in real-time</a:t>
            </a:r>
          </a:p>
          <a:p>
            <a:r>
              <a:rPr lang="en-IN" dirty="0"/>
              <a:t>Example: Kinesis + Lambda processing continuous sensor data</a:t>
            </a:r>
            <a:br>
              <a:rPr lang="en-IN" dirty="0"/>
            </a:br>
            <a:r>
              <a:rPr lang="en-IN" b="1" dirty="0"/>
              <a:t>3️⃣ Hybrid Pipelines:</a:t>
            </a:r>
            <a:endParaRPr lang="en-IN" dirty="0"/>
          </a:p>
          <a:p>
            <a:r>
              <a:rPr lang="en-IN" dirty="0"/>
              <a:t>Combination of batch + real-time for modern analytics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769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EA9C-7955-828E-B323-95C164C31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a Pipeline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BC755-F986-6D13-4685-9BF174A0B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Core Building Blocks:</a:t>
            </a:r>
            <a:endParaRPr lang="en-IN" dirty="0"/>
          </a:p>
          <a:p>
            <a:r>
              <a:rPr lang="en-IN" b="1" dirty="0"/>
              <a:t>Ingestion:</a:t>
            </a:r>
            <a:r>
              <a:rPr lang="en-IN" dirty="0"/>
              <a:t> S3, Kinesis, Kafka</a:t>
            </a:r>
          </a:p>
          <a:p>
            <a:r>
              <a:rPr lang="en-IN" b="1" dirty="0"/>
              <a:t>Processing:</a:t>
            </a:r>
            <a:r>
              <a:rPr lang="en-IN" dirty="0"/>
              <a:t> Glue, Lambda, EMR</a:t>
            </a:r>
          </a:p>
          <a:p>
            <a:r>
              <a:rPr lang="en-IN" b="1" dirty="0"/>
              <a:t>Storage:</a:t>
            </a:r>
            <a:r>
              <a:rPr lang="en-IN" dirty="0"/>
              <a:t> S3 (data lake), Redshift (warehouse)</a:t>
            </a:r>
          </a:p>
          <a:p>
            <a:r>
              <a:rPr lang="en-IN" b="1" dirty="0"/>
              <a:t>Orchestration:</a:t>
            </a:r>
            <a:r>
              <a:rPr lang="en-IN" dirty="0"/>
              <a:t> Step Functions, Airflow</a:t>
            </a:r>
          </a:p>
          <a:p>
            <a:r>
              <a:rPr lang="en-IN" b="1" dirty="0"/>
              <a:t>Monitoring:</a:t>
            </a:r>
            <a:r>
              <a:rPr lang="en-IN" dirty="0"/>
              <a:t> CloudWatch, SNS, </a:t>
            </a:r>
            <a:r>
              <a:rPr lang="en-IN" dirty="0" err="1"/>
              <a:t>EventBridge</a:t>
            </a:r>
            <a:br>
              <a:rPr lang="en-IN" dirty="0"/>
            </a:br>
            <a:r>
              <a:rPr lang="en-IN" b="1" dirty="0"/>
              <a:t>Each component works together for automation.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2284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16B8-B453-F380-36C1-CEAC495B1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AWS Data Pipeline Example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298CA-19A3-F9E8-8A38-E6C6DDE0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Flow:</a:t>
            </a:r>
            <a:br>
              <a:rPr lang="en-IN" dirty="0"/>
            </a:br>
            <a:r>
              <a:rPr lang="en-IN" dirty="0"/>
              <a:t>1️⃣ API extracts shipment data → S3 (raw zone)</a:t>
            </a:r>
            <a:br>
              <a:rPr lang="en-IN" dirty="0"/>
            </a:br>
            <a:r>
              <a:rPr lang="en-IN" dirty="0"/>
              <a:t>2️⃣ Glue transforms → S3 (trusted zone)</a:t>
            </a:r>
            <a:br>
              <a:rPr lang="en-IN" dirty="0"/>
            </a:br>
            <a:r>
              <a:rPr lang="en-IN" dirty="0"/>
              <a:t>3️⃣ Athena queries → generates SLA metrics</a:t>
            </a:r>
            <a:br>
              <a:rPr lang="en-IN" dirty="0"/>
            </a:br>
            <a:r>
              <a:rPr lang="en-IN" dirty="0"/>
              <a:t>4️⃣ Results visualized in </a:t>
            </a:r>
            <a:r>
              <a:rPr lang="en-IN" dirty="0" err="1"/>
              <a:t>QuickSight</a:t>
            </a:r>
            <a:br>
              <a:rPr lang="en-IN" dirty="0"/>
            </a:br>
            <a:r>
              <a:rPr lang="en-IN" dirty="0"/>
              <a:t>5️⃣ CloudWatch monitors job health</a:t>
            </a:r>
            <a:br>
              <a:rPr lang="en-IN" dirty="0"/>
            </a:br>
            <a:r>
              <a:rPr lang="en-IN" b="1" dirty="0"/>
              <a:t>Result:</a:t>
            </a:r>
            <a:br>
              <a:rPr lang="en-IN" dirty="0"/>
            </a:br>
            <a:r>
              <a:rPr lang="en-IN" dirty="0"/>
              <a:t>A fully automated and observable ETL pipeline.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295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E43A-D56B-A0CC-A549-19E8F7FCB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Orchestration &amp; Automation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34C3E-0AE5-791D-B8E0-B3279A96F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Orchestration manages task dependencies and execution order.</a:t>
            </a:r>
            <a:br>
              <a:rPr lang="en-IN" dirty="0"/>
            </a:br>
            <a:r>
              <a:rPr lang="en-IN" b="1" dirty="0"/>
              <a:t>AWS Tools:</a:t>
            </a:r>
            <a:endParaRPr lang="en-IN" dirty="0"/>
          </a:p>
          <a:p>
            <a:r>
              <a:rPr lang="en-IN" b="1" dirty="0"/>
              <a:t>Step Functions:</a:t>
            </a:r>
            <a:r>
              <a:rPr lang="en-IN" dirty="0"/>
              <a:t> Visual workflow automation</a:t>
            </a:r>
          </a:p>
          <a:p>
            <a:r>
              <a:rPr lang="en-IN" b="1" dirty="0"/>
              <a:t>Managed Airflow (MWAA):</a:t>
            </a:r>
            <a:r>
              <a:rPr lang="en-IN" dirty="0"/>
              <a:t> DAG-based orchestration</a:t>
            </a:r>
          </a:p>
          <a:p>
            <a:r>
              <a:rPr lang="en-IN" b="1" dirty="0" err="1"/>
              <a:t>EventBridge</a:t>
            </a:r>
            <a:r>
              <a:rPr lang="en-IN" b="1" dirty="0"/>
              <a:t>:</a:t>
            </a:r>
            <a:r>
              <a:rPr lang="en-IN" dirty="0"/>
              <a:t> Event-driven triggers</a:t>
            </a:r>
            <a:br>
              <a:rPr lang="en-IN" dirty="0"/>
            </a:br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When Glue job completes → Lambda publishes message → Step Function starts report job.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360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23FE-5680-0371-DCF7-FF6CDFF1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 Example (S3 → Glue → Redshift)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A9D0D-0E07-B87D-5D30-53BC0BF6B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712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Flow:</a:t>
            </a:r>
            <a:br>
              <a:rPr lang="en-US" dirty="0"/>
            </a:br>
            <a:r>
              <a:rPr lang="en-US" dirty="0"/>
              <a:t>1️⃣ Load: API data lands in s3://supplychain/raw/</a:t>
            </a:r>
            <a:br>
              <a:rPr lang="en-US" dirty="0"/>
            </a:br>
            <a:r>
              <a:rPr lang="en-US" dirty="0"/>
              <a:t>2️⃣ Transform: Glue cleans and writes to trusted/</a:t>
            </a:r>
            <a:br>
              <a:rPr lang="en-US" dirty="0"/>
            </a:br>
            <a:r>
              <a:rPr lang="en-US" dirty="0"/>
              <a:t>3️⃣ Load: Data copied to Redshift for analytics</a:t>
            </a:r>
            <a:br>
              <a:rPr lang="en-US" dirty="0"/>
            </a:br>
            <a:r>
              <a:rPr lang="en-US" b="1" dirty="0"/>
              <a:t>SQL Query Example: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SELECT region, COUNT(*) FROM </a:t>
            </a:r>
            <a:r>
              <a:rPr lang="en-US" dirty="0" err="1">
                <a:solidFill>
                  <a:srgbClr val="FF0000"/>
                </a:solidFill>
              </a:rPr>
              <a:t>shipments_refined</a:t>
            </a:r>
            <a:r>
              <a:rPr lang="en-US" dirty="0">
                <a:solidFill>
                  <a:srgbClr val="FF0000"/>
                </a:solidFill>
              </a:rPr>
              <a:t> GROUP BY region;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End-to-end visibility — from ingestion to analytics.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705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9690B-4088-7778-ED21-E9C6BDEB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&amp;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BBA42-0892-71DB-977E-18F4090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Monitoring ensures pipeline reliability.</a:t>
            </a:r>
            <a:br>
              <a:rPr lang="en-IN" dirty="0"/>
            </a:br>
            <a:r>
              <a:rPr lang="en-IN" b="1" dirty="0"/>
              <a:t>Best Practices:</a:t>
            </a:r>
            <a:endParaRPr lang="en-IN" dirty="0"/>
          </a:p>
          <a:p>
            <a:r>
              <a:rPr lang="en-IN" dirty="0"/>
              <a:t>Log every stage (CloudWatch)</a:t>
            </a:r>
          </a:p>
          <a:p>
            <a:r>
              <a:rPr lang="en-IN" dirty="0"/>
              <a:t>Retry failed jobs automatically</a:t>
            </a:r>
          </a:p>
          <a:p>
            <a:r>
              <a:rPr lang="en-IN" dirty="0"/>
              <a:t>Use DLQs (Dead Letter Queues) for unprocessed events</a:t>
            </a:r>
            <a:br>
              <a:rPr lang="en-IN" dirty="0"/>
            </a:br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Lambda failure → </a:t>
            </a:r>
            <a:r>
              <a:rPr lang="en-IN" dirty="0" err="1"/>
              <a:t>EventBridge</a:t>
            </a:r>
            <a:r>
              <a:rPr lang="en-IN" dirty="0"/>
              <a:t> rule → SNS alert → Retry Glue Job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070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8824-BDAD-D23A-74A2-156A3060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 Design Best Practices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0DEE8-7637-2BBD-1FFF-132608E47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Tips:</a:t>
            </a:r>
            <a:br>
              <a:rPr lang="en-IN" dirty="0"/>
            </a:br>
            <a:r>
              <a:rPr lang="en-IN" dirty="0"/>
              <a:t>✅ Keep stages modular and reusable</a:t>
            </a:r>
            <a:br>
              <a:rPr lang="en-IN" dirty="0"/>
            </a:br>
            <a:r>
              <a:rPr lang="en-IN" dirty="0"/>
              <a:t>✅ Use naming conventions (raw/trusted/refined)</a:t>
            </a:r>
            <a:br>
              <a:rPr lang="en-IN" dirty="0"/>
            </a:br>
            <a:r>
              <a:rPr lang="en-IN" dirty="0"/>
              <a:t>✅ Secure access via IAM roles</a:t>
            </a:r>
            <a:br>
              <a:rPr lang="en-IN" dirty="0"/>
            </a:br>
            <a:r>
              <a:rPr lang="en-IN" dirty="0"/>
              <a:t>✅ Parameterize job configurations (Dev, Stage, Prod)</a:t>
            </a:r>
            <a:br>
              <a:rPr lang="en-IN" dirty="0"/>
            </a:br>
            <a:r>
              <a:rPr lang="en-IN" dirty="0"/>
              <a:t>✅ Enable version control for scripts</a:t>
            </a:r>
            <a:br>
              <a:rPr lang="en-IN" dirty="0"/>
            </a:br>
            <a:r>
              <a:rPr lang="en-IN" dirty="0"/>
              <a:t>✅ Integrate cost and performance monitoring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570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7E917-59BC-AEA2-057A-AEB32098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75BB4-73BB-B136-0ACE-A3A73452B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Summary:</a:t>
            </a:r>
            <a:endParaRPr lang="en-US" dirty="0"/>
          </a:p>
          <a:p>
            <a:r>
              <a:rPr lang="en-US" dirty="0"/>
              <a:t>Data pipelines automate movement, cleaning, and analysis of data</a:t>
            </a:r>
          </a:p>
          <a:p>
            <a:r>
              <a:rPr lang="en-US" dirty="0"/>
              <a:t>AWS provides end-to-end tools for each stage</a:t>
            </a:r>
          </a:p>
          <a:p>
            <a:r>
              <a:rPr lang="en-US" dirty="0"/>
              <a:t>Glue, S3, Lambda, and CloudWatch form the core</a:t>
            </a:r>
          </a:p>
          <a:p>
            <a:r>
              <a:rPr lang="en-US" dirty="0"/>
              <a:t>Orchestration ensures reliability and scalability</a:t>
            </a:r>
            <a:br>
              <a:rPr lang="en-US" dirty="0"/>
            </a:br>
            <a:r>
              <a:rPr lang="en-US" b="1" dirty="0"/>
              <a:t>Conclusion:</a:t>
            </a:r>
            <a:br>
              <a:rPr lang="en-US" dirty="0"/>
            </a:br>
            <a:r>
              <a:rPr lang="en-US" dirty="0"/>
              <a:t>A well-built data pipeline is the </a:t>
            </a:r>
            <a:r>
              <a:rPr lang="en-US" i="1" dirty="0"/>
              <a:t>spine</a:t>
            </a:r>
            <a:r>
              <a:rPr lang="en-US" dirty="0"/>
              <a:t> of every modern data-driven organization. 🚀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9271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Data Pipeline Concepts</vt:lpstr>
      <vt:lpstr>Data Pipeline Architecture</vt:lpstr>
      <vt:lpstr>Types of Data Pipelines </vt:lpstr>
      <vt:lpstr>Key Components of a Pipeline</vt:lpstr>
      <vt:lpstr>AWS Data Pipeline Example </vt:lpstr>
      <vt:lpstr>Orchestration &amp; Automation </vt:lpstr>
      <vt:lpstr>Data Pipeline Example (S3 → Glue → Redshift)</vt:lpstr>
      <vt:lpstr>Monitoring &amp; Error Handling</vt:lpstr>
      <vt:lpstr>Data Pipeline Design Best Practices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2025-11-12T09:10:24Z</dcterms:created>
  <dcterms:modified xsi:type="dcterms:W3CDTF">2025-11-12T09:10:30Z</dcterms:modified>
</cp:coreProperties>
</file>