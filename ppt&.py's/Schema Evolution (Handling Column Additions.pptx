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7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2D0D6D-2303-4655-4DD4-C0F71DB941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BA7968-2D75-6FED-6F7E-3D14F71E7E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C3A41D-BCE7-37E3-491A-E4F66034D5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15202-39E3-4692-9A76-9F1BC250224D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1BB323-1DA0-F7A8-2BCD-193AFE6647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883CF9-6951-9F6D-C9F5-40CDDA40AB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D279C-4AFF-456D-9864-535657639C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14815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EEAD69-A21A-9A9A-AB0E-5D88277D9E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BABEAC-8C4C-AA35-2BD6-2E6929B8BB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A82AA5-411D-5D65-2620-79CF87DB89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15202-39E3-4692-9A76-9F1BC250224D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515758-181A-E36E-6524-B105BBE3B7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82FB20-D87D-BA3C-7338-589D801ADD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D279C-4AFF-456D-9864-535657639C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42497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62966-1E57-A180-856A-EB51145D9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AB96DD-27B1-ADEF-CBAB-C1C0F63912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A307C5-8230-F1DC-8D6F-CEDF20F334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15202-39E3-4692-9A76-9F1BC250224D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ECA721-99A4-7951-B5C3-BCB671D3D9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B313A3-C869-B087-26DE-5D3F62854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D279C-4AFF-456D-9864-535657639C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76695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C9EFA3-A231-597B-F42F-451E8FC721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1DBAC1-DE99-0643-3EE8-C0498580E8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D840D2-B02E-1163-AEFB-8D5C53F992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17E7DC-2650-5304-0DA9-AB8E3112AC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15202-39E3-4692-9A76-9F1BC250224D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1FD1EB-6A93-1DDD-A0D2-73167539E3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F36D94-1913-4AA6-F9C0-021B45F1A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D279C-4AFF-456D-9864-535657639C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4533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5BB936-747E-804C-B75D-D974F7C977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212F-9092-7AE9-0926-C09C9F4206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7CE40F-00D5-7E4B-0EDB-8FB4F46468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6EF532-4B61-8338-5556-54B1C0AB8E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0D91A09-EBBD-BB09-D214-BDF21906D8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417E0D2-D940-D8AF-1168-E4924CA523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15202-39E3-4692-9A76-9F1BC250224D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CFF192E-E69D-4C43-B3FA-83192BD80B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310EB7F-24C3-98B0-E04E-2CDFE8044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D279C-4AFF-456D-9864-535657639C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72246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434299-AFD5-C56D-69C7-6B80F259EF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E5EBAAF-7020-7A7D-A65D-79114A29E1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15202-39E3-4692-9A76-9F1BC250224D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C16825-FFA9-6786-CF30-30EA91B505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10EA89-2E8E-D14C-021B-AEDB0CC41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D279C-4AFF-456D-9864-535657639C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70085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D1CA2A2-F62E-86AC-1DA6-5B96A1CD3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15202-39E3-4692-9A76-9F1BC250224D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0254D0C-6AFB-6442-8588-5E42BA9816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FB14D2-D7BE-0D8A-D48B-32FF55344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D279C-4AFF-456D-9864-535657639C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51041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B7B81-6642-ADA4-FF64-8A00F1833F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B2D3EB-E6B8-ACC5-F27B-A6F7DCE3EA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D4B84F-3B86-73C3-8601-22ECB2A6BA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0200B5-BF4D-0A32-B888-BEA2552176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15202-39E3-4692-9A76-9F1BC250224D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AC1F2B-6975-E825-0D02-0314770B77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AEFDCB-2B52-286E-3D77-21E71FA9E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D279C-4AFF-456D-9864-535657639C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3342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43BD6-8B0C-F06B-DAEA-57475509BE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A6E44BD-EAA4-7A06-F9AC-3F1C19D480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461D99-A90D-9E6E-CD0A-4AA2A01840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30CBF1-0942-B962-B27E-CDEEA4B19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15202-39E3-4692-9A76-9F1BC250224D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8F0116-6072-27C4-A595-F8A075EF1C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B56061-4A04-C007-00C6-F92AB4759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D279C-4AFF-456D-9864-535657639C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08940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D2020-D1E4-3094-E18E-7933CB6BB8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AAB5D0-32F3-B1BA-3909-F8112EAD21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60A76D-26E3-6B7F-A65C-36EC4A90D0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15202-39E3-4692-9A76-9F1BC250224D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FF3854-C72C-4AA5-1859-7F81C757AF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5958C5-281B-77F9-CCBA-1E5DEE52E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D279C-4AFF-456D-9864-535657639C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21756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66D4A0-4537-5CD3-43DA-76399E42DC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9EFB07-9AD3-2A08-47A2-2CB1E06FEE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820F7E-E5DA-2878-E7FA-6682A48853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15202-39E3-4692-9A76-9F1BC250224D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C0473-7769-048B-7EFD-081119240F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738080-5D02-5778-2A8F-54F4D3EE9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D279C-4AFF-456D-9864-535657639C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93090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3AEACFD-54C2-70F9-5F3A-A3383CB586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436742-B498-4295-0820-E5747729EB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F5FE3B-6CEA-408D-BF9C-C24138714F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A15202-39E3-4692-9A76-9F1BC250224D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4C81B1-D1DC-CE43-ED21-9A4A118872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CD554E-E7CE-05DA-EE18-BC3DF56A4B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CD279C-4AFF-456D-9864-535657639C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50833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BD3379-EBC2-23D4-FD81-DCB3D9BA56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2526" y="240633"/>
            <a:ext cx="10908632" cy="1909010"/>
          </a:xfrm>
        </p:spPr>
        <p:txBody>
          <a:bodyPr/>
          <a:lstStyle/>
          <a:p>
            <a:r>
              <a:rPr lang="en-US" dirty="0"/>
              <a:t>Schema Evolution (Handling Column Additions/Renames)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1C2754-5F7C-1D6D-C1AB-389D45B4BD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3558" y="2149643"/>
            <a:ext cx="10074442" cy="4467724"/>
          </a:xfrm>
        </p:spPr>
        <p:txBody>
          <a:bodyPr>
            <a:normAutofit/>
          </a:bodyPr>
          <a:lstStyle/>
          <a:p>
            <a:pPr algn="l"/>
            <a:r>
              <a:rPr lang="en-US" b="1" dirty="0"/>
              <a:t>What is Schema Evolution?</a:t>
            </a:r>
          </a:p>
          <a:p>
            <a:pPr algn="l"/>
            <a:r>
              <a:rPr lang="en-US" b="1" dirty="0"/>
              <a:t>What:</a:t>
            </a:r>
            <a:br>
              <a:rPr lang="en-US" dirty="0"/>
            </a:br>
            <a:r>
              <a:rPr lang="en-US" dirty="0"/>
              <a:t>Schema evolution refers to the process of adapting to structural changes in data — such as new columns, renamed fields, or datatype updates — without breaking pipelines.</a:t>
            </a:r>
            <a:br>
              <a:rPr lang="en-US" dirty="0"/>
            </a:br>
            <a:r>
              <a:rPr lang="en-US" b="1" dirty="0"/>
              <a:t>Why:</a:t>
            </a:r>
            <a:br>
              <a:rPr lang="en-US" dirty="0"/>
            </a:br>
            <a:r>
              <a:rPr lang="en-US" dirty="0"/>
              <a:t>Data formats and APIs evolve as business needs grow. Pipelines must handle these changes gracefully.</a:t>
            </a:r>
            <a:br>
              <a:rPr lang="en-US" dirty="0"/>
            </a:br>
            <a:r>
              <a:rPr lang="en-US" b="1" dirty="0"/>
              <a:t>How:</a:t>
            </a:r>
            <a:br>
              <a:rPr lang="en-US" dirty="0"/>
            </a:br>
            <a:r>
              <a:rPr lang="en-US" dirty="0"/>
              <a:t>Use flexible schema detection, mapping logic, and version control to manage evolving data structures.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521538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887EC2-AC81-56F9-0E3F-DBD7401584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Why Schema Evolution is Important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36CA4A-3E16-075F-8556-1B82B78006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What:</a:t>
            </a:r>
            <a:br>
              <a:rPr lang="en-US" dirty="0"/>
            </a:br>
            <a:r>
              <a:rPr lang="en-US" dirty="0"/>
              <a:t>Data pipelines often receive data from dynamic systems (e.g., APIs, vendors, IoT feeds).</a:t>
            </a:r>
            <a:br>
              <a:rPr lang="en-US" dirty="0"/>
            </a:br>
            <a:r>
              <a:rPr lang="en-US" b="1" dirty="0"/>
              <a:t>Why:</a:t>
            </a:r>
            <a:br>
              <a:rPr lang="en-US" dirty="0"/>
            </a:br>
            <a:r>
              <a:rPr lang="en-US" dirty="0"/>
              <a:t>Without schema evolution handling, a small change (like adding a column) can break ingestion or transformations.</a:t>
            </a:r>
            <a:br>
              <a:rPr lang="en-US" dirty="0"/>
            </a:br>
            <a:r>
              <a:rPr lang="en-US" b="1" dirty="0"/>
              <a:t>How:</a:t>
            </a:r>
            <a:br>
              <a:rPr lang="en-US" dirty="0"/>
            </a:br>
            <a:r>
              <a:rPr lang="en-US" dirty="0"/>
              <a:t>Implement detection and transformation logic that can handle both old and new versions of data.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234703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FB2F3A-4E37-E7C0-EAA2-916DDAE3C8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Common Schema Changes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5D30B0-99C3-9AED-541C-85C4FE0144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b="1" dirty="0"/>
              <a:t>What:</a:t>
            </a:r>
            <a:br>
              <a:rPr lang="en-IN" dirty="0"/>
            </a:br>
            <a:r>
              <a:rPr lang="en-IN" dirty="0"/>
              <a:t>Typical changes include:</a:t>
            </a:r>
          </a:p>
          <a:p>
            <a:r>
              <a:rPr lang="en-IN" dirty="0"/>
              <a:t>Adding a new column (e.g., </a:t>
            </a:r>
            <a:r>
              <a:rPr lang="en-IN" dirty="0" err="1"/>
              <a:t>delivery_eta</a:t>
            </a:r>
            <a:r>
              <a:rPr lang="en-IN" dirty="0"/>
              <a:t>)</a:t>
            </a:r>
          </a:p>
          <a:p>
            <a:r>
              <a:rPr lang="en-IN" dirty="0"/>
              <a:t>Renaming an existing column (e.g., </a:t>
            </a:r>
            <a:r>
              <a:rPr lang="en-IN" dirty="0" err="1"/>
              <a:t>ship_id</a:t>
            </a:r>
            <a:r>
              <a:rPr lang="en-IN" dirty="0"/>
              <a:t> → </a:t>
            </a:r>
            <a:r>
              <a:rPr lang="en-IN" dirty="0" err="1"/>
              <a:t>shipment_id</a:t>
            </a:r>
            <a:r>
              <a:rPr lang="en-IN" dirty="0"/>
              <a:t>)</a:t>
            </a:r>
          </a:p>
          <a:p>
            <a:r>
              <a:rPr lang="en-IN" dirty="0"/>
              <a:t>Dropping obsolete fields</a:t>
            </a:r>
          </a:p>
          <a:p>
            <a:r>
              <a:rPr lang="en-IN" dirty="0"/>
              <a:t>Changing data types</a:t>
            </a:r>
            <a:br>
              <a:rPr lang="en-IN" dirty="0"/>
            </a:br>
            <a:r>
              <a:rPr lang="en-IN" b="1" dirty="0"/>
              <a:t>Why:</a:t>
            </a:r>
            <a:br>
              <a:rPr lang="en-IN" dirty="0"/>
            </a:br>
            <a:r>
              <a:rPr lang="en-IN" dirty="0"/>
              <a:t>Reflects business updates or system migrations.</a:t>
            </a:r>
            <a:br>
              <a:rPr lang="en-IN" dirty="0"/>
            </a:br>
            <a:r>
              <a:rPr lang="en-IN" b="1" dirty="0"/>
              <a:t>How:</a:t>
            </a:r>
            <a:br>
              <a:rPr lang="en-IN" dirty="0"/>
            </a:br>
            <a:r>
              <a:rPr lang="en-IN" dirty="0"/>
              <a:t>Use schema mapping files or dynamic schema inference.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073124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5FEB72-81FC-2F2C-F5AD-7C4B36577C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Schema Evolution in Data Lakes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F9F9E6-25BF-B919-A7D1-91F325A11D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What:</a:t>
            </a:r>
            <a:br>
              <a:rPr lang="en-US" dirty="0"/>
            </a:br>
            <a:r>
              <a:rPr lang="en-US" dirty="0"/>
              <a:t>Data lakes must handle evolving schema structures from multiple upstream systems.</a:t>
            </a:r>
            <a:br>
              <a:rPr lang="en-US" dirty="0"/>
            </a:br>
            <a:r>
              <a:rPr lang="en-US" b="1" dirty="0"/>
              <a:t>Why:</a:t>
            </a:r>
            <a:br>
              <a:rPr lang="en-US" dirty="0"/>
            </a:br>
            <a:r>
              <a:rPr lang="en-US" dirty="0"/>
              <a:t>Data is stored over time, and older files may have older schemas.</a:t>
            </a:r>
            <a:br>
              <a:rPr lang="en-US" dirty="0"/>
            </a:br>
            <a:r>
              <a:rPr lang="en-US" b="1" dirty="0"/>
              <a:t>How:</a:t>
            </a:r>
            <a:br>
              <a:rPr lang="en-US" dirty="0"/>
            </a:br>
            <a:r>
              <a:rPr lang="en-US" dirty="0"/>
              <a:t>Tools like AWS Glue, Apache Spark, and Delta Lake automatically merge schema changes when enabled.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442954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DB69DB-5331-CC99-8374-0FCBF6716C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Backward and Forward Compatibility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1E94AA-C087-99BE-406F-C8ADC31F9F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What:</a:t>
            </a:r>
            <a:endParaRPr lang="en-US" dirty="0"/>
          </a:p>
          <a:p>
            <a:r>
              <a:rPr lang="en-US" b="1" dirty="0"/>
              <a:t>Backward-compatible:</a:t>
            </a:r>
            <a:r>
              <a:rPr lang="en-US" dirty="0"/>
              <a:t> Old pipelines can read new data.</a:t>
            </a:r>
          </a:p>
          <a:p>
            <a:r>
              <a:rPr lang="en-US" b="1" dirty="0"/>
              <a:t>Forward-compatible:</a:t>
            </a:r>
            <a:r>
              <a:rPr lang="en-US" dirty="0"/>
              <a:t> New pipelines can read old data.</a:t>
            </a:r>
            <a:br>
              <a:rPr lang="en-US" dirty="0"/>
            </a:br>
            <a:r>
              <a:rPr lang="en-US" b="1" dirty="0"/>
              <a:t>Why:</a:t>
            </a:r>
            <a:br>
              <a:rPr lang="en-US" dirty="0"/>
            </a:br>
            <a:r>
              <a:rPr lang="en-US" dirty="0"/>
              <a:t>Ensures historical data remains usable after schema updates.</a:t>
            </a:r>
            <a:br>
              <a:rPr lang="en-US" dirty="0"/>
            </a:br>
            <a:r>
              <a:rPr lang="en-US" b="1" dirty="0"/>
              <a:t>How:</a:t>
            </a:r>
            <a:br>
              <a:rPr lang="en-US" dirty="0"/>
            </a:br>
            <a:r>
              <a:rPr lang="en-US" dirty="0"/>
              <a:t>Add new columns with default values and avoid renaming critical keys.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815826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18A01-4D73-8A49-E566-D99409B9F8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Handling Column Additions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00D9AB-C2AE-5DA7-249B-65E89107F2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What:</a:t>
            </a:r>
            <a:br>
              <a:rPr lang="en-US" dirty="0"/>
            </a:br>
            <a:r>
              <a:rPr lang="en-US" dirty="0"/>
              <a:t>When new columns appear in source data.</a:t>
            </a:r>
            <a:br>
              <a:rPr lang="en-US" dirty="0"/>
            </a:br>
            <a:r>
              <a:rPr lang="en-US" b="1" dirty="0"/>
              <a:t>Why:</a:t>
            </a:r>
            <a:br>
              <a:rPr lang="en-US" dirty="0"/>
            </a:br>
            <a:r>
              <a:rPr lang="en-US" dirty="0"/>
              <a:t>Indicates new information added by the source system.</a:t>
            </a:r>
            <a:br>
              <a:rPr lang="en-US" dirty="0"/>
            </a:br>
            <a:r>
              <a:rPr lang="en-US" b="1" dirty="0"/>
              <a:t>How:</a:t>
            </a:r>
            <a:br>
              <a:rPr lang="en-US" dirty="0"/>
            </a:br>
            <a:r>
              <a:rPr lang="en-US" dirty="0"/>
              <a:t>Use dynamic column detection (e.g., </a:t>
            </a:r>
            <a:r>
              <a:rPr lang="en-US" dirty="0" err="1"/>
              <a:t>df.reindex</a:t>
            </a:r>
            <a:r>
              <a:rPr lang="en-US" dirty="0"/>
              <a:t>() in pandas or </a:t>
            </a:r>
            <a:r>
              <a:rPr lang="en-US" dirty="0" err="1"/>
              <a:t>mergeSchema</a:t>
            </a:r>
            <a:r>
              <a:rPr lang="en-US" dirty="0"/>
              <a:t>=True in Spark).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133459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7D6870-359C-20B1-6F49-4DF29441D7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Handling Column Renames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E9027F-EBBF-83FD-F314-2A0F00B7AE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What:</a:t>
            </a:r>
            <a:br>
              <a:rPr lang="en-US" dirty="0"/>
            </a:br>
            <a:r>
              <a:rPr lang="en-US" dirty="0"/>
              <a:t>A renamed column breaks mappings or joins.</a:t>
            </a:r>
            <a:br>
              <a:rPr lang="en-US" dirty="0"/>
            </a:br>
            <a:r>
              <a:rPr lang="en-US" b="1" dirty="0"/>
              <a:t>Why:</a:t>
            </a:r>
            <a:br>
              <a:rPr lang="en-US" dirty="0"/>
            </a:br>
            <a:r>
              <a:rPr lang="en-US" dirty="0"/>
              <a:t>Renames often occur for standardization or clarity.</a:t>
            </a:r>
            <a:br>
              <a:rPr lang="en-US" dirty="0"/>
            </a:br>
            <a:r>
              <a:rPr lang="en-US" b="1" dirty="0"/>
              <a:t>How:</a:t>
            </a:r>
            <a:br>
              <a:rPr lang="en-US" dirty="0"/>
            </a:br>
            <a:r>
              <a:rPr lang="en-US" dirty="0"/>
              <a:t>Maintain a mapping dictionary to rename columns consistently across datasets.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17395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F3C1F5-DAC9-4ED4-045D-56E226A353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Schema Registry or Mapping Files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6A282D-1C21-3661-ED2A-6BEC7A2756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What:</a:t>
            </a:r>
            <a:br>
              <a:rPr lang="en-US" dirty="0"/>
            </a:br>
            <a:r>
              <a:rPr lang="en-US" dirty="0"/>
              <a:t>Centralized JSON/YAML file that stores schema versions and column mappings.</a:t>
            </a:r>
            <a:br>
              <a:rPr lang="en-US" dirty="0"/>
            </a:br>
            <a:r>
              <a:rPr lang="en-US" b="1" dirty="0"/>
              <a:t>Why:</a:t>
            </a:r>
            <a:br>
              <a:rPr lang="en-US" dirty="0"/>
            </a:br>
            <a:r>
              <a:rPr lang="en-US" dirty="0"/>
              <a:t>Allows consistent transformations across environments.</a:t>
            </a:r>
            <a:br>
              <a:rPr lang="en-US" dirty="0"/>
            </a:br>
            <a:r>
              <a:rPr lang="en-US" b="1" dirty="0"/>
              <a:t>How:</a:t>
            </a:r>
            <a:br>
              <a:rPr lang="en-US" dirty="0"/>
            </a:br>
            <a:r>
              <a:rPr lang="en-US" dirty="0"/>
              <a:t>The ETL pipeline reads this mapping and aligns the new schema with the existing one automatically.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500922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DC32A-BEC9-9238-0C19-0811C6CE4B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Monitoring &amp; Alerts for Schema Drift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DDE7E5-B7B4-D700-AE8F-4D77DB6B1A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What:</a:t>
            </a:r>
            <a:br>
              <a:rPr lang="en-US" dirty="0"/>
            </a:br>
            <a:r>
              <a:rPr lang="en-US" dirty="0"/>
              <a:t>Schema drift means unplanned changes in data structure.</a:t>
            </a:r>
            <a:br>
              <a:rPr lang="en-US" dirty="0"/>
            </a:br>
            <a:r>
              <a:rPr lang="en-US" b="1" dirty="0"/>
              <a:t>Why:</a:t>
            </a:r>
            <a:br>
              <a:rPr lang="en-US" dirty="0"/>
            </a:br>
            <a:r>
              <a:rPr lang="en-US" dirty="0"/>
              <a:t>Causes ETL failures or incorrect transformations.</a:t>
            </a:r>
            <a:br>
              <a:rPr lang="en-US" dirty="0"/>
            </a:br>
            <a:r>
              <a:rPr lang="en-US" b="1" dirty="0"/>
              <a:t>How:</a:t>
            </a:r>
            <a:br>
              <a:rPr lang="en-US" dirty="0"/>
            </a:br>
            <a:r>
              <a:rPr lang="en-US" dirty="0"/>
              <a:t>Automate schema validation — compare current schema vs expected and raise alerts for mismatches.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944147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7ABDD7-D52E-D5C2-63B7-330DBD77C5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5A921E-1BC8-D838-3C39-AB70451FE2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What:</a:t>
            </a:r>
            <a:br>
              <a:rPr lang="en-US" dirty="0"/>
            </a:br>
            <a:r>
              <a:rPr lang="en-US" dirty="0"/>
              <a:t>Schema evolution ensures pipelines adapt to structural changes.</a:t>
            </a:r>
            <a:br>
              <a:rPr lang="en-US" dirty="0"/>
            </a:br>
            <a:r>
              <a:rPr lang="en-US" b="1" dirty="0"/>
              <a:t>Why:</a:t>
            </a:r>
            <a:br>
              <a:rPr lang="en-US" dirty="0"/>
            </a:br>
            <a:r>
              <a:rPr lang="en-US" dirty="0"/>
              <a:t>It maintains consistency, minimizes breakage, and supports long-term data reliability.</a:t>
            </a:r>
            <a:br>
              <a:rPr lang="en-US" dirty="0"/>
            </a:br>
            <a:r>
              <a:rPr lang="en-US" b="1"/>
              <a:t>How:</a:t>
            </a:r>
            <a:br>
              <a:rPr lang="en-US"/>
            </a:br>
            <a:r>
              <a:rPr lang="en-US"/>
              <a:t>Use automated schema validation, mapping logic, and version control to gracefully handle evolving schemas.</a:t>
            </a:r>
          </a:p>
          <a:p>
            <a:pPr marL="0" indent="0">
              <a:buNone/>
            </a:pP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20829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592</Words>
  <Application>Microsoft Office PowerPoint</Application>
  <PresentationFormat>Widescreen</PresentationFormat>
  <Paragraphs>27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Schema Evolution (Handling Column Additions/Renames)</vt:lpstr>
      <vt:lpstr>Why Schema Evolution is Important </vt:lpstr>
      <vt:lpstr>Common Schema Changes</vt:lpstr>
      <vt:lpstr>Schema Evolution in Data Lakes </vt:lpstr>
      <vt:lpstr>Backward and Forward Compatibility</vt:lpstr>
      <vt:lpstr>Handling Column Additions</vt:lpstr>
      <vt:lpstr>Handling Column Renames </vt:lpstr>
      <vt:lpstr>Schema Registry or Mapping Files</vt:lpstr>
      <vt:lpstr>Monitoring &amp; Alerts for Schema Drift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Rahamatunnisa Abdul</dc:creator>
  <cp:lastModifiedBy>Rahamatunnisa Abdul</cp:lastModifiedBy>
  <cp:revision>1</cp:revision>
  <dcterms:created xsi:type="dcterms:W3CDTF">2025-11-12T10:42:40Z</dcterms:created>
  <dcterms:modified xsi:type="dcterms:W3CDTF">2025-11-12T10:43:04Z</dcterms:modified>
</cp:coreProperties>
</file>