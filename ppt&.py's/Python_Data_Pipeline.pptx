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6DF8-4073-EC5D-AFC0-C8D0766A5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FE9D8-C16E-86AC-C347-540E4327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24004-F914-8C26-86C2-34DE8FCF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20CD8-EF29-CE79-87BB-EB3C4271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27A90-6E55-B749-0412-7CA3FF27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E0FC4-85BC-7092-C021-730FCDFD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97988-F85D-4468-CE5A-5398E772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E98E4-383F-1B90-7D11-18E98709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5CD53-E5E8-8F31-0E6A-89E0631B0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351D-C82B-37BD-32B5-5CACD6D4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91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A804-299F-E540-150B-DC29623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517B1-2790-3E72-0E6D-96F8E0245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38FE8-8A7F-8028-6D8C-AC1AC34F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1BFE9-DF4F-1DCC-75A8-1EBF0CCC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446D-7765-DEC4-3163-76C3898D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40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32347-0CCA-ED67-9034-419F5C45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8ED9B-F407-731E-9B31-CDE18F44A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654EC-EC87-2AE4-1E43-13EFD34D1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CA44E-B600-A757-F134-1819760F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CD584-4A12-B1C9-7339-48240999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B89CB-DE62-9CDA-45CC-38D11375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52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88CCF-B9EC-F9BB-58F8-214BB536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00295-95CB-1FBF-6D95-AACF3FCA4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5B707-27BB-9F7A-DADA-B5296774C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0E5E4-F5B6-20C0-74C8-7F52F823A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0ED8C-C647-4774-8E19-7E3D6569E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7FAC9-98C1-D324-5B5C-A58BB165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37645-E70C-1DB5-88CD-E94EB0237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7961D-C15B-7FD0-5D96-C40084BD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61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514B-DE02-C2A2-ABD2-CAC30F4F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253F9-E122-7AD3-BF9A-2EE55994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356ED-1F18-49C9-2CEC-485A7873F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86FA5-EA5A-7CFE-5D29-ED4ED6A5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28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C1CF7-7BCF-1865-9E5C-9BB2E7874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9B95A-802B-F82A-AEEF-9F0B4774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6757F-AD79-6507-3C1A-C373C847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24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D466C-5731-20D8-2FF2-67B67CE7F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D92E-8CC1-323F-FD1D-2568F698A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43BDD-6B8B-F1E2-1FEA-3381D02D6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18C5A-D608-0CE8-53AB-EB7AD38A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02125-CC36-0AF4-743D-F46963CA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3EF1A-4275-6A5A-E220-8FDCD143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19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96C0-A6F4-6B7A-DE4C-32E7D66E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189FF0-7EF6-4D26-3D0C-A3D498BC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9562C-3D8A-F3F4-0B56-27C26FFA8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DB6F5-F743-7B78-B529-E103D8CB4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4C6B6-AB39-9EB7-24F7-030216E3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93F49-D2D2-E403-F2CF-6A23EF6B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62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72B6-6515-5740-D7C3-95649B980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33412-4221-D2B7-80F3-981D18BD5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A551D-F79F-CDC6-666A-6030AEDB4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70E82-DD6E-3CC1-D465-8244100B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B665F-D4B2-94A3-7B6D-937808AA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50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C0B36-C679-DDE8-EED6-1447B68BB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689F6-DEE0-B6BE-2AFA-4323B24CB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C8F09-862C-F732-AAC5-AA8C5E2C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167C4-4D45-C7A0-918F-BA6023F3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50D47-BBBC-BD75-B0E1-C6DC8923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50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70F0C7-4936-AEB3-E195-5580D410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51160-EDB8-8F7B-3C26-76169351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E0CB-D64A-EC65-7A1E-1BD2BA8E76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D9114-3B77-40D6-B91F-4870CB66988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1ED8F-3C4E-C938-86B0-6364FB102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FC866-6510-283F-8115-AA661CF8A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29C2C-2592-4A7F-A519-43B33166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06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0D18-507A-AF0D-CA3A-51E240000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03742"/>
          </a:xfrm>
        </p:spPr>
        <p:txBody>
          <a:bodyPr/>
          <a:lstStyle/>
          <a:p>
            <a:r>
              <a:rPr lang="en-IN" b="1" dirty="0"/>
              <a:t>Data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B26A0-B576-2004-57DA-BEBE2A1C5A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/>
              <a:t>What Is a Data Pipeline?</a:t>
            </a:r>
          </a:p>
          <a:p>
            <a:pPr algn="l"/>
            <a:r>
              <a:rPr lang="en-US" dirty="0"/>
              <a:t>A data pipeline is a set of connected processes that move, transform, and load data from one system to another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34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8738A-5DAB-EA41-CCE3-527D622DD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Stages of a Pipeline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7049-D6C9-9B04-25F2-9485AAF91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/>
              <a:t>1️⃣ </a:t>
            </a:r>
            <a:r>
              <a:rPr lang="en-IN" sz="3600" b="1" dirty="0"/>
              <a:t>Ingestion</a:t>
            </a:r>
            <a:r>
              <a:rPr lang="en-IN" sz="3600" dirty="0"/>
              <a:t> — Read data from sources (files, APIs, DBs)</a:t>
            </a:r>
            <a:br>
              <a:rPr lang="en-IN" sz="3600" dirty="0"/>
            </a:br>
            <a:r>
              <a:rPr lang="en-IN" sz="3600" dirty="0"/>
              <a:t>2️⃣ </a:t>
            </a:r>
            <a:r>
              <a:rPr lang="en-IN" sz="3600" b="1" dirty="0"/>
              <a:t>Transformation</a:t>
            </a:r>
            <a:r>
              <a:rPr lang="en-IN" sz="3600" dirty="0"/>
              <a:t> — Clean and standardize the data</a:t>
            </a:r>
            <a:br>
              <a:rPr lang="en-IN" sz="3600" dirty="0"/>
            </a:br>
            <a:r>
              <a:rPr lang="en-IN" sz="3600" dirty="0"/>
              <a:t>3️⃣ </a:t>
            </a:r>
            <a:r>
              <a:rPr lang="en-IN" sz="3600" b="1" dirty="0"/>
              <a:t>Validation</a:t>
            </a:r>
            <a:r>
              <a:rPr lang="en-IN" sz="3600" dirty="0"/>
              <a:t> — Check for quality and schema consistency</a:t>
            </a:r>
            <a:br>
              <a:rPr lang="en-IN" sz="3600" dirty="0"/>
            </a:br>
            <a:r>
              <a:rPr lang="en-IN" sz="3600" dirty="0"/>
              <a:t>4️⃣ </a:t>
            </a:r>
            <a:r>
              <a:rPr lang="en-IN" sz="3600" b="1" dirty="0"/>
              <a:t>Loading</a:t>
            </a:r>
            <a:r>
              <a:rPr lang="en-IN" sz="3600" dirty="0"/>
              <a:t> — Save to destination (S3, Redshift, etc.)</a:t>
            </a:r>
          </a:p>
        </p:txBody>
      </p:sp>
    </p:spTree>
    <p:extLst>
      <p:ext uri="{BB962C8B-B14F-4D97-AF65-F5344CB8AC3E}">
        <p14:creationId xmlns:p14="http://schemas.microsoft.com/office/powerpoint/2010/main" val="154754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3824-5C49-B142-FC34-E6498EC7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0C092-BF18-B27A-FFBF-33227426C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S3 → AWS Glue → Pandas Transformations → Redshift → BI Dashboard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Each stage performs a specific role in data flow.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460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2A12-5106-546C-0790-BBDC7BF8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a Pipeline?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724B1-9AA2-ED51-1ADF-AC2B1D3DB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 repetitive ETL steps</a:t>
            </a:r>
          </a:p>
          <a:p>
            <a:r>
              <a:rPr lang="en-US" dirty="0"/>
              <a:t>Ensure consistency across environments</a:t>
            </a:r>
          </a:p>
          <a:p>
            <a:r>
              <a:rPr lang="en-US" dirty="0"/>
              <a:t>Handle large data efficiently</a:t>
            </a:r>
          </a:p>
          <a:p>
            <a:r>
              <a:rPr lang="en-US" dirty="0"/>
              <a:t>Integrate multiple systems (S3, APIs, DBs)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488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EEF2-2063-0C23-D049-CD4691CDC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Sample Pipeline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7EC821-93F4-FB9A-8AF7-B9EACDE79A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490570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73347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547425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33077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236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JSON from 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boto3 / 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286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 &amp; Transform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41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/ logging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942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Write Output to 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psycopg2 / Glue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20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81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5152-83A4-EB98-94E0-7F210C1D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&amp;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24D3B-DF31-756E-3B8A-D9FBC0E26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logging in every stage: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logging.info("Reading input...")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logging.info("Transformation completed.")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logging.info("Uploaded to Redshift.")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Helps track pipeline health and issues.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57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730C-0502-B526-DD97-B4203A39A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Handling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D5C3C-FB01-D7EB-5B9A-7A19BF5BB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try: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</a:t>
            </a:r>
            <a:r>
              <a:rPr lang="en-IN" dirty="0" err="1">
                <a:solidFill>
                  <a:srgbClr val="00B050"/>
                </a:solidFill>
              </a:rPr>
              <a:t>df</a:t>
            </a:r>
            <a:r>
              <a:rPr lang="en-IN" dirty="0">
                <a:solidFill>
                  <a:srgbClr val="00B050"/>
                </a:solidFill>
              </a:rPr>
              <a:t> = </a:t>
            </a:r>
            <a:r>
              <a:rPr lang="en-IN" dirty="0" err="1">
                <a:solidFill>
                  <a:srgbClr val="00B050"/>
                </a:solidFill>
              </a:rPr>
              <a:t>pd.read_csv</a:t>
            </a:r>
            <a:r>
              <a:rPr lang="en-IN" dirty="0">
                <a:solidFill>
                  <a:srgbClr val="00B050"/>
                </a:solidFill>
              </a:rPr>
              <a:t>("input.csv")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except </a:t>
            </a:r>
            <a:r>
              <a:rPr lang="en-IN" dirty="0" err="1">
                <a:solidFill>
                  <a:srgbClr val="00B050"/>
                </a:solidFill>
              </a:rPr>
              <a:t>FileNotFoundError</a:t>
            </a:r>
            <a:r>
              <a:rPr lang="en-IN" dirty="0">
                <a:solidFill>
                  <a:srgbClr val="00B050"/>
                </a:solidFill>
              </a:rPr>
              <a:t>: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</a:t>
            </a:r>
            <a:r>
              <a:rPr lang="en-IN" dirty="0" err="1">
                <a:solidFill>
                  <a:srgbClr val="00B050"/>
                </a:solidFill>
              </a:rPr>
              <a:t>logging.error</a:t>
            </a:r>
            <a:r>
              <a:rPr lang="en-IN" dirty="0">
                <a:solidFill>
                  <a:srgbClr val="00B050"/>
                </a:solidFill>
              </a:rPr>
              <a:t>("Missing input file!")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Use try/except blocks for each step to avoid full job failure.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952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E781-9BBA-3936-4B79-BD68388B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Validation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A777-9180-B7B7-32BF-109FBF0E6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assert </a:t>
            </a: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["price"].</a:t>
            </a:r>
            <a:r>
              <a:rPr lang="en-US" dirty="0" err="1">
                <a:solidFill>
                  <a:srgbClr val="00B050"/>
                </a:solidFill>
              </a:rPr>
              <a:t>notnull</a:t>
            </a:r>
            <a:r>
              <a:rPr lang="en-US" dirty="0">
                <a:solidFill>
                  <a:srgbClr val="00B050"/>
                </a:solidFill>
              </a:rPr>
              <a:t>().all(), "Price field contains null values!"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assert </a:t>
            </a:r>
            <a:r>
              <a:rPr lang="en-US" dirty="0" err="1">
                <a:solidFill>
                  <a:srgbClr val="00B050"/>
                </a:solidFill>
              </a:rPr>
              <a:t>df</a:t>
            </a:r>
            <a:r>
              <a:rPr lang="en-US" dirty="0">
                <a:solidFill>
                  <a:srgbClr val="00B050"/>
                </a:solidFill>
              </a:rPr>
              <a:t>["region"].</a:t>
            </a:r>
            <a:r>
              <a:rPr lang="en-US" dirty="0" err="1">
                <a:solidFill>
                  <a:srgbClr val="00B050"/>
                </a:solidFill>
              </a:rPr>
              <a:t>isin</a:t>
            </a:r>
            <a:r>
              <a:rPr lang="en-US" dirty="0">
                <a:solidFill>
                  <a:srgbClr val="00B050"/>
                </a:solidFill>
              </a:rPr>
              <a:t>(["APAC", "EMEA"]).all(), "Invalid region found!"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Ensures your data is ready for downstream use.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049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077B-DAA5-6B71-A1EB-7253C684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Example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ECB067-980A-2A8F-CF01-BDD54787FE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5642" y="2239101"/>
            <a:ext cx="850200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Step Function triggers Glue job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Glue job merges logistics + forecasting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saved to S3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Redshift/Athena used for dashboards</a:t>
            </a:r>
          </a:p>
        </p:txBody>
      </p:sp>
    </p:spTree>
    <p:extLst>
      <p:ext uri="{BB962C8B-B14F-4D97-AF65-F5344CB8AC3E}">
        <p14:creationId xmlns:p14="http://schemas.microsoft.com/office/powerpoint/2010/main" val="837981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AEA5-3212-E6AE-054A-29B77DD9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2EB68-0E34-D40C-654D-9B9779F18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600" dirty="0"/>
              <a:t>✅ A pipeline = Ingest + Transform + Validate + Load</a:t>
            </a:r>
            <a:br>
              <a:rPr lang="en-IN" sz="3600" dirty="0"/>
            </a:br>
            <a:r>
              <a:rPr lang="en-IN" sz="3600" dirty="0"/>
              <a:t>✅ Use logging &amp; error handling at every stage</a:t>
            </a:r>
            <a:br>
              <a:rPr lang="en-IN" sz="3600" dirty="0"/>
            </a:br>
            <a:r>
              <a:rPr lang="en-IN" sz="3600" dirty="0"/>
              <a:t>✅ Automate with Step Functions / Lambda</a:t>
            </a:r>
            <a:br>
              <a:rPr lang="en-IN" sz="3600" dirty="0"/>
            </a:br>
            <a:r>
              <a:rPr lang="en-IN" sz="3600" dirty="0"/>
              <a:t>✅ Core of all analytics &amp; reporting systems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57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 Pipeline</vt:lpstr>
      <vt:lpstr>Key Stages of a Pipeline</vt:lpstr>
      <vt:lpstr>Example Architecture</vt:lpstr>
      <vt:lpstr>Why Use a Pipeline?</vt:lpstr>
      <vt:lpstr>Sample Pipeline Flow</vt:lpstr>
      <vt:lpstr>Logging &amp; Monitoring</vt:lpstr>
      <vt:lpstr>Handling Errors</vt:lpstr>
      <vt:lpstr>Validation Example</vt:lpstr>
      <vt:lpstr>Real-World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2025-11-07T10:17:37Z</dcterms:created>
  <dcterms:modified xsi:type="dcterms:W3CDTF">2025-11-07T10:17:50Z</dcterms:modified>
</cp:coreProperties>
</file>