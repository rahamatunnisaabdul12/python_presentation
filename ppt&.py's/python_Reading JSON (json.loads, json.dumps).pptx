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50" d="100"/>
          <a:sy n="50" d="100"/>
        </p:scale>
        <p:origin x="-86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6C2F-5E0D-2272-796F-2224E850B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EF905-5B4B-A033-FC16-74934C4AD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B3C01-5DA4-09F8-3222-487D01AB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6B43-1B6C-A19D-DDAD-07A20F52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9C6EC-7839-4201-7FE5-289B0BBF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68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D526-E1CB-E626-5A25-FEDBAE4C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021BF-00A8-24C2-E389-986116198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C0D8-06AF-82B2-CEB8-17ACA152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A23D-D480-ADFD-5288-7A184BBD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08828-2321-D1B3-574B-9E163F4A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78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1D68-29FB-9CCB-5968-FD4B4F3D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2BE17-0AA5-5FE8-2381-27C3C4EF4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978B6-57CC-CAA9-54F0-14E3500A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B742-29DA-9155-F33D-E8CA1525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CE2D1-BA2B-64E4-EA9F-91D52937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898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A712-289F-005D-5FFE-34DBC08E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7C353-A2B2-FEE3-24E6-DAAA28807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AC52D-BD60-F9CB-402F-A5E9D799A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22AFD-B2A2-7049-EC05-F00F501E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2C610-8421-A13E-8687-1DEEDB12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41712-A494-984C-4EDC-08D3C759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37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A402-DA9A-50D1-08FD-4843DA5C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7458B-0B5F-825D-8E40-EB9558F24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ACDD0-EFC4-33D3-F865-C9D06CD9C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27BB8-47FA-E0AC-3568-A29B64919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CD8F9-20D7-0192-3E04-1D4082673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37191-FFA8-E176-9C1D-EE3C17BD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F6232-7F4F-22EC-1055-6087A64F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55D1C-5D50-DD91-F35D-71055BD0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913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6743-2CBB-B48A-9449-6409D28A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25F95-55B0-D2A2-E6D4-0330D3CA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15F50-031F-0F67-C140-69B29A7B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037E2-6F28-1D09-7D3D-8EAE307A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25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BFBFB-FCC1-5785-3B52-C4862175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E3948-D68E-DE74-9D88-4F91C9CB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5489-0EDE-A006-6268-D81B98B2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93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C099-7A71-A6CB-A762-8F4A7006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11E6C-D95C-6151-AB80-70953204D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0E0D-8612-7B8A-2D6D-BFA96E4A5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3C8B1-767C-C6CD-5C13-D80B38EF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4BC85-26E6-2A8E-AB68-E192E11ED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5B784-A7DD-9021-DA3A-45426C73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70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2554-8566-682A-BDCE-A422065E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42570-296D-1F26-BFCF-CD09947A4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16B28-773E-554F-C06C-C42A79FE6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93076-8D0C-DAF5-8FD2-57BBE400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1B21C-EC81-056D-2A46-EEFC2D0C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888B6-17ED-79DB-C069-36D0AA55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26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C130-8CC1-C1AF-1926-028594AD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B2BB2-7C1C-D73E-E2A6-14A8C6F43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0EC-A9BF-4FBF-8B28-1CFD0206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69D8-5BBD-D274-5981-CE9BDF7B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E195-2AF0-59AE-5924-CE9C3BEF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42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B2A98-4E8A-57EE-410A-9DE554DAB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1B9CD-34EB-A9A8-1542-DDCF2F6A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7260-4521-4212-D002-66FB702C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98D20-9726-4A41-3FF2-AD090EEC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CCAD3-BCBE-58D5-DC85-47170BEB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1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8CBA2-FB84-5330-945B-F4AD4E23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FB9D8-A3A5-2613-9A58-8997D0A64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2ADDE-4D2D-9F42-3099-ED376F88F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19F64-B85A-485E-81B1-1DE9556F4CE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63AE7-E90A-6419-19ED-E0DEC4E21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C0CE9-C02F-80E2-6291-FF2DFBDA0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5BC30-C6F6-4B48-8AAE-7946358B8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5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lint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D783-3149-407D-150E-EC3FA0AB5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443" y="465221"/>
            <a:ext cx="9737558" cy="1925053"/>
          </a:xfrm>
        </p:spPr>
        <p:txBody>
          <a:bodyPr/>
          <a:lstStyle/>
          <a:p>
            <a:r>
              <a:rPr lang="en-IN" b="1" dirty="0"/>
              <a:t>Reading JSON (</a:t>
            </a:r>
            <a:r>
              <a:rPr lang="en-IN" b="1" dirty="0" err="1"/>
              <a:t>json.loads</a:t>
            </a:r>
            <a:r>
              <a:rPr lang="en-IN" b="1" dirty="0"/>
              <a:t>, </a:t>
            </a:r>
            <a:r>
              <a:rPr lang="en-IN" b="1" dirty="0" err="1"/>
              <a:t>json.dumps</a:t>
            </a:r>
            <a:r>
              <a:rPr lang="en-IN" b="1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6DA90-E224-F6C8-7E61-3505BD8AE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442" y="2727158"/>
            <a:ext cx="9737558" cy="2530642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The </a:t>
            </a:r>
            <a:r>
              <a:rPr lang="en-US" sz="3200" dirty="0" err="1"/>
              <a:t>json</a:t>
            </a:r>
            <a:r>
              <a:rPr lang="en-US" sz="3200" dirty="0"/>
              <a:t> module in Python allows you to </a:t>
            </a:r>
            <a:r>
              <a:rPr lang="en-US" sz="3200" b="1" dirty="0"/>
              <a:t>read</a:t>
            </a:r>
            <a:r>
              <a:rPr lang="en-US" sz="3200" dirty="0"/>
              <a:t>, </a:t>
            </a:r>
            <a:r>
              <a:rPr lang="en-US" sz="3200" b="1" dirty="0"/>
              <a:t>write</a:t>
            </a:r>
            <a:r>
              <a:rPr lang="en-US" sz="3200" dirty="0"/>
              <a:t>, and </a:t>
            </a:r>
            <a:r>
              <a:rPr lang="en-US" sz="3200" b="1" dirty="0"/>
              <a:t>convert</a:t>
            </a:r>
            <a:r>
              <a:rPr lang="en-US" sz="3200" dirty="0"/>
              <a:t> JSON data.</a:t>
            </a:r>
            <a:br>
              <a:rPr lang="en-US" sz="3200" dirty="0"/>
            </a:br>
            <a:r>
              <a:rPr lang="en-US" sz="3200" dirty="0"/>
              <a:t>It’s essential for handling configuration files, API responses, and ETL data.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0788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215A-5041-958E-6E81-4CD59CB2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JSON?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FAA16-2FC1-0749-3CF8-FF34FA5A7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 = </a:t>
            </a:r>
            <a:r>
              <a:rPr lang="en-US" i="1" dirty="0"/>
              <a:t>JavaScript Object Notation</a:t>
            </a:r>
            <a:endParaRPr lang="en-US" dirty="0"/>
          </a:p>
          <a:p>
            <a:r>
              <a:rPr lang="en-US" dirty="0"/>
              <a:t>Stores data as </a:t>
            </a:r>
            <a:r>
              <a:rPr lang="en-US" b="1" dirty="0"/>
              <a:t>key–value pairs</a:t>
            </a:r>
            <a:endParaRPr lang="en-US" dirty="0"/>
          </a:p>
          <a:p>
            <a:r>
              <a:rPr lang="en-US" dirty="0"/>
              <a:t>Commonly used in APIs, config files, and data exchange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"employees": [{"name": "Aisha", "role": "Manager"}]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85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CB09-D607-DC73-745D-329588A7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Importing the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616FC-6542-901D-E7BD-261B59272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dirty="0">
                <a:solidFill>
                  <a:srgbClr val="FF0000"/>
                </a:solidFill>
              </a:rPr>
              <a:t>import </a:t>
            </a:r>
            <a:r>
              <a:rPr lang="en-IN" sz="3200" dirty="0" err="1">
                <a:solidFill>
                  <a:srgbClr val="FF0000"/>
                </a:solidFill>
              </a:rPr>
              <a:t>json</a:t>
            </a:r>
            <a:endParaRPr lang="en-IN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dirty="0"/>
              <a:t>Python has a built-in </a:t>
            </a:r>
            <a:r>
              <a:rPr lang="en-US" sz="3200" dirty="0" err="1"/>
              <a:t>json</a:t>
            </a:r>
            <a:r>
              <a:rPr lang="en-US" sz="3200" dirty="0"/>
              <a:t> module — no need to install anything extra.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9315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4BDE-4ED7-C018-2BBA-5FF35168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json.loads</a:t>
            </a:r>
            <a:r>
              <a:rPr lang="en-US" b="1" dirty="0"/>
              <a:t>() – Read from String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1FCF6-B7A7-68E9-3D63-B57B32100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import </a:t>
            </a:r>
            <a:r>
              <a:rPr lang="en-IN" dirty="0" err="1">
                <a:solidFill>
                  <a:srgbClr val="FF0000"/>
                </a:solidFill>
              </a:rPr>
              <a:t>json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json_string</a:t>
            </a:r>
            <a:r>
              <a:rPr lang="en-IN" dirty="0">
                <a:solidFill>
                  <a:srgbClr val="FF0000"/>
                </a:solidFill>
              </a:rPr>
              <a:t> = '{"name": "Aisha", "role": "Manager"}'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data = </a:t>
            </a:r>
            <a:r>
              <a:rPr lang="en-IN" dirty="0" err="1">
                <a:solidFill>
                  <a:srgbClr val="FF0000"/>
                </a:solidFill>
              </a:rPr>
              <a:t>json.loads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json_string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print(data["name"])  # Output: Aisha</a:t>
            </a:r>
          </a:p>
          <a:p>
            <a:pPr marL="0" indent="0">
              <a:buNone/>
            </a:pPr>
            <a:r>
              <a:rPr lang="en-US" dirty="0" err="1"/>
              <a:t>json.loads</a:t>
            </a:r>
            <a:r>
              <a:rPr lang="en-US" dirty="0"/>
              <a:t>() converts JSON </a:t>
            </a:r>
            <a:r>
              <a:rPr lang="en-US" b="1" dirty="0"/>
              <a:t>string → Python dictionary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32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E198-FFBB-A0DA-E51E-B1CCB826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json.load</a:t>
            </a:r>
            <a:r>
              <a:rPr lang="en-US" b="1" dirty="0"/>
              <a:t>() – Read from File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F69CD-7302-6DD8-C2D3-989E4585B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with open("</a:t>
            </a:r>
            <a:r>
              <a:rPr lang="en-US" dirty="0" err="1">
                <a:solidFill>
                  <a:srgbClr val="FF0000"/>
                </a:solidFill>
              </a:rPr>
              <a:t>employees.json</a:t>
            </a:r>
            <a:r>
              <a:rPr lang="en-US" dirty="0">
                <a:solidFill>
                  <a:srgbClr val="FF0000"/>
                </a:solidFill>
              </a:rPr>
              <a:t>", "r") as f: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data = </a:t>
            </a:r>
            <a:r>
              <a:rPr lang="en-US" dirty="0" err="1">
                <a:solidFill>
                  <a:srgbClr val="FF0000"/>
                </a:solidFill>
              </a:rPr>
              <a:t>json.load</a:t>
            </a:r>
            <a:r>
              <a:rPr lang="en-US" dirty="0">
                <a:solidFill>
                  <a:srgbClr val="FF0000"/>
                </a:solidFill>
              </a:rPr>
              <a:t>(f)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print(data)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Use when reading JSON directly from files.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47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7173C-E7C4-156C-3E11-55B9D237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json.dumps</a:t>
            </a:r>
            <a:r>
              <a:rPr lang="en-US" b="1" dirty="0"/>
              <a:t>() – Convert to JSON String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AF01A-B9EE-1FF1-6700-F3C8EA0A6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python_data</a:t>
            </a:r>
            <a:r>
              <a:rPr lang="en-IN" dirty="0">
                <a:solidFill>
                  <a:srgbClr val="FF0000"/>
                </a:solidFill>
              </a:rPr>
              <a:t> = {"name": "Rahul", "role": "Developer"}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json_string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json.dumps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python_data</a:t>
            </a:r>
            <a:r>
              <a:rPr lang="en-IN" dirty="0">
                <a:solidFill>
                  <a:srgbClr val="FF0000"/>
                </a:solidFill>
              </a:rPr>
              <a:t>, indent=4)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print(</a:t>
            </a:r>
            <a:r>
              <a:rPr lang="en-IN" dirty="0" err="1">
                <a:solidFill>
                  <a:srgbClr val="FF0000"/>
                </a:solidFill>
              </a:rPr>
              <a:t>json_string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 err="1"/>
              <a:t>json.dumps</a:t>
            </a:r>
            <a:r>
              <a:rPr lang="en-IN" dirty="0"/>
              <a:t>() converts </a:t>
            </a:r>
            <a:r>
              <a:rPr lang="en-IN" b="1" dirty="0"/>
              <a:t>Python object → JSON string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40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DF7-4192-3AAE-8DAB-55A96AD2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B0BCF-6513-423A-8FB7-E77D94C68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3520"/>
            <a:ext cx="10744200" cy="46834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data =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"employees": [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{"name": "Aisha", "role": "Manager"},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{"name": "Fatima", "role": "Analyst"}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# Convert and print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json_text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json.dumps</a:t>
            </a:r>
            <a:r>
              <a:rPr lang="en-IN" dirty="0">
                <a:solidFill>
                  <a:srgbClr val="FF0000"/>
                </a:solidFill>
              </a:rPr>
              <a:t>(data, indent=2)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print(</a:t>
            </a:r>
            <a:r>
              <a:rPr lang="en-IN" dirty="0" err="1">
                <a:solidFill>
                  <a:srgbClr val="FF0000"/>
                </a:solidFill>
              </a:rPr>
              <a:t>json_text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Used when sending data to APIs or storing configurations.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9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9C52-0B24-2BE8-D6CB-7E58AB032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Combining Loads and Dumps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7AAC7-B208-C3BB-E3D0-587EDD72E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>
                <a:solidFill>
                  <a:srgbClr val="FF0000"/>
                </a:solidFill>
              </a:rPr>
              <a:t>raw = '{"lane": "BLR-NYC", "status": "Delivered"}'</a:t>
            </a:r>
          </a:p>
          <a:p>
            <a:pPr marL="0" indent="0">
              <a:buNone/>
            </a:pPr>
            <a:r>
              <a:rPr lang="en-IN" sz="3200" dirty="0" err="1">
                <a:solidFill>
                  <a:srgbClr val="FF0000"/>
                </a:solidFill>
              </a:rPr>
              <a:t>obj</a:t>
            </a:r>
            <a:r>
              <a:rPr lang="en-IN" sz="3200" dirty="0">
                <a:solidFill>
                  <a:srgbClr val="FF0000"/>
                </a:solidFill>
              </a:rPr>
              <a:t> = </a:t>
            </a:r>
            <a:r>
              <a:rPr lang="en-IN" sz="3200" dirty="0" err="1">
                <a:solidFill>
                  <a:srgbClr val="FF0000"/>
                </a:solidFill>
              </a:rPr>
              <a:t>json.loads</a:t>
            </a:r>
            <a:r>
              <a:rPr lang="en-IN" sz="3200" dirty="0">
                <a:solidFill>
                  <a:srgbClr val="FF0000"/>
                </a:solidFill>
              </a:rPr>
              <a:t>(raw)</a:t>
            </a:r>
          </a:p>
          <a:p>
            <a:pPr marL="0" indent="0">
              <a:buNone/>
            </a:pPr>
            <a:endParaRPr lang="en-IN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3200" dirty="0" err="1">
                <a:solidFill>
                  <a:srgbClr val="FF0000"/>
                </a:solidFill>
              </a:rPr>
              <a:t>new_json</a:t>
            </a:r>
            <a:r>
              <a:rPr lang="en-IN" sz="3200" dirty="0">
                <a:solidFill>
                  <a:srgbClr val="FF0000"/>
                </a:solidFill>
              </a:rPr>
              <a:t> = </a:t>
            </a:r>
            <a:r>
              <a:rPr lang="en-IN" sz="3200" dirty="0" err="1">
                <a:solidFill>
                  <a:srgbClr val="FF0000"/>
                </a:solidFill>
              </a:rPr>
              <a:t>json.dumps</a:t>
            </a:r>
            <a:r>
              <a:rPr lang="en-IN" sz="3200" dirty="0">
                <a:solidFill>
                  <a:srgbClr val="FF0000"/>
                </a:solidFill>
              </a:rPr>
              <a:t>(</a:t>
            </a:r>
            <a:r>
              <a:rPr lang="en-IN" sz="3200" dirty="0" err="1">
                <a:solidFill>
                  <a:srgbClr val="FF0000"/>
                </a:solidFill>
              </a:rPr>
              <a:t>obj</a:t>
            </a:r>
            <a:r>
              <a:rPr lang="en-IN" sz="3200" dirty="0">
                <a:solidFill>
                  <a:srgbClr val="FF0000"/>
                </a:solidFill>
              </a:rPr>
              <a:t>, indent=4)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FF0000"/>
                </a:solidFill>
              </a:rPr>
              <a:t>print(</a:t>
            </a:r>
            <a:r>
              <a:rPr lang="en-IN" sz="3200" dirty="0" err="1">
                <a:solidFill>
                  <a:srgbClr val="FF0000"/>
                </a:solidFill>
              </a:rPr>
              <a:t>new_json</a:t>
            </a:r>
            <a:r>
              <a:rPr lang="en-IN" sz="32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3200" dirty="0"/>
              <a:t>Useful for formatting and re-serializing JSON data.</a:t>
            </a:r>
          </a:p>
          <a:p>
            <a:pPr marL="0" indent="0">
              <a:buNone/>
            </a:pPr>
            <a:endParaRPr lang="en-IN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873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2F152-4E6A-AB3C-8C71-920DDB01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0485-3333-D0CB-661A-78C09505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JSONDecodeError</a:t>
            </a:r>
            <a:r>
              <a:rPr lang="en-IN" dirty="0"/>
              <a:t> → invalid JSON string</a:t>
            </a:r>
          </a:p>
          <a:p>
            <a:r>
              <a:rPr lang="en-IN" dirty="0"/>
              <a:t>Non-serializable types (like datetime objects)</a:t>
            </a:r>
          </a:p>
          <a:p>
            <a:r>
              <a:rPr lang="en-IN" dirty="0"/>
              <a:t>Missing quotes around keys or strings</a:t>
            </a:r>
          </a:p>
          <a:p>
            <a:r>
              <a:rPr lang="en-IN" dirty="0"/>
              <a:t>✅ Fix: Validate JSON at </a:t>
            </a:r>
            <a:r>
              <a:rPr lang="en-IN" dirty="0">
                <a:hlinkClick r:id="rId2"/>
              </a:rPr>
              <a:t>jsonlint.com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648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C8DB-FB58-5BE8-FE69-34596696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F2F3-271E-2A94-5513-FDAEA80BA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/>
              <a:t>✅ </a:t>
            </a:r>
            <a:r>
              <a:rPr lang="en-IN" sz="3200" dirty="0" err="1"/>
              <a:t>json.loads</a:t>
            </a:r>
            <a:r>
              <a:rPr lang="en-IN" sz="3200" dirty="0"/>
              <a:t>() → Read JSON string</a:t>
            </a:r>
            <a:br>
              <a:rPr lang="en-IN" sz="3200" dirty="0"/>
            </a:br>
            <a:r>
              <a:rPr lang="en-IN" sz="3200" dirty="0"/>
              <a:t>✅ </a:t>
            </a:r>
            <a:r>
              <a:rPr lang="en-IN" sz="3200" dirty="0" err="1"/>
              <a:t>json.load</a:t>
            </a:r>
            <a:r>
              <a:rPr lang="en-IN" sz="3200" dirty="0"/>
              <a:t>() → Read from file</a:t>
            </a:r>
            <a:br>
              <a:rPr lang="en-IN" sz="3200" dirty="0"/>
            </a:br>
            <a:r>
              <a:rPr lang="en-IN" sz="3200" dirty="0"/>
              <a:t>✅ </a:t>
            </a:r>
            <a:r>
              <a:rPr lang="en-IN" sz="3200" dirty="0" err="1"/>
              <a:t>json.dumps</a:t>
            </a:r>
            <a:r>
              <a:rPr lang="en-IN" sz="3200" dirty="0"/>
              <a:t>() → Convert Python object to JSON string</a:t>
            </a:r>
            <a:br>
              <a:rPr lang="en-IN" sz="3200" dirty="0"/>
            </a:br>
            <a:r>
              <a:rPr lang="en-IN" sz="3200" dirty="0"/>
              <a:t>✅ Widely used in APIs, configs, and ETL processes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92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Reading JSON (json.loads, json.dumps)</vt:lpstr>
      <vt:lpstr>What is JSON?</vt:lpstr>
      <vt:lpstr>Importing the Module</vt:lpstr>
      <vt:lpstr>json.loads() – Read from String</vt:lpstr>
      <vt:lpstr>json.load() – Read from File</vt:lpstr>
      <vt:lpstr>json.dumps() – Convert to JSON String</vt:lpstr>
      <vt:lpstr>Real-World Example</vt:lpstr>
      <vt:lpstr>Combining Loads and Dumps</vt:lpstr>
      <vt:lpstr>Common Issues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2025-11-06T05:45:20Z</dcterms:created>
  <dcterms:modified xsi:type="dcterms:W3CDTF">2025-11-06T05:46:11Z</dcterms:modified>
</cp:coreProperties>
</file>