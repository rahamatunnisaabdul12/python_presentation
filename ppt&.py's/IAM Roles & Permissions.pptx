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DD375-46B4-6DF7-1AF8-E072DBFE1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97923-2D3A-B92B-1E00-1F132960D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7F285-1CC1-AF0E-1438-7C82FF618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3BA3-14A3-44B0-87C4-6D67210101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8F192-1913-AAEB-1D3D-F2950A9F4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70404-CE91-C5FB-86E9-614C6292B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FC27-3CBE-4299-9FE3-6CC066BF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70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8141-C3A9-FF8B-7CE5-FF996BA3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7D74D-DF70-AB0E-FA4C-0269ACA4D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53AF1-1F80-9D69-0235-CFAC74A2D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3BA3-14A3-44B0-87C4-6D67210101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75375-9B8E-3311-CEEA-5E0D4AB6A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E05B2-71B8-A27B-D2E7-C01FF0145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FC27-3CBE-4299-9FE3-6CC066BF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794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CC17F-B98D-69B6-0514-6C03581FA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21E9B-740F-03FE-5C5C-8E7584196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7966F-8F64-348E-1F12-C81152F8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3BA3-14A3-44B0-87C4-6D67210101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40EB7-E8AD-735F-F841-36514C649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1B943-11DF-AD07-E093-0C11A3FC4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FC27-3CBE-4299-9FE3-6CC066BF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252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B527-C59A-389D-1716-9C157CD89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044AC-10AC-BF8E-E66F-7E4D9A031B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7DAFA-808F-53A3-D651-60382220F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274DE-9976-BF21-E350-ACA84AF75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3BA3-14A3-44B0-87C4-6D67210101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BA33F-3345-DCFA-864B-975239100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DE6CE-992B-8FE5-6CB6-BD4A084A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FC27-3CBE-4299-9FE3-6CC066BF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15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3F35-9D6B-8FE0-5D1B-EDB52C7AF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6B43A-12F8-6240-962F-45A3DB11B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09164-39E2-9E62-4CA1-BFB769192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169476-8B8B-FDB7-61A7-83261DDE86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3CE01-78B2-69CF-0BFF-C3F13DEA9C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9A6DB3-C085-02C5-8668-7343BF125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3BA3-14A3-44B0-87C4-6D67210101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C459EF-6D75-0432-B844-8488B96DF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4C7785-2DA9-06F3-FFCA-770FFBC8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FC27-3CBE-4299-9FE3-6CC066BF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40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E50B3-E0A2-9555-7F20-43039F7C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1E1F06-349F-F09A-463D-21BF1271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3BA3-14A3-44B0-87C4-6D67210101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ABA64-4447-D77A-ADE5-3F1CF894D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1F93E-16C8-13E5-0D3C-0CA545A4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FC27-3CBE-4299-9FE3-6CC066BF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404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EC3A1D-6183-9313-749F-DA7A2B05C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3BA3-14A3-44B0-87C4-6D67210101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8E2F3E-CA9D-0D6A-262A-1D8919BF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F84F9-59FA-B341-49AD-36DC1CBD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FC27-3CBE-4299-9FE3-6CC066BF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80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BBB6-4074-581D-B578-572D83185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9EA3F-33DF-F7E9-31D2-DAD5CE060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DFBA0-8614-4FF0-5BF4-D30D189B7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EDCB9-55DB-7993-E381-2E12A016C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3BA3-14A3-44B0-87C4-6D67210101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7B46B-B83E-81E2-1292-6BA8C021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466BC-673E-B45C-958C-BF1D68B40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FC27-3CBE-4299-9FE3-6CC066BF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617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F6FD-FF09-2FE2-57B6-82954B6D2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DEB42-B4D5-F73C-245F-6CB4B460B6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F1476-E7BB-CDE8-B855-2B764600C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D27D5-924C-962E-BB77-07E8E8A44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3BA3-14A3-44B0-87C4-6D67210101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F545B-333A-5A11-0964-14944549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955D2-162A-380E-A5C4-F16E5DD19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FC27-3CBE-4299-9FE3-6CC066BF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502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88ED3-AD85-C535-0C6B-92E8591AD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CC095-D882-BC30-5404-D40EAC82B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54189-D150-BB3D-E46B-D6178DBC3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3BA3-14A3-44B0-87C4-6D67210101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F17FE-DE41-5D9A-7C5B-E00B1BB38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6797B-DAA0-86D6-94ED-ACF24D458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FC27-3CBE-4299-9FE3-6CC066BF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59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EC7847-7ABA-6F1B-1B3F-A4FFA068F7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33400-605C-2F20-7A2F-74DE99C02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88FC5-63A9-A920-9486-6116C84E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3BA3-14A3-44B0-87C4-6D67210101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34741-9630-7142-709E-21E185DD1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30D55-4603-7E13-B1FA-F2C1B1C6A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FC27-3CBE-4299-9FE3-6CC066BF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120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1F962B-F42F-7BB0-04AA-2E5B880A6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E6D3A-7D38-F179-49F7-6970BC21D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C73B1-D8F9-D523-9B29-E52A6631E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F3BA3-14A3-44B0-87C4-6D67210101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B9825-6C94-64B8-F6B9-7E824C092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8082E-2E00-776B-7E1D-D1B176B2C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EFC27-3CBE-4299-9FE3-6CC066BF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6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53106-AB75-D96D-AD1D-F5AA4D9F9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441" y="224589"/>
            <a:ext cx="9737559" cy="1375611"/>
          </a:xfrm>
        </p:spPr>
        <p:txBody>
          <a:bodyPr/>
          <a:lstStyle/>
          <a:p>
            <a:r>
              <a:rPr lang="en-IN" b="1" dirty="0"/>
              <a:t>IAM Roles &amp; Permissions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FB965-926C-5DA3-3545-80A7C804B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441" y="2133600"/>
            <a:ext cx="9737559" cy="31242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/>
              <a:t>Introduction to IAM</a:t>
            </a:r>
          </a:p>
          <a:p>
            <a:pPr algn="l"/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AWS Identity and Access Management (IAM) allows secure control over who can access AWS resources.</a:t>
            </a:r>
            <a:br>
              <a:rPr lang="en-US" dirty="0"/>
            </a:br>
            <a:r>
              <a:rPr lang="en-US" dirty="0"/>
              <a:t>It defines </a:t>
            </a:r>
            <a:r>
              <a:rPr lang="en-US" i="1" dirty="0"/>
              <a:t>who</a:t>
            </a:r>
            <a:r>
              <a:rPr lang="en-US" dirty="0"/>
              <a:t> can perform </a:t>
            </a:r>
            <a:r>
              <a:rPr lang="en-US" i="1" dirty="0"/>
              <a:t>what actions</a:t>
            </a:r>
            <a:r>
              <a:rPr lang="en-US" dirty="0"/>
              <a:t> on </a:t>
            </a:r>
            <a:r>
              <a:rPr lang="en-US" i="1" dirty="0"/>
              <a:t>which resources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Key Concepts:</a:t>
            </a:r>
            <a:endParaRPr lang="en-US" dirty="0"/>
          </a:p>
          <a:p>
            <a:pPr algn="l"/>
            <a:r>
              <a:rPr lang="en-US" dirty="0"/>
              <a:t>IAM Users → represent individuals</a:t>
            </a:r>
          </a:p>
          <a:p>
            <a:pPr algn="l"/>
            <a:r>
              <a:rPr lang="en-US" dirty="0"/>
              <a:t>IAM Roles → temporary access for apps/services</a:t>
            </a:r>
          </a:p>
          <a:p>
            <a:pPr algn="l"/>
            <a:r>
              <a:rPr lang="en-US" dirty="0"/>
              <a:t>IAM Policies → JSON documents that define permissions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1417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F4EC7-BDBC-723F-647C-9B57EEB6E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IAM is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E2C2-B7E5-3827-7093-8597EF9FF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IAM protects AWS accounts by enforcing the </a:t>
            </a:r>
            <a:r>
              <a:rPr lang="en-US" i="1" dirty="0"/>
              <a:t>Principle of Least Privilege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Without IAM, anyone could access or modify critical resources.</a:t>
            </a:r>
            <a:br>
              <a:rPr lang="en-US" dirty="0"/>
            </a:br>
            <a:r>
              <a:rPr lang="en-US" b="1" dirty="0"/>
              <a:t>Why It Matters:</a:t>
            </a:r>
            <a:endParaRPr lang="en-US" dirty="0"/>
          </a:p>
          <a:p>
            <a:r>
              <a:rPr lang="en-US" dirty="0"/>
              <a:t>Prevents unauthorized access</a:t>
            </a:r>
          </a:p>
          <a:p>
            <a:r>
              <a:rPr lang="en-US" dirty="0"/>
              <a:t>Enables controlled automation (via roles)</a:t>
            </a:r>
          </a:p>
          <a:p>
            <a:r>
              <a:rPr lang="en-US" dirty="0"/>
              <a:t>Keeps data and services safe</a:t>
            </a:r>
            <a:br>
              <a:rPr lang="en-US" dirty="0"/>
            </a:b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ETL job can only read from raw and write to trusted S3 zones.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3971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FA6F1-4B01-4A5F-6DDA-03E00CB63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Users, Groups, and Roles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164A7-2FF5-7BAC-7309-754695EBA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IAM provides three core identity types:</a:t>
            </a:r>
            <a:br>
              <a:rPr lang="en-US" dirty="0"/>
            </a:br>
            <a:r>
              <a:rPr lang="en-US" dirty="0"/>
              <a:t>1️⃣ </a:t>
            </a:r>
            <a:r>
              <a:rPr lang="en-US" b="1" dirty="0"/>
              <a:t>User:</a:t>
            </a:r>
            <a:r>
              <a:rPr lang="en-US" dirty="0"/>
              <a:t> Human identity with long-term credentials.</a:t>
            </a:r>
            <a:br>
              <a:rPr lang="en-US" dirty="0"/>
            </a:br>
            <a:r>
              <a:rPr lang="en-US" dirty="0"/>
              <a:t>2️⃣ </a:t>
            </a:r>
            <a:r>
              <a:rPr lang="en-US" b="1" dirty="0"/>
              <a:t>Group:</a:t>
            </a:r>
            <a:r>
              <a:rPr lang="en-US" dirty="0"/>
              <a:t> Logical collection of users (e.g., “</a:t>
            </a:r>
            <a:r>
              <a:rPr lang="en-US" dirty="0" err="1"/>
              <a:t>DataEngineers</a:t>
            </a:r>
            <a:r>
              <a:rPr lang="en-US" dirty="0"/>
              <a:t>”).</a:t>
            </a:r>
            <a:br>
              <a:rPr lang="en-US" dirty="0"/>
            </a:br>
            <a:r>
              <a:rPr lang="en-US" dirty="0"/>
              <a:t>3️⃣ </a:t>
            </a:r>
            <a:r>
              <a:rPr lang="en-US" b="1" dirty="0"/>
              <a:t>Role:</a:t>
            </a:r>
            <a:r>
              <a:rPr lang="en-US" dirty="0"/>
              <a:t> Temporary identity assumed by AWS services or apps.</a:t>
            </a:r>
            <a:br>
              <a:rPr lang="en-US" dirty="0"/>
            </a:b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Glue Job assumes the role </a:t>
            </a:r>
            <a:r>
              <a:rPr lang="en-US" dirty="0" err="1"/>
              <a:t>GlueETLRole</a:t>
            </a:r>
            <a:r>
              <a:rPr lang="en-US" dirty="0"/>
              <a:t> with S3 read/write permissions.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9324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20F05-A292-E58E-6315-CB3B8066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IAM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84F1D-B059-DFF8-5741-969F40E9A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Policies define what actions are allowed or denied.</a:t>
            </a:r>
            <a:br>
              <a:rPr lang="en-US" dirty="0"/>
            </a:br>
            <a:r>
              <a:rPr lang="en-US" dirty="0"/>
              <a:t>They are written in JSON and attached to users, groups, or roles.</a:t>
            </a:r>
            <a:br>
              <a:rPr lang="en-US" dirty="0"/>
            </a:br>
            <a:r>
              <a:rPr lang="en-US" b="1" dirty="0"/>
              <a:t>Key Elements:</a:t>
            </a:r>
            <a:endParaRPr lang="en-US" dirty="0"/>
          </a:p>
          <a:p>
            <a:r>
              <a:rPr lang="en-US" b="1" dirty="0"/>
              <a:t>Effect:</a:t>
            </a:r>
            <a:r>
              <a:rPr lang="en-US" dirty="0"/>
              <a:t> Allow or Deny</a:t>
            </a:r>
          </a:p>
          <a:p>
            <a:r>
              <a:rPr lang="en-US" b="1" dirty="0"/>
              <a:t>Action:</a:t>
            </a:r>
            <a:r>
              <a:rPr lang="en-US" dirty="0"/>
              <a:t> AWS operations (like s3:GetObject)</a:t>
            </a:r>
          </a:p>
          <a:p>
            <a:r>
              <a:rPr lang="en-US" b="1" dirty="0"/>
              <a:t>Resource:</a:t>
            </a:r>
            <a:r>
              <a:rPr lang="en-US" dirty="0"/>
              <a:t> ARN of AWS resource</a:t>
            </a:r>
            <a:br>
              <a:rPr lang="en-US" dirty="0"/>
            </a:b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Allow S3 read access for the trusted zone.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451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FD15C-85FE-FFFF-C758-9F2E1E6F4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Sample IAM Policy (S3 Example)</a:t>
            </a:r>
            <a:br>
              <a:rPr lang="en-US" b="1" dirty="0"/>
            </a:br>
            <a:r>
              <a:rPr lang="en-US" b="1" dirty="0"/>
              <a:t>Example JSON Policy: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957F8-FFD5-E65A-2970-B5D1F1567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84" y="1363579"/>
            <a:ext cx="10712116" cy="481338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"Version": "2012-10-17",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"Statement": [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"Effect": "Allow",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"Action": ["s3:GetObject", "s3:ListBucket"],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"Resource": [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  "arn:aws:s3:::</a:t>
            </a:r>
            <a:r>
              <a:rPr lang="en-IN" dirty="0" err="1">
                <a:solidFill>
                  <a:srgbClr val="FF0000"/>
                </a:solidFill>
              </a:rPr>
              <a:t>supplychain</a:t>
            </a:r>
            <a:r>
              <a:rPr lang="en-IN" dirty="0">
                <a:solidFill>
                  <a:srgbClr val="FF0000"/>
                </a:solidFill>
              </a:rPr>
              <a:t>-data-demo/trusted/*",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  "arn:aws:s3:::</a:t>
            </a:r>
            <a:r>
              <a:rPr lang="en-IN" dirty="0" err="1">
                <a:solidFill>
                  <a:srgbClr val="FF0000"/>
                </a:solidFill>
              </a:rPr>
              <a:t>supplychain</a:t>
            </a:r>
            <a:r>
              <a:rPr lang="en-IN" dirty="0">
                <a:solidFill>
                  <a:srgbClr val="FF0000"/>
                </a:solidFill>
              </a:rPr>
              <a:t>-data-demo"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]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]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dirty="0"/>
              <a:t>Allows listing the bucket and reading files from the trusted zone.</a:t>
            </a:r>
          </a:p>
          <a:p>
            <a:r>
              <a:rPr lang="en-US" dirty="0"/>
              <a:t>Denies other write operations by default.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2519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D355-8AA7-E835-69C8-327EC6EC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IAM Roles in ETL &amp;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B3146-7666-03BA-7EC4-E670E41E2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IAM roles are heavily used by AWS services like Lambda, Glue, Step Functions, and EC2.</a:t>
            </a:r>
            <a:br>
              <a:rPr lang="en-US" dirty="0"/>
            </a:br>
            <a:r>
              <a:rPr lang="en-US" b="1" dirty="0"/>
              <a:t>Examples:</a:t>
            </a:r>
            <a:endParaRPr lang="en-US" dirty="0"/>
          </a:p>
          <a:p>
            <a:r>
              <a:rPr lang="en-US" b="1" dirty="0"/>
              <a:t>Glue Role:</a:t>
            </a:r>
            <a:r>
              <a:rPr lang="en-US" dirty="0"/>
              <a:t> Reads from S3 raw → writes to trusted</a:t>
            </a:r>
          </a:p>
          <a:p>
            <a:r>
              <a:rPr lang="en-US" b="1" dirty="0"/>
              <a:t>Lambda Role:</a:t>
            </a:r>
            <a:r>
              <a:rPr lang="en-US" dirty="0"/>
              <a:t> Accesses DynamoDB and logs to CloudWatch</a:t>
            </a:r>
          </a:p>
          <a:p>
            <a:r>
              <a:rPr lang="en-US" b="1" dirty="0"/>
              <a:t>Step Function Role:</a:t>
            </a:r>
            <a:r>
              <a:rPr lang="en-US" dirty="0"/>
              <a:t> Orchestrates multiple jobs securely</a:t>
            </a:r>
            <a:br>
              <a:rPr lang="en-US" dirty="0"/>
            </a:br>
            <a:r>
              <a:rPr lang="en-US" b="1" dirty="0"/>
              <a:t>Benefit:</a:t>
            </a:r>
            <a:br>
              <a:rPr lang="en-US" dirty="0"/>
            </a:br>
            <a:r>
              <a:rPr lang="en-US" dirty="0"/>
              <a:t>No need to embed credentials in your Python code.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7777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F70F3-F811-AA5E-5F04-F61E38EF1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Inline vs Managed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24CC5-D7C1-6E1D-7904-8CA9B094A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Two ways to attach permissions to identities:</a:t>
            </a:r>
          </a:p>
          <a:p>
            <a:r>
              <a:rPr lang="en-US" b="1" dirty="0"/>
              <a:t>Managed Policy:</a:t>
            </a:r>
            <a:r>
              <a:rPr lang="en-US" dirty="0"/>
              <a:t> Reusable, AWS-maintained or custom-made.</a:t>
            </a:r>
          </a:p>
          <a:p>
            <a:r>
              <a:rPr lang="en-US" b="1" dirty="0"/>
              <a:t>Inline Policy:</a:t>
            </a:r>
            <a:r>
              <a:rPr lang="en-US" dirty="0"/>
              <a:t> Directly embedded inside one role or user.</a:t>
            </a:r>
            <a:br>
              <a:rPr lang="en-US" dirty="0"/>
            </a:br>
            <a:r>
              <a:rPr lang="en-US" b="1" dirty="0"/>
              <a:t>Best Practice:</a:t>
            </a:r>
            <a:br>
              <a:rPr lang="en-US" dirty="0"/>
            </a:br>
            <a:r>
              <a:rPr lang="en-US" dirty="0"/>
              <a:t>Use managed policies for reuse and version control.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6942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B1720-8B63-199A-A561-C5497744F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IAM Trust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1A51E-B4A1-E1B5-7CF9-5245569B0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95" y="1331495"/>
            <a:ext cx="10631905" cy="48454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A trust relationship defines </a:t>
            </a:r>
            <a:r>
              <a:rPr lang="en-US" i="1" dirty="0"/>
              <a:t>who can assume a role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Allow AWS Glue to assume a role with S3 access.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"Effect": "Allow",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"Principal": { "Service": "glue.amazonaws.com" },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"Action": "</a:t>
            </a:r>
            <a:r>
              <a:rPr lang="en-IN" dirty="0" err="1">
                <a:solidFill>
                  <a:srgbClr val="FF0000"/>
                </a:solidFill>
              </a:rPr>
              <a:t>sts:AssumeRole</a:t>
            </a:r>
            <a:r>
              <a:rPr lang="en-IN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US" b="1" dirty="0"/>
              <a:t>Concept:</a:t>
            </a:r>
            <a:br>
              <a:rPr lang="en-US" dirty="0"/>
            </a:br>
            <a:r>
              <a:rPr lang="en-US" dirty="0"/>
              <a:t>Without trust policies, even valid roles cannot be assumed.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7190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FFA7-5A42-1B26-B6C0-4B10DC00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IAM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DA197-D1CA-1195-BFEB-386AD8559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Avoid These:</a:t>
            </a:r>
            <a:endParaRPr lang="en-IN" dirty="0"/>
          </a:p>
          <a:p>
            <a:r>
              <a:rPr lang="en-IN" dirty="0"/>
              <a:t>Granting </a:t>
            </a:r>
            <a:r>
              <a:rPr lang="en-IN" dirty="0" err="1"/>
              <a:t>AdministratorAccess</a:t>
            </a:r>
            <a:r>
              <a:rPr lang="en-IN" dirty="0"/>
              <a:t> to all users.</a:t>
            </a:r>
          </a:p>
          <a:p>
            <a:r>
              <a:rPr lang="en-IN" dirty="0"/>
              <a:t>Using personal access keys in production scripts.</a:t>
            </a:r>
          </a:p>
          <a:p>
            <a:r>
              <a:rPr lang="en-IN" dirty="0"/>
              <a:t>Forgetting to rotate credentials.</a:t>
            </a:r>
          </a:p>
          <a:p>
            <a:r>
              <a:rPr lang="en-IN" dirty="0"/>
              <a:t>Mixing dev/prod roles in one account.</a:t>
            </a:r>
            <a:br>
              <a:rPr lang="en-IN" dirty="0"/>
            </a:br>
            <a:r>
              <a:rPr lang="en-IN" b="1" dirty="0"/>
              <a:t>Fix:</a:t>
            </a:r>
            <a:br>
              <a:rPr lang="en-IN" dirty="0"/>
            </a:br>
            <a:r>
              <a:rPr lang="en-IN" dirty="0"/>
              <a:t>Create environment-based IAM roles (</a:t>
            </a:r>
            <a:r>
              <a:rPr lang="en-IN" dirty="0" err="1"/>
              <a:t>GlueRole_Dev</a:t>
            </a:r>
            <a:r>
              <a:rPr lang="en-IN" dirty="0"/>
              <a:t>, </a:t>
            </a:r>
            <a:r>
              <a:rPr lang="en-IN" dirty="0" err="1"/>
              <a:t>GlueRole_Prod</a:t>
            </a:r>
            <a:r>
              <a:rPr lang="en-IN" dirty="0"/>
              <a:t>) and assign least privilege.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796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C5F6A-33DD-C305-C91E-3DADC6721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10E-1D74-25A6-6E6A-3CE1B0814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Best Practices:</a:t>
            </a:r>
            <a:br>
              <a:rPr lang="en-US" dirty="0"/>
            </a:br>
            <a:r>
              <a:rPr lang="en-US" dirty="0"/>
              <a:t>✅ Always follow the Principle of Least Privilege</a:t>
            </a:r>
            <a:br>
              <a:rPr lang="en-US" dirty="0"/>
            </a:br>
            <a:r>
              <a:rPr lang="en-US" dirty="0"/>
              <a:t>✅ Use IAM Roles for services, not users</a:t>
            </a:r>
            <a:br>
              <a:rPr lang="en-US" dirty="0"/>
            </a:br>
            <a:r>
              <a:rPr lang="en-US" dirty="0"/>
              <a:t>✅ Enable MFA (Multi-Factor Authentication)</a:t>
            </a:r>
            <a:br>
              <a:rPr lang="en-US" dirty="0"/>
            </a:br>
            <a:r>
              <a:rPr lang="en-US" dirty="0"/>
              <a:t>✅ Regularly audit policies with IAM Access Analyzer</a:t>
            </a:r>
            <a:br>
              <a:rPr lang="en-US" dirty="0"/>
            </a:br>
            <a:r>
              <a:rPr lang="en-US" dirty="0"/>
              <a:t>✅ Separate permissions by environment (Dev/Prod)</a:t>
            </a:r>
            <a:br>
              <a:rPr lang="en-US" dirty="0"/>
            </a:br>
            <a:r>
              <a:rPr lang="en-US" b="1" dirty="0"/>
              <a:t>Summary:</a:t>
            </a:r>
            <a:br>
              <a:rPr lang="en-US" dirty="0"/>
            </a:br>
            <a:r>
              <a:rPr lang="en-US" dirty="0"/>
              <a:t>IAM ensures that every process and user in AWS does </a:t>
            </a:r>
            <a:r>
              <a:rPr lang="en-US" i="1" dirty="0"/>
              <a:t>only what it is allowed to do — nothing more</a:t>
            </a:r>
            <a:r>
              <a:rPr lang="en-US" dirty="0"/>
              <a:t>. </a:t>
            </a:r>
            <a:r>
              <a:rPr lang="en-US"/>
              <a:t>🔒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668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IAM Roles &amp; Permissions</vt:lpstr>
      <vt:lpstr>Why IAM is Important</vt:lpstr>
      <vt:lpstr>IAM Users, Groups, and Roles</vt:lpstr>
      <vt:lpstr>IAM Policies</vt:lpstr>
      <vt:lpstr>Sample IAM Policy (S3 Example) Example JSON Policy: </vt:lpstr>
      <vt:lpstr>IAM Roles in ETL &amp; APIs</vt:lpstr>
      <vt:lpstr>Inline vs Managed Policies</vt:lpstr>
      <vt:lpstr>IAM Trust Relationships</vt:lpstr>
      <vt:lpstr>Common IAM Mistakes</vt:lpstr>
      <vt:lpstr>Best Practices &amp;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2025-11-10T09:57:09Z</dcterms:created>
  <dcterms:modified xsi:type="dcterms:W3CDTF">2025-11-10T09:57:20Z</dcterms:modified>
</cp:coreProperties>
</file>