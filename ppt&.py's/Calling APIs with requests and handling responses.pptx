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F4FEE-96C9-8BEC-DFEC-C68D473855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13B00D-7C97-3543-FD21-8FC55C805D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4CA336-3384-C04E-C086-0F7E7788A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8CD88-7596-4271-9988-45A8D5C29893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3CC1BB-08DA-D7C9-827A-C9BBD0153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68AF80-D651-59A1-3D3D-0AF7C0436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9A202-8D72-4C2C-A1B5-0032A38325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3223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861FD-FB6C-400C-A635-D3E2DDA10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DE6CB-ADC3-C302-34A4-B16CDE54C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55CD8E-4976-507F-6A06-96553CC56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8CD88-7596-4271-9988-45A8D5C29893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68334A-04E3-23AB-FE11-21823467C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1F035C-8CE6-D292-1D3E-77033E0CD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9A202-8D72-4C2C-A1B5-0032A38325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2700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04ABF-920E-D5A9-D809-898B0C79E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2A9D78-C099-488B-3CA0-3C0383B88D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2FC2F-F112-5005-82A7-42790A918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8CD88-7596-4271-9988-45A8D5C29893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C15087-37CE-7C68-E709-8D82992F7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35936-8C2A-5BE0-F775-8EBA34D33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9A202-8D72-4C2C-A1B5-0032A38325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7081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47585-E8DE-A1BC-F2FE-62142132F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5F848-E621-A22C-2913-57E412B747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0EFACE-02CF-ED46-8E91-F02CD8D3FA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6B6630-9169-F013-73C8-DD58492EE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8CD88-7596-4271-9988-45A8D5C29893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8B04DC-2449-DA4B-CDD1-A9259405A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35210C-13A3-A8A6-DC11-FD525E001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9A202-8D72-4C2C-A1B5-0032A38325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4630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E9269-7B71-F1E6-FC9E-E97B8E07C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D781D1-E609-5F23-7B7B-268040C06A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0172EE-23B6-A5D1-EE86-21A966A0B4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281D9B-2313-D95F-E5D6-21DE5CED0F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E143C9-9465-A8BC-9560-128F34982F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F1E7E3-0421-DBDB-2DC4-FDC54EAAD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8CD88-7596-4271-9988-45A8D5C29893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004F1B-67E9-F436-5235-F2DFED9DA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54F733-3E53-58D7-2F77-0FBC0EC48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9A202-8D72-4C2C-A1B5-0032A38325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2561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7C97F-F196-2955-6BA1-77EAC36C2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0B0A14-815B-7453-C59E-1B6B9303F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8CD88-7596-4271-9988-45A8D5C29893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3F9ABF-4FF1-4A3D-6BAF-51E472534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D5F1DA-8098-763B-8C89-4D3258AF1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9A202-8D72-4C2C-A1B5-0032A38325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7696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0612BB-2A9A-EACF-862A-2B207C781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8CD88-7596-4271-9988-45A8D5C29893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F7B1E7-3711-51C4-EDFE-FBF3A3234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D1FC16-FA32-361A-46C0-E20E17EAA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9A202-8D72-4C2C-A1B5-0032A38325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897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F2411-983D-59E1-353A-1AA098881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B493D-DFC6-E11A-CD10-5547EB60EF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E63AA8-54A1-0C32-4093-DE5DF7EB93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CB56F5-8BE1-C203-E03D-24000FE01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8CD88-7596-4271-9988-45A8D5C29893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39FE31-0B5A-4BB5-DD7A-6F69786EE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4DD861-37F3-D5D5-DEDF-6F214E682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9A202-8D72-4C2C-A1B5-0032A38325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4665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09DB4-F478-722A-8E32-49F0411C0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0E1E80-A22F-54DA-BCA4-B66783C00D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E259BE-F5A3-E1F1-EB61-8BAF17303A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D0E49C-5B82-2388-E89D-5B9F9AE6A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8CD88-7596-4271-9988-45A8D5C29893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422A5B-176D-9B57-30B4-0DD6AC9FF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B7E251-7B23-5AC0-75B1-B54DB3E80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9A202-8D72-4C2C-A1B5-0032A38325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8411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BAB77-F7A1-99D5-15E3-B9C82BBD4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709E18-E3EB-2472-C05F-467433BA51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16858B-75C9-9FA5-C346-0DBF1D5EC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8CD88-7596-4271-9988-45A8D5C29893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627AB-035A-D578-5795-7B18E566F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EEA0E5-C1F0-1C50-2CCE-5BAF704B9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9A202-8D72-4C2C-A1B5-0032A38325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8815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AA46BA-3672-89CB-2C57-84C9B76AA8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5688CC-92CF-AA3A-2B11-CD86FC1A3E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A384DA-E4AF-E5E1-CB73-659F8B9A0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8CD88-7596-4271-9988-45A8D5C29893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81DF3E-E493-13CA-9E66-E7FAD23AE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D965A3-FD2B-FB8F-027C-1A7EF4879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9A202-8D72-4C2C-A1B5-0032A38325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973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8CA299-07DA-4B3E-E469-F248D004F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4B11D0-2089-4155-B52F-728D9F3E2E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2E0B6-87DF-D5DF-DF27-3074423A41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F8CD88-7596-4271-9988-45A8D5C29893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03D9F-C3AF-44B3-F795-A694EAA5C5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72C666-12A9-98CF-B849-AD9A2DAFDE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29A202-8D72-4C2C-A1B5-0032A38325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5434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091AE-AA32-B613-7C53-73BBDF403A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8" y="0"/>
            <a:ext cx="9144001" cy="1925053"/>
          </a:xfrm>
        </p:spPr>
        <p:txBody>
          <a:bodyPr/>
          <a:lstStyle/>
          <a:p>
            <a:r>
              <a:rPr lang="en-US" dirty="0"/>
              <a:t>Calling APIs with requests and handling responses”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115724-1ED2-9313-2A6D-357AF0D43D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6484" y="2165684"/>
            <a:ext cx="9721516" cy="4203032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Topic &amp; Overview</a:t>
            </a:r>
          </a:p>
          <a:p>
            <a:pPr algn="l"/>
            <a:r>
              <a:rPr lang="en-US" b="1" dirty="0"/>
              <a:t>Title:</a:t>
            </a:r>
            <a:r>
              <a:rPr lang="en-US" dirty="0"/>
              <a:t> Calling APIs with requests — Overview</a:t>
            </a:r>
            <a:br>
              <a:rPr lang="en-US" dirty="0"/>
            </a:br>
            <a:r>
              <a:rPr lang="en-US" b="1" dirty="0"/>
              <a:t>Theory:</a:t>
            </a:r>
            <a:r>
              <a:rPr lang="en-US" dirty="0"/>
              <a:t> APIs (Application Programming Interfaces) let systems exchange data over HTTP. Python’s requests library is a simple, readable tool for making HTTP calls and handling responses.</a:t>
            </a:r>
            <a:br>
              <a:rPr lang="en-US" dirty="0"/>
            </a:br>
            <a:r>
              <a:rPr lang="en-US" b="1" dirty="0"/>
              <a:t>Key Points:</a:t>
            </a:r>
            <a:endParaRPr lang="en-US" dirty="0"/>
          </a:p>
          <a:p>
            <a:pPr algn="l"/>
            <a:r>
              <a:rPr lang="en-US" dirty="0"/>
              <a:t>Use requests for GET/POST/PUT/DELETE.</a:t>
            </a:r>
          </a:p>
          <a:p>
            <a:pPr algn="l"/>
            <a:r>
              <a:rPr lang="en-US" dirty="0"/>
              <a:t>Most APIs use JSON payloads.</a:t>
            </a:r>
          </a:p>
          <a:p>
            <a:pPr algn="l"/>
            <a:r>
              <a:rPr lang="en-US" dirty="0"/>
              <a:t>Always check responses and handle errors.</a:t>
            </a:r>
          </a:p>
        </p:txBody>
      </p:sp>
    </p:spTree>
    <p:extLst>
      <p:ext uri="{BB962C8B-B14F-4D97-AF65-F5344CB8AC3E}">
        <p14:creationId xmlns:p14="http://schemas.microsoft.com/office/powerpoint/2010/main" val="35456287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B767C-D720-61E0-094E-A5043E09E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HTTP Methods &amp; When to Use Them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6A4D3-D4D6-62B3-F447-E954AFAA84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HTTP Methods (GET / POST / PUT / DELETE)</a:t>
            </a:r>
            <a:br>
              <a:rPr lang="en-IN" dirty="0"/>
            </a:br>
            <a:r>
              <a:rPr lang="en-IN" b="1" dirty="0"/>
              <a:t>Theory:</a:t>
            </a:r>
            <a:r>
              <a:rPr lang="en-IN" dirty="0"/>
              <a:t> Different methods represent different intents: read, create, update, delete. Choosing the correct method follows RESTful API design.</a:t>
            </a:r>
            <a:br>
              <a:rPr lang="en-IN" dirty="0"/>
            </a:br>
            <a:r>
              <a:rPr lang="en-IN" b="1" dirty="0"/>
              <a:t>Key Points:</a:t>
            </a:r>
            <a:endParaRPr lang="en-IN" dirty="0"/>
          </a:p>
          <a:p>
            <a:r>
              <a:rPr lang="en-IN" dirty="0"/>
              <a:t>GET — read data (idempotent).</a:t>
            </a:r>
          </a:p>
          <a:p>
            <a:r>
              <a:rPr lang="en-IN" dirty="0"/>
              <a:t>POST — create resource (not idempotent).</a:t>
            </a:r>
          </a:p>
          <a:p>
            <a:r>
              <a:rPr lang="en-IN" dirty="0"/>
              <a:t>PUT/PATCH — update resource.</a:t>
            </a:r>
          </a:p>
          <a:p>
            <a:r>
              <a:rPr lang="en-IN" dirty="0"/>
              <a:t>DELETE — remove resource.</a:t>
            </a:r>
            <a:br>
              <a:rPr lang="en-IN" dirty="0"/>
            </a:br>
            <a:r>
              <a:rPr lang="en-IN" b="1" dirty="0"/>
              <a:t>Mini-example:</a:t>
            </a:r>
            <a:r>
              <a:rPr lang="en-IN" dirty="0"/>
              <a:t> </a:t>
            </a:r>
            <a:r>
              <a:rPr lang="en-IN" dirty="0" err="1"/>
              <a:t>requests.get</a:t>
            </a:r>
            <a:r>
              <a:rPr lang="en-IN" dirty="0"/>
              <a:t>(</a:t>
            </a:r>
            <a:r>
              <a:rPr lang="en-IN" dirty="0" err="1"/>
              <a:t>url</a:t>
            </a:r>
            <a:r>
              <a:rPr lang="en-IN" dirty="0"/>
              <a:t>), </a:t>
            </a:r>
            <a:r>
              <a:rPr lang="en-IN" dirty="0" err="1"/>
              <a:t>requests.post</a:t>
            </a:r>
            <a:r>
              <a:rPr lang="en-IN" dirty="0"/>
              <a:t>(</a:t>
            </a:r>
            <a:r>
              <a:rPr lang="en-IN" dirty="0" err="1"/>
              <a:t>url</a:t>
            </a:r>
            <a:r>
              <a:rPr lang="en-IN" dirty="0"/>
              <a:t>, </a:t>
            </a:r>
            <a:r>
              <a:rPr lang="en-IN" dirty="0" err="1"/>
              <a:t>json</a:t>
            </a:r>
            <a:r>
              <a:rPr lang="en-IN" dirty="0"/>
              <a:t>=payload)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6286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24E69-937B-B2AA-0FC4-83410138C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Request Anatomy: URL, Params, Headers, Body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105C5-B31A-D0BF-1D05-98D487372B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651" y="1690688"/>
            <a:ext cx="11049001" cy="4351338"/>
          </a:xfrm>
        </p:spPr>
        <p:txBody>
          <a:bodyPr>
            <a:normAutofit lnSpcReduction="10000"/>
          </a:bodyPr>
          <a:lstStyle/>
          <a:p>
            <a:r>
              <a:rPr lang="en-IN" dirty="0"/>
              <a:t>Anatomy of an HTTP Request</a:t>
            </a:r>
            <a:br>
              <a:rPr lang="en-IN" dirty="0"/>
            </a:br>
            <a:r>
              <a:rPr lang="en-IN" b="1" dirty="0"/>
              <a:t>Theory:</a:t>
            </a:r>
            <a:r>
              <a:rPr lang="en-IN" dirty="0"/>
              <a:t> A request includes the endpoint URL, optional query parameters, headers (meta info), and an optional body (for POST/PUT).</a:t>
            </a:r>
            <a:br>
              <a:rPr lang="en-IN" dirty="0"/>
            </a:br>
            <a:r>
              <a:rPr lang="en-IN" b="1" dirty="0"/>
              <a:t>Key Points:</a:t>
            </a:r>
            <a:endParaRPr lang="en-IN" dirty="0"/>
          </a:p>
          <a:p>
            <a:r>
              <a:rPr lang="en-IN" dirty="0"/>
              <a:t>Query params: </a:t>
            </a:r>
            <a:r>
              <a:rPr lang="en-IN" dirty="0" err="1"/>
              <a:t>requests.get</a:t>
            </a:r>
            <a:r>
              <a:rPr lang="en-IN" dirty="0"/>
              <a:t>(</a:t>
            </a:r>
            <a:r>
              <a:rPr lang="en-IN" dirty="0" err="1"/>
              <a:t>url</a:t>
            </a:r>
            <a:r>
              <a:rPr lang="en-IN" dirty="0"/>
              <a:t>, params={"</a:t>
            </a:r>
            <a:r>
              <a:rPr lang="en-IN" dirty="0" err="1"/>
              <a:t>q":"x</a:t>
            </a:r>
            <a:r>
              <a:rPr lang="en-IN" dirty="0"/>
              <a:t>"}).</a:t>
            </a:r>
          </a:p>
          <a:p>
            <a:r>
              <a:rPr lang="en-IN" dirty="0"/>
              <a:t>Headers: {"</a:t>
            </a:r>
            <a:r>
              <a:rPr lang="en-IN" dirty="0" err="1"/>
              <a:t>Authorization":"Bearer</a:t>
            </a:r>
            <a:r>
              <a:rPr lang="en-IN" dirty="0"/>
              <a:t> ...", "</a:t>
            </a:r>
            <a:r>
              <a:rPr lang="en-IN" dirty="0" err="1"/>
              <a:t>Content-Type":"application</a:t>
            </a:r>
            <a:r>
              <a:rPr lang="en-IN" dirty="0"/>
              <a:t>/</a:t>
            </a:r>
            <a:r>
              <a:rPr lang="en-IN" dirty="0" err="1"/>
              <a:t>json</a:t>
            </a:r>
            <a:r>
              <a:rPr lang="en-IN" dirty="0"/>
              <a:t>"}.</a:t>
            </a:r>
          </a:p>
          <a:p>
            <a:r>
              <a:rPr lang="en-IN" dirty="0"/>
              <a:t>Body (JSON): </a:t>
            </a:r>
            <a:r>
              <a:rPr lang="en-IN" dirty="0" err="1"/>
              <a:t>requests.post</a:t>
            </a:r>
            <a:r>
              <a:rPr lang="en-IN" dirty="0"/>
              <a:t>(</a:t>
            </a:r>
            <a:r>
              <a:rPr lang="en-IN" dirty="0" err="1"/>
              <a:t>url</a:t>
            </a:r>
            <a:r>
              <a:rPr lang="en-IN" dirty="0"/>
              <a:t>, </a:t>
            </a:r>
            <a:r>
              <a:rPr lang="en-IN" dirty="0" err="1"/>
              <a:t>json</a:t>
            </a:r>
            <a:r>
              <a:rPr lang="en-IN" dirty="0"/>
              <a:t>=payload).</a:t>
            </a:r>
            <a:br>
              <a:rPr lang="en-IN" dirty="0"/>
            </a:br>
            <a:r>
              <a:rPr lang="en-IN" b="1" dirty="0"/>
              <a:t>Code snippet:</a:t>
            </a:r>
            <a:endParaRPr lang="en-IN" dirty="0"/>
          </a:p>
          <a:p>
            <a:pPr marL="0" indent="0">
              <a:buNone/>
            </a:pPr>
            <a:r>
              <a:rPr lang="en-US" dirty="0">
                <a:solidFill>
                  <a:srgbClr val="92D050"/>
                </a:solidFill>
              </a:rPr>
              <a:t>r = </a:t>
            </a:r>
            <a:r>
              <a:rPr lang="en-US" dirty="0" err="1">
                <a:solidFill>
                  <a:srgbClr val="92D050"/>
                </a:solidFill>
              </a:rPr>
              <a:t>requests.get</a:t>
            </a:r>
            <a:r>
              <a:rPr lang="en-US" dirty="0">
                <a:solidFill>
                  <a:srgbClr val="92D050"/>
                </a:solidFill>
              </a:rPr>
              <a:t>(</a:t>
            </a:r>
            <a:r>
              <a:rPr lang="en-US" dirty="0" err="1">
                <a:solidFill>
                  <a:srgbClr val="92D050"/>
                </a:solidFill>
              </a:rPr>
              <a:t>url</a:t>
            </a:r>
            <a:r>
              <a:rPr lang="en-US" dirty="0">
                <a:solidFill>
                  <a:srgbClr val="92D050"/>
                </a:solidFill>
              </a:rPr>
              <a:t>, params={"page":1}, headers=headers)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8779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2638E-D7F1-8861-DDFE-A5D90D232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Parsing Responses &amp; JSON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A5BE6-4BBD-6E7C-168D-BB5408B734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716" y="1825624"/>
            <a:ext cx="11081084" cy="4879975"/>
          </a:xfrm>
        </p:spPr>
        <p:txBody>
          <a:bodyPr>
            <a:normAutofit/>
          </a:bodyPr>
          <a:lstStyle/>
          <a:p>
            <a:r>
              <a:rPr lang="en-IN" dirty="0"/>
              <a:t>Parsing Responses — status, headers, JSON</a:t>
            </a:r>
            <a:br>
              <a:rPr lang="en-IN" dirty="0"/>
            </a:br>
            <a:r>
              <a:rPr lang="en-IN" b="1" dirty="0"/>
              <a:t>Theory:</a:t>
            </a:r>
            <a:r>
              <a:rPr lang="en-IN" dirty="0"/>
              <a:t> After calling an API, examine HTTP status, optionally headers, and usually parse JSON using </a:t>
            </a:r>
            <a:r>
              <a:rPr lang="en-IN" dirty="0" err="1"/>
              <a:t>response.json</a:t>
            </a:r>
            <a:r>
              <a:rPr lang="en-IN" dirty="0"/>
              <a:t>().</a:t>
            </a:r>
            <a:br>
              <a:rPr lang="en-IN" dirty="0"/>
            </a:br>
            <a:r>
              <a:rPr lang="en-IN" b="1" dirty="0"/>
              <a:t>Key Points:</a:t>
            </a:r>
            <a:endParaRPr lang="en-IN" dirty="0"/>
          </a:p>
          <a:p>
            <a:r>
              <a:rPr lang="en-IN" dirty="0" err="1"/>
              <a:t>response.status_code</a:t>
            </a:r>
            <a:r>
              <a:rPr lang="en-IN" dirty="0"/>
              <a:t> for success/failure.</a:t>
            </a:r>
          </a:p>
          <a:p>
            <a:r>
              <a:rPr lang="en-IN" dirty="0" err="1"/>
              <a:t>response.headers</a:t>
            </a:r>
            <a:r>
              <a:rPr lang="en-IN" dirty="0"/>
              <a:t> for metadata (rate limits, content-type).</a:t>
            </a:r>
          </a:p>
          <a:p>
            <a:r>
              <a:rPr lang="en-IN" dirty="0" err="1"/>
              <a:t>response.json</a:t>
            </a:r>
            <a:r>
              <a:rPr lang="en-IN" dirty="0"/>
              <a:t>() returns parsed JSON (raise on invalid JSON).</a:t>
            </a:r>
          </a:p>
          <a:p>
            <a:pPr marL="0" indent="0">
              <a:buNone/>
            </a:pPr>
            <a:r>
              <a:rPr lang="en-IN" dirty="0"/>
              <a:t>Code snippet:</a:t>
            </a:r>
          </a:p>
          <a:p>
            <a:pPr marL="0" indent="0">
              <a:buNone/>
            </a:pPr>
            <a:r>
              <a:rPr lang="en-US" dirty="0">
                <a:solidFill>
                  <a:srgbClr val="92D050"/>
                </a:solidFill>
              </a:rPr>
              <a:t>if </a:t>
            </a:r>
            <a:r>
              <a:rPr lang="en-US" dirty="0" err="1">
                <a:solidFill>
                  <a:srgbClr val="92D050"/>
                </a:solidFill>
              </a:rPr>
              <a:t>r.status_code</a:t>
            </a:r>
            <a:r>
              <a:rPr lang="en-US" dirty="0">
                <a:solidFill>
                  <a:srgbClr val="92D050"/>
                </a:solidFill>
              </a:rPr>
              <a:t>==200:</a:t>
            </a:r>
          </a:p>
          <a:p>
            <a:pPr marL="0" indent="0">
              <a:buNone/>
            </a:pPr>
            <a:r>
              <a:rPr lang="en-US" dirty="0">
                <a:solidFill>
                  <a:srgbClr val="92D050"/>
                </a:solidFill>
              </a:rPr>
              <a:t>    data = </a:t>
            </a:r>
            <a:r>
              <a:rPr lang="en-US" dirty="0" err="1">
                <a:solidFill>
                  <a:srgbClr val="92D050"/>
                </a:solidFill>
              </a:rPr>
              <a:t>r.json</a:t>
            </a:r>
            <a:r>
              <a:rPr lang="en-US" dirty="0">
                <a:solidFill>
                  <a:srgbClr val="92D050"/>
                </a:solidFill>
              </a:rPr>
              <a:t>()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3420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4A282-480F-EFEA-1E2D-07270BCA4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Error Handling &amp; Status Codes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438CAD-55C6-AE28-1650-6A55E9C8B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842" y="1347538"/>
            <a:ext cx="11032958" cy="5510462"/>
          </a:xfrm>
        </p:spPr>
        <p:txBody>
          <a:bodyPr>
            <a:normAutofit lnSpcReduction="10000"/>
          </a:bodyPr>
          <a:lstStyle/>
          <a:p>
            <a:r>
              <a:rPr lang="en-IN" dirty="0"/>
              <a:t>Error Handling &amp; Interpreting Status Codes</a:t>
            </a:r>
            <a:br>
              <a:rPr lang="en-IN" dirty="0"/>
            </a:br>
            <a:r>
              <a:rPr lang="en-IN" b="1" dirty="0"/>
              <a:t>Theory:</a:t>
            </a:r>
            <a:r>
              <a:rPr lang="en-IN" dirty="0"/>
              <a:t> Robust code checks for non-200 responses and handles expected error codes gracefully. Map status codes to actions.</a:t>
            </a:r>
            <a:br>
              <a:rPr lang="en-IN" dirty="0"/>
            </a:br>
            <a:r>
              <a:rPr lang="en-IN" b="1" dirty="0"/>
              <a:t>Key Points:</a:t>
            </a:r>
            <a:endParaRPr lang="en-IN" dirty="0"/>
          </a:p>
          <a:p>
            <a:r>
              <a:rPr lang="en-IN" dirty="0"/>
              <a:t>2xx = success, 4xx = client error, 5xx = server error.</a:t>
            </a:r>
          </a:p>
          <a:p>
            <a:r>
              <a:rPr lang="en-IN" dirty="0"/>
              <a:t>Use </a:t>
            </a:r>
            <a:r>
              <a:rPr lang="en-IN" dirty="0" err="1"/>
              <a:t>r.raise_for_status</a:t>
            </a:r>
            <a:r>
              <a:rPr lang="en-IN" dirty="0"/>
              <a:t>() to throw </a:t>
            </a:r>
            <a:r>
              <a:rPr lang="en-IN" dirty="0" err="1"/>
              <a:t>HTTPError</a:t>
            </a:r>
            <a:r>
              <a:rPr lang="en-IN" dirty="0"/>
              <a:t> on bad codes.</a:t>
            </a:r>
          </a:p>
          <a:p>
            <a:r>
              <a:rPr lang="en-IN" dirty="0"/>
              <a:t>Log errors, include context (URL, body) for debugging.</a:t>
            </a:r>
            <a:br>
              <a:rPr lang="en-IN" dirty="0"/>
            </a:br>
            <a:r>
              <a:rPr lang="en-IN" b="1" dirty="0"/>
              <a:t>Code snippet:</a:t>
            </a:r>
            <a:endParaRPr lang="en-IN" dirty="0"/>
          </a:p>
          <a:p>
            <a:pPr marL="0" indent="0">
              <a:buNone/>
            </a:pPr>
            <a:r>
              <a:rPr lang="en-IN" dirty="0">
                <a:solidFill>
                  <a:srgbClr val="92D050"/>
                </a:solidFill>
              </a:rPr>
              <a:t>try:</a:t>
            </a:r>
          </a:p>
          <a:p>
            <a:pPr marL="0" indent="0">
              <a:buNone/>
            </a:pPr>
            <a:r>
              <a:rPr lang="en-IN" dirty="0">
                <a:solidFill>
                  <a:srgbClr val="92D050"/>
                </a:solidFill>
              </a:rPr>
              <a:t>    </a:t>
            </a:r>
            <a:r>
              <a:rPr lang="en-IN" dirty="0" err="1">
                <a:solidFill>
                  <a:srgbClr val="92D050"/>
                </a:solidFill>
              </a:rPr>
              <a:t>r.raise_for_status</a:t>
            </a:r>
            <a:r>
              <a:rPr lang="en-IN" dirty="0">
                <a:solidFill>
                  <a:srgbClr val="92D050"/>
                </a:solidFill>
              </a:rPr>
              <a:t>()</a:t>
            </a:r>
          </a:p>
          <a:p>
            <a:pPr marL="0" indent="0">
              <a:buNone/>
            </a:pPr>
            <a:r>
              <a:rPr lang="en-IN" dirty="0">
                <a:solidFill>
                  <a:srgbClr val="92D050"/>
                </a:solidFill>
              </a:rPr>
              <a:t>except </a:t>
            </a:r>
            <a:r>
              <a:rPr lang="en-IN" dirty="0" err="1">
                <a:solidFill>
                  <a:srgbClr val="92D050"/>
                </a:solidFill>
              </a:rPr>
              <a:t>requests.HTTPError</a:t>
            </a:r>
            <a:r>
              <a:rPr lang="en-IN" dirty="0">
                <a:solidFill>
                  <a:srgbClr val="92D050"/>
                </a:solidFill>
              </a:rPr>
              <a:t> as e:</a:t>
            </a:r>
          </a:p>
          <a:p>
            <a:pPr marL="0" indent="0">
              <a:buNone/>
            </a:pPr>
            <a:r>
              <a:rPr lang="en-IN" dirty="0">
                <a:solidFill>
                  <a:srgbClr val="92D050"/>
                </a:solidFill>
              </a:rPr>
              <a:t>    </a:t>
            </a:r>
            <a:r>
              <a:rPr lang="en-IN" dirty="0" err="1">
                <a:solidFill>
                  <a:srgbClr val="92D050"/>
                </a:solidFill>
              </a:rPr>
              <a:t>logging.error</a:t>
            </a:r>
            <a:r>
              <a:rPr lang="en-IN" dirty="0">
                <a:solidFill>
                  <a:srgbClr val="92D050"/>
                </a:solidFill>
              </a:rPr>
              <a:t>(</a:t>
            </a:r>
            <a:r>
              <a:rPr lang="en-IN" dirty="0" err="1">
                <a:solidFill>
                  <a:srgbClr val="92D050"/>
                </a:solidFill>
              </a:rPr>
              <a:t>f"API</a:t>
            </a:r>
            <a:r>
              <a:rPr lang="en-IN" dirty="0">
                <a:solidFill>
                  <a:srgbClr val="92D050"/>
                </a:solidFill>
              </a:rPr>
              <a:t> failed: {e}, </a:t>
            </a:r>
            <a:r>
              <a:rPr lang="en-IN" dirty="0" err="1">
                <a:solidFill>
                  <a:srgbClr val="92D050"/>
                </a:solidFill>
              </a:rPr>
              <a:t>url</a:t>
            </a:r>
            <a:r>
              <a:rPr lang="en-IN" dirty="0">
                <a:solidFill>
                  <a:srgbClr val="92D050"/>
                </a:solidFill>
              </a:rPr>
              <a:t>={</a:t>
            </a:r>
            <a:r>
              <a:rPr lang="en-IN" dirty="0" err="1">
                <a:solidFill>
                  <a:srgbClr val="92D050"/>
                </a:solidFill>
              </a:rPr>
              <a:t>url</a:t>
            </a:r>
            <a:r>
              <a:rPr lang="en-IN" dirty="0">
                <a:solidFill>
                  <a:srgbClr val="92D050"/>
                </a:solidFill>
              </a:rPr>
              <a:t>}")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0147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40FC3-3247-2503-50C7-44B6318A8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Timeouts, Connection Errors &amp; Retries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8D92F-D8D0-6087-B8B7-A914B155D9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Timeouts, Connection Errors &amp; Retry Strategies</a:t>
            </a:r>
            <a:br>
              <a:rPr lang="en-US" dirty="0"/>
            </a:br>
            <a:r>
              <a:rPr lang="en-US" b="1" dirty="0"/>
              <a:t>Theory:</a:t>
            </a:r>
            <a:r>
              <a:rPr lang="en-US" dirty="0"/>
              <a:t> Network calls can fail — always set timeouts and implement retry/backoff for transient failures.</a:t>
            </a:r>
            <a:br>
              <a:rPr lang="en-US" dirty="0"/>
            </a:br>
            <a:r>
              <a:rPr lang="en-US" b="1" dirty="0"/>
              <a:t>Key Points:</a:t>
            </a:r>
            <a:endParaRPr lang="en-US" dirty="0"/>
          </a:p>
          <a:p>
            <a:r>
              <a:rPr lang="en-US" dirty="0"/>
              <a:t>Use timeout=(connect, read) to avoid indefinite hangs.</a:t>
            </a:r>
          </a:p>
          <a:p>
            <a:r>
              <a:rPr lang="en-US" dirty="0"/>
              <a:t>Use requests with urllib3 Retry or tenacity for retries.</a:t>
            </a:r>
          </a:p>
          <a:p>
            <a:r>
              <a:rPr lang="en-US" dirty="0"/>
              <a:t>Exponential backoff prevents overload during outages.</a:t>
            </a:r>
            <a:br>
              <a:rPr lang="en-US" dirty="0"/>
            </a:br>
            <a:r>
              <a:rPr lang="en-US" b="1" dirty="0"/>
              <a:t>Mini-example (timeout):</a:t>
            </a:r>
            <a:r>
              <a:rPr lang="en-US" dirty="0"/>
              <a:t> </a:t>
            </a:r>
            <a:r>
              <a:rPr lang="en-US" dirty="0" err="1"/>
              <a:t>requests.get</a:t>
            </a:r>
            <a:r>
              <a:rPr lang="en-US" dirty="0"/>
              <a:t>(</a:t>
            </a:r>
            <a:r>
              <a:rPr lang="en-US" dirty="0" err="1"/>
              <a:t>url</a:t>
            </a:r>
            <a:r>
              <a:rPr lang="en-US" dirty="0"/>
              <a:t>, timeout=(3.05, 27))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5431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90170-A4E0-7718-F757-30A7749F0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Pagination &amp; Large Responses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2D5FC-360C-07A0-553B-EAD6846EC5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095" y="1251284"/>
            <a:ext cx="10936705" cy="4925679"/>
          </a:xfrm>
        </p:spPr>
        <p:txBody>
          <a:bodyPr>
            <a:normAutofit lnSpcReduction="10000"/>
          </a:bodyPr>
          <a:lstStyle/>
          <a:p>
            <a:r>
              <a:rPr lang="en-IN" dirty="0"/>
              <a:t>Handling Pagination &amp; Large Datasets</a:t>
            </a:r>
            <a:br>
              <a:rPr lang="en-IN" dirty="0"/>
            </a:br>
            <a:r>
              <a:rPr lang="en-IN" b="1" dirty="0"/>
              <a:t>Theory:</a:t>
            </a:r>
            <a:r>
              <a:rPr lang="en-IN" dirty="0"/>
              <a:t> APIs often return results in pages. Implement looping with page/cursor until all data is fetched, and stream large responses.</a:t>
            </a:r>
            <a:br>
              <a:rPr lang="en-IN" dirty="0"/>
            </a:br>
            <a:r>
              <a:rPr lang="en-IN" b="1" dirty="0"/>
              <a:t>Key Points:</a:t>
            </a:r>
            <a:endParaRPr lang="en-IN" dirty="0"/>
          </a:p>
          <a:p>
            <a:r>
              <a:rPr lang="en-IN" dirty="0"/>
              <a:t>Check API docs for page vs cursor pagination.</a:t>
            </a:r>
          </a:p>
          <a:p>
            <a:r>
              <a:rPr lang="en-IN" dirty="0"/>
              <a:t>Use params to request page size.</a:t>
            </a:r>
          </a:p>
          <a:p>
            <a:r>
              <a:rPr lang="en-IN" dirty="0"/>
              <a:t>For very large payloads, stream and process chunks (stream=True).</a:t>
            </a:r>
            <a:br>
              <a:rPr lang="en-IN" dirty="0"/>
            </a:br>
            <a:r>
              <a:rPr lang="en-IN" b="1" dirty="0"/>
              <a:t>Code sketch:</a:t>
            </a:r>
            <a:endParaRPr lang="en-IN" dirty="0"/>
          </a:p>
          <a:p>
            <a:pPr marL="0" indent="0">
              <a:buNone/>
            </a:pPr>
            <a:r>
              <a:rPr lang="en-IN" dirty="0">
                <a:solidFill>
                  <a:srgbClr val="92D050"/>
                </a:solidFill>
              </a:rPr>
              <a:t>while </a:t>
            </a:r>
            <a:r>
              <a:rPr lang="en-IN" dirty="0" err="1">
                <a:solidFill>
                  <a:srgbClr val="92D050"/>
                </a:solidFill>
              </a:rPr>
              <a:t>next_page</a:t>
            </a:r>
            <a:r>
              <a:rPr lang="en-IN" dirty="0">
                <a:solidFill>
                  <a:srgbClr val="92D050"/>
                </a:solidFill>
              </a:rPr>
              <a:t>:</a:t>
            </a:r>
          </a:p>
          <a:p>
            <a:pPr marL="0" indent="0">
              <a:buNone/>
            </a:pPr>
            <a:r>
              <a:rPr lang="en-IN" dirty="0">
                <a:solidFill>
                  <a:srgbClr val="92D050"/>
                </a:solidFill>
              </a:rPr>
              <a:t>    r = </a:t>
            </a:r>
            <a:r>
              <a:rPr lang="en-IN" dirty="0" err="1">
                <a:solidFill>
                  <a:srgbClr val="92D050"/>
                </a:solidFill>
              </a:rPr>
              <a:t>requests.get</a:t>
            </a:r>
            <a:r>
              <a:rPr lang="en-IN" dirty="0">
                <a:solidFill>
                  <a:srgbClr val="92D050"/>
                </a:solidFill>
              </a:rPr>
              <a:t>(</a:t>
            </a:r>
            <a:r>
              <a:rPr lang="en-IN" dirty="0" err="1">
                <a:solidFill>
                  <a:srgbClr val="92D050"/>
                </a:solidFill>
              </a:rPr>
              <a:t>url</a:t>
            </a:r>
            <a:r>
              <a:rPr lang="en-IN" dirty="0">
                <a:solidFill>
                  <a:srgbClr val="92D050"/>
                </a:solidFill>
              </a:rPr>
              <a:t>, params={"</a:t>
            </a:r>
            <a:r>
              <a:rPr lang="en-IN" dirty="0" err="1">
                <a:solidFill>
                  <a:srgbClr val="92D050"/>
                </a:solidFill>
              </a:rPr>
              <a:t>page":p</a:t>
            </a:r>
            <a:r>
              <a:rPr lang="en-IN" dirty="0">
                <a:solidFill>
                  <a:srgbClr val="92D050"/>
                </a:solidFill>
              </a:rPr>
              <a:t>})</a:t>
            </a:r>
          </a:p>
          <a:p>
            <a:pPr marL="0" indent="0">
              <a:buNone/>
            </a:pPr>
            <a:r>
              <a:rPr lang="en-IN" dirty="0">
                <a:solidFill>
                  <a:srgbClr val="92D050"/>
                </a:solidFill>
              </a:rPr>
              <a:t>    accumulate(</a:t>
            </a:r>
            <a:r>
              <a:rPr lang="en-IN" dirty="0" err="1">
                <a:solidFill>
                  <a:srgbClr val="92D050"/>
                </a:solidFill>
              </a:rPr>
              <a:t>r.json</a:t>
            </a:r>
            <a:r>
              <a:rPr lang="en-IN" dirty="0">
                <a:solidFill>
                  <a:srgbClr val="92D050"/>
                </a:solidFill>
              </a:rPr>
              <a:t>())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0852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982F9-D833-68F9-268A-C7234F6C7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Authentication &amp; Security (Tokens, OAuth)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714AC-D9AB-FD13-AADD-A3FD8C976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9179" y="1825625"/>
            <a:ext cx="10904621" cy="4783722"/>
          </a:xfrm>
        </p:spPr>
        <p:txBody>
          <a:bodyPr/>
          <a:lstStyle/>
          <a:p>
            <a:r>
              <a:rPr lang="en-US" dirty="0"/>
              <a:t>Authentication &amp; Secure Headers</a:t>
            </a:r>
            <a:br>
              <a:rPr lang="en-US" dirty="0"/>
            </a:br>
            <a:r>
              <a:rPr lang="en-US" b="1" dirty="0"/>
              <a:t>Theory:</a:t>
            </a:r>
            <a:r>
              <a:rPr lang="en-US" dirty="0"/>
              <a:t> Most APIs require authentication — simple API keys, bearer tokens, or OAuth flows. Keep secrets out of code.</a:t>
            </a:r>
            <a:br>
              <a:rPr lang="en-US" dirty="0"/>
            </a:br>
            <a:r>
              <a:rPr lang="en-US" b="1" dirty="0"/>
              <a:t>Key Points:</a:t>
            </a:r>
            <a:endParaRPr lang="en-US" dirty="0"/>
          </a:p>
          <a:p>
            <a:r>
              <a:rPr lang="en-US" dirty="0"/>
              <a:t>Use Authorization: Bearer &lt;token&gt; header for tokens.</a:t>
            </a:r>
          </a:p>
          <a:p>
            <a:r>
              <a:rPr lang="en-US" dirty="0"/>
              <a:t>Store keys in env vars / secrets manager (never in source).</a:t>
            </a:r>
          </a:p>
          <a:p>
            <a:r>
              <a:rPr lang="en-US" dirty="0"/>
              <a:t>Refresh tokens if using OAuth; handle 401 (unauthorized) by reauthenticating.</a:t>
            </a:r>
            <a:br>
              <a:rPr lang="en-US" dirty="0"/>
            </a:br>
            <a:r>
              <a:rPr lang="en-US" b="1" dirty="0"/>
              <a:t>Example header:</a:t>
            </a:r>
            <a:r>
              <a:rPr lang="en-US" dirty="0"/>
              <a:t> headers = {"Authorization": </a:t>
            </a:r>
            <a:r>
              <a:rPr lang="en-US" dirty="0" err="1"/>
              <a:t>f"Bearer</a:t>
            </a:r>
            <a:r>
              <a:rPr lang="en-US" dirty="0"/>
              <a:t> {</a:t>
            </a:r>
            <a:r>
              <a:rPr lang="en-US" dirty="0" err="1"/>
              <a:t>os.getenv</a:t>
            </a:r>
            <a:r>
              <a:rPr lang="en-US" dirty="0"/>
              <a:t>('API_TOKEN')}"}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60384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03DE8-1536-4E37-7446-5D9964EBF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Rate Limiting &amp; Respecting API Limits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A2690-8D21-C342-3890-28FADA433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Rate Limiting &amp; Throttling</a:t>
            </a:r>
            <a:br>
              <a:rPr lang="en-US" dirty="0"/>
            </a:br>
            <a:r>
              <a:rPr lang="en-US" b="1" dirty="0"/>
              <a:t>Theory:</a:t>
            </a:r>
            <a:r>
              <a:rPr lang="en-US" dirty="0"/>
              <a:t> APIs enforce rate limits. Inspect rate-limit headers and throttle client requests to avoid being blocked.</a:t>
            </a:r>
            <a:br>
              <a:rPr lang="en-US" dirty="0"/>
            </a:br>
            <a:r>
              <a:rPr lang="en-US" b="1" dirty="0"/>
              <a:t>Key Points:</a:t>
            </a:r>
            <a:endParaRPr lang="en-US" dirty="0"/>
          </a:p>
          <a:p>
            <a:r>
              <a:rPr lang="en-US" dirty="0"/>
              <a:t>Look at headers like X-RateLimit-Remaining, Retry-After.</a:t>
            </a:r>
          </a:p>
          <a:p>
            <a:r>
              <a:rPr lang="en-US" dirty="0"/>
              <a:t>Implement backoff on 429 Too Many Requests.</a:t>
            </a:r>
          </a:p>
          <a:p>
            <a:r>
              <a:rPr lang="en-US" dirty="0"/>
              <a:t>Coordinate batch jobs to spread requests over time.</a:t>
            </a:r>
            <a:br>
              <a:rPr lang="en-US" dirty="0"/>
            </a:br>
            <a:r>
              <a:rPr lang="en-US" b="1" dirty="0"/>
              <a:t>Example handling:</a:t>
            </a:r>
            <a:r>
              <a:rPr lang="en-US" dirty="0"/>
              <a:t> if 429 → sleep for Retry-After.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23252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3FE56-9910-00C3-45BE-52518920A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389" y="1"/>
            <a:ext cx="10824411" cy="946483"/>
          </a:xfrm>
        </p:spPr>
        <p:txBody>
          <a:bodyPr/>
          <a:lstStyle/>
          <a:p>
            <a:r>
              <a:rPr lang="en-IN" b="1" dirty="0"/>
              <a:t>Best Practices &amp; Real-World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40668-C272-532E-CFAC-CCD4A6C8C5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842" y="946484"/>
            <a:ext cx="11032958" cy="5230479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Best Practices &amp; Production Patterns</a:t>
            </a:r>
            <a:br>
              <a:rPr lang="en-US" dirty="0"/>
            </a:br>
            <a:r>
              <a:rPr lang="en-US" b="1" dirty="0"/>
              <a:t>Theory:</a:t>
            </a:r>
            <a:r>
              <a:rPr lang="en-US" dirty="0"/>
              <a:t> Combine all of the above into resilient, secure, maintainable API clients for production ETL and integrations.</a:t>
            </a:r>
            <a:br>
              <a:rPr lang="en-US" dirty="0"/>
            </a:br>
            <a:r>
              <a:rPr lang="en-US" b="1" dirty="0"/>
              <a:t>Key Points:</a:t>
            </a:r>
            <a:endParaRPr lang="en-US" dirty="0"/>
          </a:p>
          <a:p>
            <a:r>
              <a:rPr lang="en-US" dirty="0"/>
              <a:t>Centralize API client code (wrap requests calls).</a:t>
            </a:r>
          </a:p>
          <a:p>
            <a:r>
              <a:rPr lang="en-US" dirty="0"/>
              <a:t>Log request/response metadata (no secrets).</a:t>
            </a:r>
          </a:p>
          <a:p>
            <a:r>
              <a:rPr lang="en-US" dirty="0"/>
              <a:t>Write unit tests with mocked responses (</a:t>
            </a:r>
            <a:r>
              <a:rPr lang="en-US" dirty="0" err="1"/>
              <a:t>unittest.mock</a:t>
            </a:r>
            <a:r>
              <a:rPr lang="en-US" dirty="0"/>
              <a:t>) and integration tests with sandbox APIs.</a:t>
            </a:r>
          </a:p>
          <a:p>
            <a:r>
              <a:rPr lang="en-US" dirty="0"/>
              <a:t>Use pagination, rate-limit logic, timeouts, retries, and secure storage for tokens.</a:t>
            </a:r>
            <a:br>
              <a:rPr lang="en-US" dirty="0"/>
            </a:br>
            <a:r>
              <a:rPr lang="en-US" b="1" dirty="0"/>
              <a:t>Short Example Pattern (client wrapper):</a:t>
            </a:r>
          </a:p>
          <a:p>
            <a:pPr marL="0" indent="0">
              <a:buNone/>
            </a:pPr>
            <a:r>
              <a:rPr lang="en-US" dirty="0">
                <a:solidFill>
                  <a:srgbClr val="92D050"/>
                </a:solidFill>
              </a:rPr>
              <a:t>class </a:t>
            </a:r>
            <a:r>
              <a:rPr lang="en-US" dirty="0" err="1">
                <a:solidFill>
                  <a:srgbClr val="92D050"/>
                </a:solidFill>
              </a:rPr>
              <a:t>ApiClient</a:t>
            </a:r>
            <a:r>
              <a:rPr lang="en-US" dirty="0">
                <a:solidFill>
                  <a:srgbClr val="92D050"/>
                </a:solidFill>
              </a:rPr>
              <a:t>:</a:t>
            </a:r>
          </a:p>
          <a:p>
            <a:pPr marL="0" indent="0">
              <a:buNone/>
            </a:pPr>
            <a:r>
              <a:rPr lang="en-US" dirty="0">
                <a:solidFill>
                  <a:srgbClr val="92D050"/>
                </a:solidFill>
              </a:rPr>
              <a:t>    def __</a:t>
            </a:r>
            <a:r>
              <a:rPr lang="en-US" dirty="0" err="1">
                <a:solidFill>
                  <a:srgbClr val="92D050"/>
                </a:solidFill>
              </a:rPr>
              <a:t>init</a:t>
            </a:r>
            <a:r>
              <a:rPr lang="en-US" dirty="0">
                <a:solidFill>
                  <a:srgbClr val="92D050"/>
                </a:solidFill>
              </a:rPr>
              <a:t>__(self, base, token): ...</a:t>
            </a:r>
          </a:p>
          <a:p>
            <a:pPr marL="0" indent="0">
              <a:buNone/>
            </a:pPr>
            <a:r>
              <a:rPr lang="en-US" dirty="0">
                <a:solidFill>
                  <a:srgbClr val="92D050"/>
                </a:solidFill>
              </a:rPr>
              <a:t>    def get(self, path, **</a:t>
            </a:r>
            <a:r>
              <a:rPr lang="en-US" dirty="0" err="1">
                <a:solidFill>
                  <a:srgbClr val="92D050"/>
                </a:solidFill>
              </a:rPr>
              <a:t>kwargs</a:t>
            </a:r>
            <a:r>
              <a:rPr lang="en-US" dirty="0">
                <a:solidFill>
                  <a:srgbClr val="92D050"/>
                </a:solidFill>
              </a:rPr>
              <a:t>): ...</a:t>
            </a:r>
          </a:p>
          <a:p>
            <a:pPr marL="0" indent="0">
              <a:buNone/>
            </a:pPr>
            <a:r>
              <a:rPr lang="en-US" dirty="0">
                <a:solidFill>
                  <a:srgbClr val="92D050"/>
                </a:solidFill>
              </a:rPr>
              <a:t>    def post(self, path, </a:t>
            </a:r>
            <a:r>
              <a:rPr lang="en-US" dirty="0" err="1">
                <a:solidFill>
                  <a:srgbClr val="92D050"/>
                </a:solidFill>
              </a:rPr>
              <a:t>json</a:t>
            </a:r>
            <a:r>
              <a:rPr lang="en-US" dirty="0">
                <a:solidFill>
                  <a:srgbClr val="92D050"/>
                </a:solidFill>
              </a:rPr>
              <a:t>): ...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69050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A3718-A869-AA5A-9D7F-2C4B7698A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E0BE4-12F7-1F56-7B43-6436A279B2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7504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989</Words>
  <Application>Microsoft Office PowerPoint</Application>
  <PresentationFormat>Widescreen</PresentationFormat>
  <Paragraphs>68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Calling APIs with requests and handling responses”</vt:lpstr>
      <vt:lpstr>HTTP Methods &amp; When to Use Them</vt:lpstr>
      <vt:lpstr>Request Anatomy: URL, Params, Headers, Body</vt:lpstr>
      <vt:lpstr>Parsing Responses &amp; JSON Handling</vt:lpstr>
      <vt:lpstr>Error Handling &amp; Status Codes</vt:lpstr>
      <vt:lpstr>Timeouts, Connection Errors &amp; Retries</vt:lpstr>
      <vt:lpstr>Pagination &amp; Large Responses </vt:lpstr>
      <vt:lpstr>Authentication &amp; Security (Tokens, OAuth)</vt:lpstr>
      <vt:lpstr>Rate Limiting &amp; Respecting API Limits</vt:lpstr>
      <vt:lpstr>Best Practices &amp; Real-World Patterns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2025-11-09T09:54:03Z</dcterms:created>
  <dcterms:modified xsi:type="dcterms:W3CDTF">2025-11-09T09:54:10Z</dcterms:modified>
</cp:coreProperties>
</file>