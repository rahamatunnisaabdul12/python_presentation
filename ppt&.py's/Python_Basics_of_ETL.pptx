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26AB7-BCBC-A3BB-8D41-5A3118F4FE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A6A5A4-1B14-6AEA-5625-52A8B9ECF7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4051F-0238-674B-E68F-046FA4CFF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8B42F-3402-4D35-A4EA-91F7256F480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F05DC-5DFB-46A5-06EA-583FDB791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5E5DB-0875-A6A5-271B-85D46E3E1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0541-071D-4DDC-89D8-F5A8E11FCD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1434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DB4D2-6041-9F1E-EA4E-0DD5ADB80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2B15A-F4E5-7A72-39CC-8698DCBFB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9E9E8-119E-E592-08FB-0A2B77E37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8B42F-3402-4D35-A4EA-91F7256F480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07979-84C7-EB84-BD4E-E8D2C398C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139C6-7842-6AF6-F759-639761565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0541-071D-4DDC-89D8-F5A8E11FCD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32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49460-5F89-98C2-F4A3-E7A37B3F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5A7DBC-E2A6-6340-BEB2-35A6A3B08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A823D-60BF-0391-423F-B946A4FF1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8B42F-3402-4D35-A4EA-91F7256F480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92C2B-7AF2-FA87-48D4-5CAAB7600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793B5-121B-F4BB-436D-4D357691E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0541-071D-4DDC-89D8-F5A8E11FCD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586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BB838-133E-7A9F-202A-D057BBDFE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B7300-E7D6-1528-92EE-B024512EE5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068D14-8799-C5E2-1764-4DA926EF88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0AAD2-5506-F413-1ED7-D09D9217F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8B42F-3402-4D35-A4EA-91F7256F480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F533DB-9864-751A-4ED7-31A2CBA25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90AB2-AE6C-1FBF-6114-F76A743FD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0541-071D-4DDC-89D8-F5A8E11FCD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67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CDA13-9C0A-E02B-00B9-0F10AD900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4BC3D0-7D1D-7155-70E4-249C7A416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D0DE2-4766-7C44-A8AE-7442ADFF20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F42007-A83C-9C55-EE07-BDBF7BD739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3434F5-FD95-F4BC-45CC-B4DBEF8E81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0DD162-BC63-3179-FE5A-C8746A866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8B42F-3402-4D35-A4EA-91F7256F480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0846D0-9887-44FF-D5E3-48597D005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A5ADE6-D4D7-0E53-F053-814AF9BED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0541-071D-4DDC-89D8-F5A8E11FCD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023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A7951-76E8-7F50-0AFF-5D140E38E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2AAC63-B83B-072D-BA39-5898CABE7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8B42F-3402-4D35-A4EA-91F7256F480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AD126-7201-9EEC-9EEF-ED1E42582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95D469-F467-AF20-1433-5D04EE16A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0541-071D-4DDC-89D8-F5A8E11FCD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9730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4E7848-5CA8-7380-2BA4-280F03FFC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8B42F-3402-4D35-A4EA-91F7256F480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4A324F-9B41-360A-6E91-E5F52A733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454B9-1B7D-5FFD-E1C8-021AAF49B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0541-071D-4DDC-89D8-F5A8E11FCD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36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AD83-AA5F-6068-54EA-8CDC17817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57577-119D-5093-D0D7-9D7D88FAC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BEA78F-C483-C38F-185F-9D1225DC48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4D514B-135A-33D4-779B-DDC502AB4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8B42F-3402-4D35-A4EA-91F7256F480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19AA43-1766-9164-BE46-B2B0F3F24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E40510-D74C-7952-12C9-0EDB4FAAB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0541-071D-4DDC-89D8-F5A8E11FCD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626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7020F-BF13-A158-5954-FE0594237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2AB337-AAFF-8616-008A-5289306A7E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B01EA-D1FE-7A4A-327E-40D1204FEE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F7BE4-3531-4F43-2CDA-303E37D9A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8B42F-3402-4D35-A4EA-91F7256F480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94659B-03AC-26D6-7C38-06C42A09D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64BCA7-249D-B356-1CD7-660520098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0541-071D-4DDC-89D8-F5A8E11FCD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1403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84E1A-48FD-A55A-9210-C56E022E1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555CFF-C3F9-158A-90A6-7C6A5BA330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6E466-C3ED-B81B-CA19-0B2276A1B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8B42F-3402-4D35-A4EA-91F7256F480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2E9A0-8534-21E8-480A-3FB469C48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D34FD-1B33-97CF-D6A7-03A787EE4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0541-071D-4DDC-89D8-F5A8E11FCD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00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B61FF6-9280-E07D-A434-8097E3CA79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7ADF7F-FD6C-8840-0CAE-37786E11E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4B55B-C962-510F-6D6F-174B72C36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8B42F-3402-4D35-A4EA-91F7256F480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CA06-27F6-11D6-5562-23D7FC0DA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7A4F1-32BA-B20C-7D1B-1EADF002F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0541-071D-4DDC-89D8-F5A8E11FCD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6684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89D283-B528-A99D-128C-4DA4A9349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360D7E-03F2-A4FD-3920-754AB196F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0EA58-1EB9-07FF-C3FF-465FE620AC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68B42F-3402-4D35-A4EA-91F7256F480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F20BF-D5DD-3B48-36D6-C6E7D14866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2E082-C065-B219-FAE3-846734F268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C0541-071D-4DDC-89D8-F5A8E11FCD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732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07EC4-D436-F79F-84D3-1D3ADF04E3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736" y="288758"/>
            <a:ext cx="9625263" cy="234214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Basics of ETL (Extract–Transform–Load) and Pipeline Flow”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558703-EA97-0EF2-0F49-7A4EF60AF0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9811" y="2053389"/>
            <a:ext cx="9978189" cy="3204411"/>
          </a:xfrm>
        </p:spPr>
        <p:txBody>
          <a:bodyPr/>
          <a:lstStyle/>
          <a:p>
            <a:pPr algn="l"/>
            <a:r>
              <a:rPr lang="en-US" b="1" dirty="0"/>
              <a:t>What Is ETL?</a:t>
            </a:r>
          </a:p>
          <a:p>
            <a:pPr algn="l"/>
            <a:r>
              <a:rPr lang="en-US" dirty="0"/>
              <a:t>ETL stands for </a:t>
            </a:r>
            <a:r>
              <a:rPr lang="en-US" b="1" dirty="0"/>
              <a:t>Extract – Transform – Load</a:t>
            </a:r>
            <a:br>
              <a:rPr lang="en-US" dirty="0"/>
            </a:br>
            <a:r>
              <a:rPr lang="en-US" dirty="0"/>
              <a:t>A process that moves data from multiple sources to a destination system like a </a:t>
            </a:r>
            <a:r>
              <a:rPr lang="en-US" b="1" dirty="0"/>
              <a:t>data warehouse or S3</a:t>
            </a:r>
            <a:r>
              <a:rPr lang="en-US" dirty="0"/>
              <a:t> after cleaning and restructuring it.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576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7AC6F-D67B-4476-2D00-881608394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ETL Is Important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5404331-F108-AB3C-2B50-109341E94E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970244"/>
            <a:ext cx="9942145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Converts raw data into usable business insights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data consistency and quality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analytics, dashboards, and reporting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Connects multiple systems (APIs, Databases, Cloud)</a:t>
            </a:r>
          </a:p>
        </p:txBody>
      </p:sp>
    </p:spTree>
    <p:extLst>
      <p:ext uri="{BB962C8B-B14F-4D97-AF65-F5344CB8AC3E}">
        <p14:creationId xmlns:p14="http://schemas.microsoft.com/office/powerpoint/2010/main" val="768324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A5214-0952-5C45-1ACD-8B2E29429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ETL Components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7110E7B-C4A0-D11D-D8C0-C7185CE241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1323453"/>
              </p:ext>
            </p:extLst>
          </p:nvPr>
        </p:nvGraphicFramePr>
        <p:xfrm>
          <a:off x="401054" y="1315453"/>
          <a:ext cx="10952745" cy="31282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0915">
                  <a:extLst>
                    <a:ext uri="{9D8B030D-6E8A-4147-A177-3AD203B41FA5}">
                      <a16:colId xmlns:a16="http://schemas.microsoft.com/office/drawing/2014/main" val="1781925736"/>
                    </a:ext>
                  </a:extLst>
                </a:gridCol>
                <a:gridCol w="3650915">
                  <a:extLst>
                    <a:ext uri="{9D8B030D-6E8A-4147-A177-3AD203B41FA5}">
                      <a16:colId xmlns:a16="http://schemas.microsoft.com/office/drawing/2014/main" val="3626937161"/>
                    </a:ext>
                  </a:extLst>
                </a:gridCol>
                <a:gridCol w="3650915">
                  <a:extLst>
                    <a:ext uri="{9D8B030D-6E8A-4147-A177-3AD203B41FA5}">
                      <a16:colId xmlns:a16="http://schemas.microsoft.com/office/drawing/2014/main" val="323756468"/>
                    </a:ext>
                  </a:extLst>
                </a:gridCol>
              </a:tblGrid>
              <a:tr h="782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 Tool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099052"/>
                  </a:ext>
                </a:extLst>
              </a:tr>
              <a:tr h="782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Extract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Read raw data from sources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Pandas, Boto3, SQLAlchemy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755633"/>
                  </a:ext>
                </a:extLst>
              </a:tr>
              <a:tr h="782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Transform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Clean, filter, and enrich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Pandas, PySpark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9169003"/>
                  </a:ext>
                </a:extLst>
              </a:tr>
              <a:tr h="782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Load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Write processed data to 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Redshift, S3, Snowflake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3996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4263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C394D-F8A2-DDA0-88C8-990949850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Typical ETL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5F76D-3AE7-F1FE-FAE9-3A5C56F9D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Source Files (CSV, JSON, DB)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↓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Python / Glue Job (Transform)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↓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S3 / Redshift / BI Dashboard</a:t>
            </a:r>
          </a:p>
          <a:p>
            <a:pPr marL="0" indent="0">
              <a:buNone/>
            </a:pPr>
            <a:endParaRPr lang="en-IN" dirty="0"/>
          </a:p>
          <a:p>
            <a:r>
              <a:rPr lang="en-US" dirty="0"/>
              <a:t>Each stage can be logged, validated, and automated.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247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A2A52-5F5C-0B0A-7796-C3182B85A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Step 1 — Extract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D898A-DA5A-F685-3087-ABF949812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>
                <a:solidFill>
                  <a:schemeClr val="accent6"/>
                </a:solidFill>
              </a:rPr>
              <a:t>df</a:t>
            </a:r>
            <a:r>
              <a:rPr lang="en-IN" dirty="0">
                <a:solidFill>
                  <a:schemeClr val="accent6"/>
                </a:solidFill>
              </a:rPr>
              <a:t> = </a:t>
            </a:r>
            <a:r>
              <a:rPr lang="en-IN" dirty="0" err="1">
                <a:solidFill>
                  <a:schemeClr val="accent6"/>
                </a:solidFill>
              </a:rPr>
              <a:t>pd.read_csv</a:t>
            </a:r>
            <a:r>
              <a:rPr lang="en-IN" dirty="0">
                <a:solidFill>
                  <a:schemeClr val="accent6"/>
                </a:solidFill>
              </a:rPr>
              <a:t>("orders.csv")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✅ Pulls raw data from a source — file, API, or database.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144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821BC-807B-AB87-2680-EB540A292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Step 2 —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EF939-0F25-6C04-C71C-DF8A52B86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df</a:t>
            </a:r>
            <a:r>
              <a:rPr lang="en-US" dirty="0">
                <a:solidFill>
                  <a:schemeClr val="accent6"/>
                </a:solidFill>
              </a:rPr>
              <a:t>["</a:t>
            </a:r>
            <a:r>
              <a:rPr lang="en-US" dirty="0" err="1">
                <a:solidFill>
                  <a:schemeClr val="accent6"/>
                </a:solidFill>
              </a:rPr>
              <a:t>price_usd</a:t>
            </a:r>
            <a:r>
              <a:rPr lang="en-US" dirty="0">
                <a:solidFill>
                  <a:schemeClr val="accent6"/>
                </a:solidFill>
              </a:rPr>
              <a:t>"] = </a:t>
            </a:r>
            <a:r>
              <a:rPr lang="en-US" dirty="0" err="1">
                <a:solidFill>
                  <a:schemeClr val="accent6"/>
                </a:solidFill>
              </a:rPr>
              <a:t>df</a:t>
            </a:r>
            <a:r>
              <a:rPr lang="en-US" dirty="0">
                <a:solidFill>
                  <a:schemeClr val="accent6"/>
                </a:solidFill>
              </a:rPr>
              <a:t>["price"] * 0.012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df</a:t>
            </a:r>
            <a:r>
              <a:rPr lang="en-US" dirty="0">
                <a:solidFill>
                  <a:schemeClr val="accent6"/>
                </a:solidFill>
              </a:rPr>
              <a:t>["region"].</a:t>
            </a:r>
            <a:r>
              <a:rPr lang="en-US" dirty="0" err="1">
                <a:solidFill>
                  <a:schemeClr val="accent6"/>
                </a:solidFill>
              </a:rPr>
              <a:t>fillna</a:t>
            </a:r>
            <a:r>
              <a:rPr lang="en-US" dirty="0">
                <a:solidFill>
                  <a:schemeClr val="accent6"/>
                </a:solidFill>
              </a:rPr>
              <a:t>("UNKNOWN", </a:t>
            </a:r>
            <a:r>
              <a:rPr lang="en-US" dirty="0" err="1">
                <a:solidFill>
                  <a:schemeClr val="accent6"/>
                </a:solidFill>
              </a:rPr>
              <a:t>inplace</a:t>
            </a:r>
            <a:r>
              <a:rPr lang="en-US" dirty="0">
                <a:solidFill>
                  <a:schemeClr val="accent6"/>
                </a:solidFill>
              </a:rPr>
              <a:t>=True)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✅ Cleans and converts data into business-ready form.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4021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0F33E-FC1C-E1DE-EBF5-67BC654D1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Step 3 — Load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D6D46-6B16-118C-BCA3-7C4A64D2F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>
                <a:solidFill>
                  <a:schemeClr val="accent6"/>
                </a:solidFill>
              </a:rPr>
              <a:t>df.to_csv</a:t>
            </a:r>
            <a:r>
              <a:rPr lang="en-IN" dirty="0">
                <a:solidFill>
                  <a:schemeClr val="accent6"/>
                </a:solidFill>
              </a:rPr>
              <a:t>("processed_orders.csv", index=False)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✅ Saves the cleaned data to target storage (S3, DB, etc.)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0736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857FB-5D66-BC93-08DF-7141FBEF8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ETL vs ELT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3392011-52F8-B47E-6668-BF936DE5D4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4162312"/>
              </p:ext>
            </p:extLst>
          </p:nvPr>
        </p:nvGraphicFramePr>
        <p:xfrm>
          <a:off x="625642" y="1825625"/>
          <a:ext cx="10728156" cy="31313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052">
                  <a:extLst>
                    <a:ext uri="{9D8B030D-6E8A-4147-A177-3AD203B41FA5}">
                      <a16:colId xmlns:a16="http://schemas.microsoft.com/office/drawing/2014/main" val="2284253035"/>
                    </a:ext>
                  </a:extLst>
                </a:gridCol>
                <a:gridCol w="3576052">
                  <a:extLst>
                    <a:ext uri="{9D8B030D-6E8A-4147-A177-3AD203B41FA5}">
                      <a16:colId xmlns:a16="http://schemas.microsoft.com/office/drawing/2014/main" val="201254167"/>
                    </a:ext>
                  </a:extLst>
                </a:gridCol>
                <a:gridCol w="3576052">
                  <a:extLst>
                    <a:ext uri="{9D8B030D-6E8A-4147-A177-3AD203B41FA5}">
                      <a16:colId xmlns:a16="http://schemas.microsoft.com/office/drawing/2014/main" val="2308327773"/>
                    </a:ext>
                  </a:extLst>
                </a:gridCol>
              </a:tblGrid>
              <a:tr h="8404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 Case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5433260"/>
                  </a:ext>
                </a:extLst>
              </a:tr>
              <a:tr h="8404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ETL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Transform before loading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Traditional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5545228"/>
                  </a:ext>
                </a:extLst>
              </a:tr>
              <a:tr h="14505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ELT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Transform after loading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Cloud warehouses (Redshift, </a:t>
                      </a:r>
                      <a:r>
                        <a:rPr lang="en-IN" dirty="0" err="1"/>
                        <a:t>BigQuery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1038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8953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B7864-7846-5933-DF00-892D7E19D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Pipeline Automation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813A47-B526-49DF-8CED-F674B5CDAD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093353"/>
            <a:ext cx="7467622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Schedule jobs (AWS Step Functions, Airflow)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monitoring &amp; retries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 logs in CloudWatch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Validate data in each stage</a:t>
            </a:r>
          </a:p>
        </p:txBody>
      </p:sp>
    </p:spTree>
    <p:extLst>
      <p:ext uri="{BB962C8B-B14F-4D97-AF65-F5344CB8AC3E}">
        <p14:creationId xmlns:p14="http://schemas.microsoft.com/office/powerpoint/2010/main" val="2391078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644D0-2242-D6A9-488A-9ABF9752C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4AC51-E2EB-2CAE-638F-92E79EA57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✅ Extract → Transform → Load = Core of Data Engineering</a:t>
            </a:r>
            <a:br>
              <a:rPr lang="en-US" dirty="0"/>
            </a:br>
            <a:r>
              <a:rPr lang="en-US" dirty="0"/>
              <a:t>✅ Used for cleaning, migration, and analytics</a:t>
            </a:r>
            <a:br>
              <a:rPr lang="en-US" dirty="0"/>
            </a:br>
            <a:r>
              <a:rPr lang="en-US" dirty="0"/>
              <a:t>✅ Python fits in all ETL stages</a:t>
            </a:r>
            <a:br>
              <a:rPr lang="en-US" dirty="0"/>
            </a:br>
            <a:r>
              <a:rPr lang="en-US" dirty="0"/>
              <a:t>✅ Foundation for all modern data pipelines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2185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4F4E5-C761-018B-23A2-0A8B2B8D0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702FF-B383-5EE1-A303-DC86B7450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64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355</Words>
  <Application>Microsoft Office PowerPoint</Application>
  <PresentationFormat>Widescreen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Basics of ETL (Extract–Transform–Load) and Pipeline Flow” </vt:lpstr>
      <vt:lpstr>Why ETL Is Important</vt:lpstr>
      <vt:lpstr>ETL Components</vt:lpstr>
      <vt:lpstr>Typical ETL Flow</vt:lpstr>
      <vt:lpstr>Step 1 — Extract </vt:lpstr>
      <vt:lpstr>Step 2 — Transform</vt:lpstr>
      <vt:lpstr>Step 3 — Load</vt:lpstr>
      <vt:lpstr>ETL vs ELT</vt:lpstr>
      <vt:lpstr>Pipeline Automation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2025-11-08T05:56:45Z</dcterms:created>
  <dcterms:modified xsi:type="dcterms:W3CDTF">2025-11-08T05:57:03Z</dcterms:modified>
</cp:coreProperties>
</file>