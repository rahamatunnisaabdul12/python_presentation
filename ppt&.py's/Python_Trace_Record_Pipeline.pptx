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355F-DF30-5E7F-E8A7-07D826B86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E8EA9-7C7E-6CD4-A2FC-15ED22B21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32161-B776-CC00-5387-9B41D215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83216-F66B-F400-5794-1FD03729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2AA5-3089-9A95-FCB8-FB0491CD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1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0AC0-C9AD-92B4-1DE5-AA274A12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EF00-B5E1-BC00-670C-55DA53C15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F20D-13DD-6200-2CB1-741A79F2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76D7-5A5B-70F6-C39C-CE83A441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9DBA6-EAE6-65EE-ED18-CB26AC79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63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8918-28AE-2877-0349-6EE7E83D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34403-9A9C-D8C5-239B-758B3E013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B799D-115C-8A0D-DCAC-4D1A2B8F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64524-9938-150F-A96E-D7AEE5BC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A224D-95F8-51A3-D15B-9DBE37E7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54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B146-1A92-F182-59FC-6BEC06FE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165E-5CE8-B38B-E8C0-AD572BA11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7BEEB-94D5-283A-1F7D-D33665B7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6DEEC-3D19-99E0-3937-3FE60F2B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1F8E-88AC-DCCE-4924-CB185823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D55F0-3F16-294F-CD0D-376D2C96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54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B65-3FD4-B0DB-E0E3-A31B23A1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0502-458D-DFCC-C76D-B21BE3E6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2461A-47AF-E717-56A4-E95396CB8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D8E99-12AD-2299-2115-1CF0F208B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FA25F6-13DE-7688-7352-EC8CEF86B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63CD8-4ED8-3F02-0D93-9E344F08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C10D8-D7EE-7487-D303-4FAF2F61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31B98-CC65-8E05-EEB4-27AB496E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1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FD6D-962F-95CA-2806-893A24F5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B471A-6AF6-DB2C-DEA6-50A7D75C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4D51D-86EC-6931-5E6E-F7C068E4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B705D-3A21-73E1-11C1-C2BD5573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85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5B725-A3AC-55FA-7A89-9E5C6F38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DAA7-CB73-4052-2698-8FACCCAF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44F8-1DBA-B0F9-514E-6E3AD749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84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A19A-E334-88EF-8755-C1151CBB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16B5E-F3EF-3298-5EEC-B6C989AF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54096-7CFC-3E03-8DCB-6218C2E12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A9B00-B577-F86E-9E62-03F2F51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AD1AB-7969-8AA7-28E0-7BDD6B15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3035E-4701-5940-E43C-2C493432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5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9E4C-7E3A-577B-8DBA-8B01E949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62DEA-8B10-3E81-E1F7-901A79318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474B-3DB9-8B55-686E-87AC8A548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2F50-4E6A-73EA-BEF1-2FE742A4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9C94F-533D-79F3-7227-A12742C4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4C3EF-29B2-8574-233E-D9D133FF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8FAF-701E-893D-FE5B-F0D55E0A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4847F-ED37-E629-A00F-826861056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68280-7DAF-3DB4-049D-C432601E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7E4A9-0E92-3BD3-DA0C-FBD6C113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0F221-3AB1-FF2F-4051-AD81D64E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98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FB3B8-D9DE-44C2-578F-660A30802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6BF2E-35E0-DA9C-22CA-9DFA8EF49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64425-3AC5-90F4-5FE8-08938440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DA03F-4288-DDBB-6080-39749120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95183-9A6B-E88A-C262-F884BEC0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16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F1696-3B46-4E6B-3275-26800264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1229C-F769-0236-7A9B-26F01B86B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06D66-A8AB-30A9-C047-6F4C5C637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5ADCA-50AA-4871-B6A0-6E6C9439658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B7ABC-50DD-97BF-0329-D35504B86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119D6-DA41-0120-0E3F-FFD878EFA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9413B-9920-4FF4-B2DA-B84691376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3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988A-0115-ECB8-2B50-A1181EE2B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662" y="116305"/>
            <a:ext cx="9272337" cy="1969169"/>
          </a:xfrm>
        </p:spPr>
        <p:txBody>
          <a:bodyPr>
            <a:normAutofit/>
          </a:bodyPr>
          <a:lstStyle/>
          <a:p>
            <a:r>
              <a:rPr lang="en-US" b="1" dirty="0"/>
              <a:t>“How to Trace a Record Through a Pipeline”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FBBBB-0B2B-93AC-70EB-93B75E997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117" y="2085474"/>
            <a:ext cx="9480884" cy="317232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Tracing a Record Through a Pipeline</a:t>
            </a:r>
          </a:p>
          <a:p>
            <a:pPr algn="l"/>
            <a:r>
              <a:rPr lang="en-US" dirty="0"/>
              <a:t>Tracking how a single record flows across your pipeline helps in debugging, SLA validation, and data lineage.</a:t>
            </a:r>
          </a:p>
          <a:p>
            <a:pPr algn="l"/>
            <a:r>
              <a:rPr lang="en-US" dirty="0"/>
              <a:t>You’ll learn how to </a:t>
            </a:r>
            <a:r>
              <a:rPr lang="en-US" b="1" dirty="0"/>
              <a:t>follow a single record (like a shipment, order, or employee)</a:t>
            </a:r>
            <a:r>
              <a:rPr lang="en-US" dirty="0"/>
              <a:t> as it moves through your ETL or data processing pipeline — across multiple transformations, merges, and loads — to debug issues or validate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93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47CA-362B-13A3-6AE5-5B3E0199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Trace a Record?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EEBDF-09E8-5EFF-730C-F939E7427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621" y="1690688"/>
            <a:ext cx="675056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 mismatched or missing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transformations step-by-step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 SLA and timestamp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end-to-end data lineage</a:t>
            </a:r>
          </a:p>
        </p:txBody>
      </p:sp>
    </p:spTree>
    <p:extLst>
      <p:ext uri="{BB962C8B-B14F-4D97-AF65-F5344CB8AC3E}">
        <p14:creationId xmlns:p14="http://schemas.microsoft.com/office/powerpoint/2010/main" val="203297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241B-FB42-221F-E07B-A168F5D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E9276C-2454-15E0-36AE-72B235E04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458787"/>
              </p:ext>
            </p:extLst>
          </p:nvPr>
        </p:nvGraphicFramePr>
        <p:xfrm>
          <a:off x="641684" y="1411704"/>
          <a:ext cx="10712115" cy="433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0705">
                  <a:extLst>
                    <a:ext uri="{9D8B030D-6E8A-4147-A177-3AD203B41FA5}">
                      <a16:colId xmlns:a16="http://schemas.microsoft.com/office/drawing/2014/main" val="2311336608"/>
                    </a:ext>
                  </a:extLst>
                </a:gridCol>
                <a:gridCol w="3570705">
                  <a:extLst>
                    <a:ext uri="{9D8B030D-6E8A-4147-A177-3AD203B41FA5}">
                      <a16:colId xmlns:a16="http://schemas.microsoft.com/office/drawing/2014/main" val="1210845732"/>
                    </a:ext>
                  </a:extLst>
                </a:gridCol>
                <a:gridCol w="3570705">
                  <a:extLst>
                    <a:ext uri="{9D8B030D-6E8A-4147-A177-3AD203B41FA5}">
                      <a16:colId xmlns:a16="http://schemas.microsoft.com/office/drawing/2014/main" val="2557337309"/>
                    </a:ext>
                  </a:extLst>
                </a:gridCol>
              </a:tblGrid>
              <a:tr h="916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292001"/>
                  </a:ext>
                </a:extLst>
              </a:tr>
              <a:tr h="916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Shipment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Track delay or route issue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572421"/>
                  </a:ext>
                </a:extLst>
              </a:tr>
              <a:tr h="1581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Invoice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Confirm amount and payment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773836"/>
                  </a:ext>
                </a:extLst>
              </a:tr>
              <a:tr h="916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data sync across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71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76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758B-5925-B061-CC26-E0FE949D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Tracing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7B4A-FDD4-1233-B3C2-ADD82AA3A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1️⃣ Identify record key (</a:t>
            </a:r>
            <a:r>
              <a:rPr lang="en-IN" sz="3200" dirty="0" err="1"/>
              <a:t>shipment_id</a:t>
            </a:r>
            <a:r>
              <a:rPr lang="en-IN" sz="3200" dirty="0"/>
              <a:t>, </a:t>
            </a:r>
            <a:r>
              <a:rPr lang="en-IN" sz="3200" dirty="0" err="1"/>
              <a:t>employee_id</a:t>
            </a:r>
            <a:r>
              <a:rPr lang="en-IN" sz="3200" dirty="0"/>
              <a:t>)</a:t>
            </a:r>
            <a:br>
              <a:rPr lang="en-IN" sz="3200" dirty="0"/>
            </a:br>
            <a:r>
              <a:rPr lang="en-IN" sz="3200" dirty="0"/>
              <a:t>2️⃣ Log/print it after each ETL step</a:t>
            </a:r>
            <a:br>
              <a:rPr lang="en-IN" sz="3200" dirty="0"/>
            </a:br>
            <a:r>
              <a:rPr lang="en-IN" sz="3200" dirty="0"/>
              <a:t>3️⃣ Compare source → transformed → output values</a:t>
            </a:r>
            <a:br>
              <a:rPr lang="en-IN" sz="3200" dirty="0"/>
            </a:br>
            <a:r>
              <a:rPr lang="en-IN" sz="3200" dirty="0"/>
              <a:t>4️⃣ Save intermediate snapshots for verification</a:t>
            </a:r>
          </a:p>
        </p:txBody>
      </p:sp>
    </p:spTree>
    <p:extLst>
      <p:ext uri="{BB962C8B-B14F-4D97-AF65-F5344CB8AC3E}">
        <p14:creationId xmlns:p14="http://schemas.microsoft.com/office/powerpoint/2010/main" val="337745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4F87-B34D-3843-8AC5-CCA6CD21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FEB3D-EB6E-8907-5310-05F757546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Raw Data (S3) → Cleaned Data (Glue)</a:t>
            </a:r>
          </a:p>
          <a:p>
            <a:pPr marL="0" indent="0">
              <a:buNone/>
            </a:pPr>
            <a:r>
              <a:rPr lang="en-US" dirty="0"/>
              <a:t>             → Aggregated Data (Redshift)</a:t>
            </a:r>
          </a:p>
          <a:p>
            <a:pPr marL="0" indent="0">
              <a:buNone/>
            </a:pPr>
            <a:r>
              <a:rPr lang="en-US" dirty="0"/>
              <a:t>             → Dashboard (Athena)</a:t>
            </a:r>
          </a:p>
          <a:p>
            <a:pPr marL="0" indent="0">
              <a:buNone/>
            </a:pPr>
            <a:r>
              <a:rPr lang="en-US" dirty="0"/>
              <a:t>Trace one record (</a:t>
            </a:r>
            <a:r>
              <a:rPr lang="en-US" dirty="0" err="1"/>
              <a:t>shipment_id</a:t>
            </a:r>
            <a:r>
              <a:rPr lang="en-US" dirty="0"/>
              <a:t>=12345) through all these stages.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07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CF33-54BC-1252-26AB-CA378F57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Filters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278BF-B3D3-F028-E07E-C48C0CA21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record_id</a:t>
            </a:r>
            <a:r>
              <a:rPr lang="en-US" dirty="0">
                <a:solidFill>
                  <a:srgbClr val="00B050"/>
                </a:solidFill>
              </a:rPr>
              <a:t> = "SHIP12345"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filtered_df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</a:t>
            </a:r>
            <a:r>
              <a:rPr lang="en-US" dirty="0" err="1">
                <a:solidFill>
                  <a:srgbClr val="00B050"/>
                </a:solidFill>
              </a:rPr>
              <a:t>shipment_id</a:t>
            </a:r>
            <a:r>
              <a:rPr lang="en-US" dirty="0">
                <a:solidFill>
                  <a:srgbClr val="00B050"/>
                </a:solidFill>
              </a:rPr>
              <a:t>"] == </a:t>
            </a:r>
            <a:r>
              <a:rPr lang="en-US" dirty="0" err="1">
                <a:solidFill>
                  <a:srgbClr val="00B050"/>
                </a:solidFill>
              </a:rPr>
              <a:t>record_id</a:t>
            </a:r>
            <a:r>
              <a:rPr lang="en-US" dirty="0">
                <a:solidFill>
                  <a:srgbClr val="00B050"/>
                </a:solidFill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print(</a:t>
            </a:r>
            <a:r>
              <a:rPr lang="en-US" dirty="0" err="1">
                <a:solidFill>
                  <a:srgbClr val="00B050"/>
                </a:solidFill>
              </a:rPr>
              <a:t>filtered_df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Check this record’s state at every transformation.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06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4AE0-1D20-1AC8-F286-890A9189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Logging Each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B60A-0588-2B40-1E23-F16A1880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</a:t>
            </a:r>
            <a:r>
              <a:rPr lang="en-IN" dirty="0" err="1">
                <a:solidFill>
                  <a:srgbClr val="00B050"/>
                </a:solidFill>
              </a:rPr>
              <a:t>f"Stage</a:t>
            </a:r>
            <a:r>
              <a:rPr lang="en-IN" dirty="0">
                <a:solidFill>
                  <a:srgbClr val="00B050"/>
                </a:solidFill>
              </a:rPr>
              <a:t> 1 - Raw Count: {</a:t>
            </a:r>
            <a:r>
              <a:rPr lang="en-IN" dirty="0" err="1">
                <a:solidFill>
                  <a:srgbClr val="00B050"/>
                </a:solidFill>
              </a:rPr>
              <a:t>len</a:t>
            </a:r>
            <a:r>
              <a:rPr lang="en-IN" dirty="0">
                <a:solidFill>
                  <a:srgbClr val="00B050"/>
                </a:solidFill>
              </a:rPr>
              <a:t>(</a:t>
            </a: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)}")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</a:t>
            </a:r>
            <a:r>
              <a:rPr lang="en-IN" dirty="0" err="1">
                <a:solidFill>
                  <a:srgbClr val="00B050"/>
                </a:solidFill>
              </a:rPr>
              <a:t>f"Stage</a:t>
            </a:r>
            <a:r>
              <a:rPr lang="en-IN" dirty="0">
                <a:solidFill>
                  <a:srgbClr val="00B050"/>
                </a:solidFill>
              </a:rPr>
              <a:t> 2 - {</a:t>
            </a:r>
            <a:r>
              <a:rPr lang="en-IN" dirty="0" err="1">
                <a:solidFill>
                  <a:srgbClr val="00B050"/>
                </a:solidFill>
              </a:rPr>
              <a:t>record_id</a:t>
            </a:r>
            <a:r>
              <a:rPr lang="en-IN" dirty="0">
                <a:solidFill>
                  <a:srgbClr val="00B050"/>
                </a:solidFill>
              </a:rPr>
              <a:t>} transformed successfully")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Helps when reviewing pipeline logs in CloudWatch or Step Functions.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96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46E8-087E-62D1-DA9A-4CE6E149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Record Snapshot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F0822F-850E-39D7-DFA0-CA3D247885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669716"/>
              </p:ext>
            </p:extLst>
          </p:nvPr>
        </p:nvGraphicFramePr>
        <p:xfrm>
          <a:off x="433137" y="1825624"/>
          <a:ext cx="10920664" cy="370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166">
                  <a:extLst>
                    <a:ext uri="{9D8B030D-6E8A-4147-A177-3AD203B41FA5}">
                      <a16:colId xmlns:a16="http://schemas.microsoft.com/office/drawing/2014/main" val="3100711498"/>
                    </a:ext>
                  </a:extLst>
                </a:gridCol>
                <a:gridCol w="2730166">
                  <a:extLst>
                    <a:ext uri="{9D8B030D-6E8A-4147-A177-3AD203B41FA5}">
                      <a16:colId xmlns:a16="http://schemas.microsoft.com/office/drawing/2014/main" val="2463181438"/>
                    </a:ext>
                  </a:extLst>
                </a:gridCol>
                <a:gridCol w="2730166">
                  <a:extLst>
                    <a:ext uri="{9D8B030D-6E8A-4147-A177-3AD203B41FA5}">
                      <a16:colId xmlns:a16="http://schemas.microsoft.com/office/drawing/2014/main" val="71148272"/>
                    </a:ext>
                  </a:extLst>
                </a:gridCol>
                <a:gridCol w="2730166">
                  <a:extLst>
                    <a:ext uri="{9D8B030D-6E8A-4147-A177-3AD203B41FA5}">
                      <a16:colId xmlns:a16="http://schemas.microsoft.com/office/drawing/2014/main" val="3016537316"/>
                    </a:ext>
                  </a:extLst>
                </a:gridCol>
              </a:tblGrid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497788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Received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412880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10:05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5937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Aggregated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10:10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92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24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847C-8985-1639-E364-EFFB3BAE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That Help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C4231-95E7-4A15-907B-F0E63EABB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814017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filters for quick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Glue bookmarks / job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CloudWatch logs for pipeline traces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Redshift / Athena queries for output checks</a:t>
            </a:r>
          </a:p>
        </p:txBody>
      </p:sp>
    </p:spTree>
    <p:extLst>
      <p:ext uri="{BB962C8B-B14F-4D97-AF65-F5344CB8AC3E}">
        <p14:creationId xmlns:p14="http://schemas.microsoft.com/office/powerpoint/2010/main" val="46168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5987-0580-DD88-05B8-FF492C66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523C1-C4F5-D339-3598-4CA104E4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✅ Always trace one record to debug issues</a:t>
            </a:r>
            <a:br>
              <a:rPr lang="en-US" sz="3200" dirty="0"/>
            </a:br>
            <a:r>
              <a:rPr lang="en-US" sz="3200" dirty="0"/>
              <a:t>✅ Compare data across stages</a:t>
            </a:r>
            <a:br>
              <a:rPr lang="en-US" sz="3200" dirty="0"/>
            </a:br>
            <a:r>
              <a:rPr lang="en-US" sz="3200" dirty="0"/>
              <a:t>✅ Use logs and filters at every step</a:t>
            </a:r>
            <a:br>
              <a:rPr lang="en-US" sz="3200" dirty="0"/>
            </a:br>
            <a:r>
              <a:rPr lang="en-US" sz="3200" dirty="0"/>
              <a:t>✅ Makes pipelines auditable and reliable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89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“How to Trace a Record Through a Pipeline”</vt:lpstr>
      <vt:lpstr>Why Trace a Record?</vt:lpstr>
      <vt:lpstr>Common Use Cases</vt:lpstr>
      <vt:lpstr>Basic Tracing Approach</vt:lpstr>
      <vt:lpstr>Example Flow</vt:lpstr>
      <vt:lpstr>Using Filters in Code</vt:lpstr>
      <vt:lpstr>Logging Each Stage</vt:lpstr>
      <vt:lpstr>Record Snapshot Comparison</vt:lpstr>
      <vt:lpstr>Tools That Help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2025-11-07T09:54:09Z</dcterms:created>
  <dcterms:modified xsi:type="dcterms:W3CDTF">2025-11-07T09:54:34Z</dcterms:modified>
</cp:coreProperties>
</file>