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6BD2-4C99-5499-6922-4C3021199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5B34C-02D2-5EB0-16C5-9B0E7F16F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9F04F-5DB7-1530-1481-D08200442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A8DD2-9E5D-8D8A-0FDC-9BD210E18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B8846-A223-1249-9EDE-BB52080C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83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31DB-886E-F55F-8FE4-7E1B65D2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324A0-D0A1-ABD7-200B-953FCF86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255E-2178-6CAC-235B-CDDD586D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4057-3233-9662-1676-527BF2C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37A5E-C1D6-19E3-F6C5-46F073E1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18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96F1-6358-C237-BE7C-EB0C1331A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5439D-4653-B483-BCAB-0FA633DE4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58B39-589A-CC40-E3C1-F72CC92C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09B6C-33B3-E7A9-AECD-514965B7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0C6FA-E930-FA4E-2328-807F06CD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94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C426-2C6D-A10A-EA20-4D4F9483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27F66-3070-C2C1-EC17-7A1A9502C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53DAB-0390-4EF2-17DA-1A3CD5BB9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E8BE4-CF73-6AFF-1A05-E373A544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4341C-6CF9-DFA0-7482-58DC899F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4F8E6-7CAB-5AB0-B873-60AFF32A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93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DB57-C685-5C14-A1FA-06AC993D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4C3BE-2F8F-F8D4-12BA-3B583CC97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9AF98-8670-5BD7-72DA-3405CDC90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ACBB-A478-C1FF-8D43-02D6A6EA98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DED03-4CCF-49C2-F13E-77C2C58B5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511AEB-04DD-4C6B-C45D-2FD8D88AF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B1A26-281F-E800-741C-C8D87CC9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1AF2C-C70A-5554-A951-1BE203DA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2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933BA-7D9D-761C-3CE0-AA5CD176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CB028-CB64-0B06-75F4-C7486EC9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28EE1-0121-3DBC-44D5-F502E85B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8AF2B-D71E-986C-BAC3-609AB8F9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624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EA5A5-7185-C16C-26FA-2C2D02C0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E597A-366E-125D-ABAA-A450A6CC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A2630-805B-F073-557F-3EF3688E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1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A5DC-426B-014C-8126-F13316BF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872CC-4BCD-F84B-01DE-51134A08B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53472-0832-C685-DD22-9BCD03036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ACBE0-BE4B-D82F-F53F-1DE6885B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EB050-2947-2418-64A5-802882B3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7586E-48A9-FFA5-1950-D88C0C221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29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CC9E-E3CB-38DF-7CC4-3AEA65B5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C8546-1F2A-D901-ED3E-806A3A573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3CBC5-CBF3-F551-22B2-CCAE1195A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1CA01-3204-B7E6-49AA-3EA593B37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47C80-1216-9EDC-26F6-0AA6B87C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DA6C-BC79-562C-25D1-718504ED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54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A270-4403-AF9B-54C1-209F4A75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25CBF-199A-70EC-AA89-89CDCD63C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A537F-6A0A-C3DB-1955-0676F37A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38452-7774-2A91-2B90-35DB5F33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6ACB7-C6F3-E6A0-5EBF-4AA71DCA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23D19-07D5-BE9A-EF29-87E6F430A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F2CC9-E729-BBA7-A45F-78DC23B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BFCAE-96D8-7901-A6EE-3C930736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7BCE1-ED14-3143-E1F5-82EBF796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0DC37-433D-737D-C262-5E2777442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47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A41210-3485-ED43-9267-A3EB9877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267BD-6E01-FD47-5553-F2FC4E864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8B79E-4CEE-6AF2-7E91-2B5146831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26033-E1E9-42E7-8CF5-F3AA56CA40F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F2F9C-0344-E0E6-30D2-D79A875E2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4032E-49CB-F8D6-D381-963523E2F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1C407-D8B8-4993-825E-DA12CA2F8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78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9BDF-543F-5E68-E066-23CFE8C25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611" y="128337"/>
            <a:ext cx="9673389" cy="24544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Basics of AWS Lambda (Event-Driven Jobs)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FF687-CE46-0C6F-FD9A-98DB2D92C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474" y="2197767"/>
            <a:ext cx="10106527" cy="453189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AWS Lambda</a:t>
            </a:r>
          </a:p>
          <a:p>
            <a:pPr algn="l"/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AWS Lambda is a </a:t>
            </a:r>
            <a:r>
              <a:rPr lang="en-US" i="1" dirty="0"/>
              <a:t>serverless compute service</a:t>
            </a:r>
            <a:r>
              <a:rPr lang="en-US" dirty="0"/>
              <a:t> that runs code automatically in response to events.</a:t>
            </a:r>
            <a:br>
              <a:rPr lang="en-US" dirty="0"/>
            </a:br>
            <a:r>
              <a:rPr lang="en-US" dirty="0"/>
              <a:t>You only pay for the execution time — no servers to manage.</a:t>
            </a:r>
            <a:br>
              <a:rPr lang="en-US" dirty="0"/>
            </a:br>
            <a:r>
              <a:rPr lang="en-US" b="1" dirty="0"/>
              <a:t>Key Features:</a:t>
            </a:r>
            <a:endParaRPr lang="en-US" dirty="0"/>
          </a:p>
          <a:p>
            <a:pPr algn="l"/>
            <a:r>
              <a:rPr lang="en-US" dirty="0"/>
              <a:t>Event-driven</a:t>
            </a:r>
          </a:p>
          <a:p>
            <a:pPr algn="l"/>
            <a:r>
              <a:rPr lang="en-US" dirty="0"/>
              <a:t>Auto-scaling</a:t>
            </a:r>
          </a:p>
          <a:p>
            <a:pPr algn="l"/>
            <a:r>
              <a:rPr lang="en-US" dirty="0"/>
              <a:t>Supports Python, Node.js, Java, etc.</a:t>
            </a:r>
          </a:p>
          <a:p>
            <a:pPr algn="l"/>
            <a:r>
              <a:rPr lang="en-US" dirty="0"/>
              <a:t>Integrates with most AWS services (S3, SNS, DynamoDB,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02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87E8-DB06-59AD-43F8-5DA35087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AWS Lambda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AAF99-4578-2115-D61F-00875252F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Lambda executes your code when an event is triggered.</a:t>
            </a:r>
            <a:br>
              <a:rPr lang="en-US" dirty="0"/>
            </a:br>
            <a:r>
              <a:rPr lang="en-US" b="1" dirty="0"/>
              <a:t>Execution Flow:</a:t>
            </a:r>
            <a:br>
              <a:rPr lang="en-US" dirty="0"/>
            </a:br>
            <a:r>
              <a:rPr lang="en-US" dirty="0"/>
              <a:t>1️⃣ An event occurs (e.g., S3 file upload, API call, message).</a:t>
            </a:r>
            <a:br>
              <a:rPr lang="en-US" dirty="0"/>
            </a:br>
            <a:r>
              <a:rPr lang="en-US" dirty="0"/>
              <a:t>2️⃣ AWS triggers the Lambda function.</a:t>
            </a:r>
            <a:br>
              <a:rPr lang="en-US" dirty="0"/>
            </a:br>
            <a:r>
              <a:rPr lang="en-US" dirty="0"/>
              <a:t>3️⃣ Lambda runs the code for that event.</a:t>
            </a:r>
            <a:br>
              <a:rPr lang="en-US" dirty="0"/>
            </a:br>
            <a:r>
              <a:rPr lang="en-US" dirty="0"/>
              <a:t>4️⃣ Logs are automatically sent to CloudWatch.</a:t>
            </a:r>
            <a:br>
              <a:rPr lang="en-US" dirty="0"/>
            </a:br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You focus only on your function code — AWS handles servers, scaling, and fault tolerance.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52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73E1E-F93D-7800-4876-138860BA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Event-Driven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E3898-BE81-89DD-1B8F-F3955209A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Lambda forms the backbone of event-driven architectures.</a:t>
            </a:r>
            <a:br>
              <a:rPr lang="en-US" dirty="0"/>
            </a:br>
            <a:r>
              <a:rPr lang="en-US" b="1" dirty="0"/>
              <a:t>Event Sources Include:</a:t>
            </a:r>
            <a:endParaRPr lang="en-US" dirty="0"/>
          </a:p>
          <a:p>
            <a:r>
              <a:rPr lang="en-US" dirty="0"/>
              <a:t>S3 (on file upload)</a:t>
            </a:r>
          </a:p>
          <a:p>
            <a:r>
              <a:rPr lang="en-US" dirty="0"/>
              <a:t>DynamoDB Streams (on data change)</a:t>
            </a:r>
          </a:p>
          <a:p>
            <a:r>
              <a:rPr lang="en-US" dirty="0"/>
              <a:t>SNS/SQS (on message publish)</a:t>
            </a:r>
          </a:p>
          <a:p>
            <a:r>
              <a:rPr lang="en-US" dirty="0"/>
              <a:t>API Gateway (on HTTP call)</a:t>
            </a:r>
            <a:br>
              <a:rPr lang="en-US" dirty="0"/>
            </a:b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When a CSV lands in S3, Lambda automatically triggers an ETL job.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945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4B7BB-6D68-9183-8EF2-19A228C5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Use Case: Auto-Triggering S3 Loads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4CF0-16D9-1C00-D3B8-1237092DE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Scenario:</a:t>
            </a:r>
            <a:br>
              <a:rPr lang="en-IN" dirty="0"/>
            </a:br>
            <a:r>
              <a:rPr lang="en-IN" dirty="0"/>
              <a:t>You upload a JSON file to s3://supplychain/raw/.</a:t>
            </a:r>
            <a:br>
              <a:rPr lang="en-IN" dirty="0"/>
            </a:br>
            <a:r>
              <a:rPr lang="en-IN" dirty="0"/>
              <a:t>Lambda function automatically validates and moves it to the trusted zone.</a:t>
            </a:r>
            <a:br>
              <a:rPr lang="en-IN" dirty="0"/>
            </a:b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📥 Upload → 🔔 Event Trigger → 🧠 Lambda executes → 📤 Clean data stored</a:t>
            </a:r>
            <a:br>
              <a:rPr lang="en-IN" dirty="0"/>
            </a:br>
            <a:r>
              <a:rPr lang="en-IN" b="1" dirty="0"/>
              <a:t>Benefit:</a:t>
            </a:r>
            <a:br>
              <a:rPr lang="en-IN" dirty="0"/>
            </a:br>
            <a:r>
              <a:rPr lang="en-IN" dirty="0"/>
              <a:t>Zero manual intervention — fully automated data movement.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20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7E74-C208-9DDC-6AAD-FF0DCD36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Function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835D1-DE89-38B5-5A97-6AFD5780A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Code Template: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def </a:t>
            </a:r>
            <a:r>
              <a:rPr lang="en-US" dirty="0" err="1">
                <a:solidFill>
                  <a:srgbClr val="FF0000"/>
                </a:solidFill>
              </a:rPr>
              <a:t>lambda_handler</a:t>
            </a:r>
            <a:r>
              <a:rPr lang="en-US" dirty="0">
                <a:solidFill>
                  <a:srgbClr val="FF0000"/>
                </a:solidFill>
              </a:rPr>
              <a:t>(event, context):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print("Event received:", event)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# Business logic here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 return {"</a:t>
            </a:r>
            <a:r>
              <a:rPr lang="en-US" dirty="0" err="1">
                <a:solidFill>
                  <a:srgbClr val="FF0000"/>
                </a:solidFill>
              </a:rPr>
              <a:t>statusCode</a:t>
            </a:r>
            <a:r>
              <a:rPr lang="en-US" dirty="0">
                <a:solidFill>
                  <a:srgbClr val="FF0000"/>
                </a:solidFill>
              </a:rPr>
              <a:t>": 200, "body": "Process completed"}</a:t>
            </a:r>
          </a:p>
          <a:p>
            <a:r>
              <a:rPr lang="en-US" b="1" dirty="0"/>
              <a:t>Key Inputs:</a:t>
            </a:r>
            <a:endParaRPr lang="en-US" dirty="0"/>
          </a:p>
          <a:p>
            <a:r>
              <a:rPr lang="en-US" b="1" dirty="0"/>
              <a:t>event:</a:t>
            </a:r>
            <a:r>
              <a:rPr lang="en-US" dirty="0"/>
              <a:t> Data passed by trigger (e.g., S3 bucket info).</a:t>
            </a:r>
          </a:p>
          <a:p>
            <a:r>
              <a:rPr lang="en-US" b="1" dirty="0"/>
              <a:t>context:</a:t>
            </a:r>
            <a:r>
              <a:rPr lang="en-US" dirty="0"/>
              <a:t> Metadata about execution (e.g., function name, timeout).</a:t>
            </a:r>
            <a:br>
              <a:rPr lang="en-US" dirty="0"/>
            </a:br>
            <a:r>
              <a:rPr lang="en-US" b="1" dirty="0"/>
              <a:t>Note:</a:t>
            </a:r>
            <a:br>
              <a:rPr lang="en-US" dirty="0"/>
            </a:br>
            <a:r>
              <a:rPr lang="en-US" dirty="0"/>
              <a:t>Keep Lambda lightweight and stateless.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33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7AB5-5B2E-76D2-F011-BDE9326C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Triggering Lambda from 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6DDEC-61E8-9CC4-7A7C-92F76A19E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9410"/>
            <a:ext cx="11353800" cy="56789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You can configure S3 bucket notifications to trigger Lambda.</a:t>
            </a:r>
            <a:br>
              <a:rPr lang="en-US" dirty="0"/>
            </a:br>
            <a:r>
              <a:rPr lang="en-US" b="1" dirty="0"/>
              <a:t>Steps:</a:t>
            </a:r>
            <a:br>
              <a:rPr lang="en-US" dirty="0"/>
            </a:br>
            <a:r>
              <a:rPr lang="en-US" dirty="0"/>
              <a:t>1️⃣ Go to S3 → Properties → Event Notifications.</a:t>
            </a:r>
            <a:br>
              <a:rPr lang="en-US" dirty="0"/>
            </a:br>
            <a:r>
              <a:rPr lang="en-US" dirty="0"/>
              <a:t>2️⃣ Choose “Object Created” event.</a:t>
            </a:r>
            <a:br>
              <a:rPr lang="en-US" dirty="0"/>
            </a:br>
            <a:r>
              <a:rPr lang="en-US" dirty="0"/>
              <a:t>3️⃣ Select Lambda function.</a:t>
            </a:r>
            <a:br>
              <a:rPr lang="en-US" dirty="0"/>
            </a:br>
            <a:r>
              <a:rPr lang="en-US" b="1" dirty="0"/>
              <a:t>Example Event JSON: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"Records": [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"s3": { "bucket": { "name": "</a:t>
            </a:r>
            <a:r>
              <a:rPr lang="en-IN" dirty="0" err="1">
                <a:solidFill>
                  <a:srgbClr val="FF0000"/>
                </a:solidFill>
              </a:rPr>
              <a:t>supplychain</a:t>
            </a:r>
            <a:r>
              <a:rPr lang="en-IN" dirty="0">
                <a:solidFill>
                  <a:srgbClr val="FF0000"/>
                </a:solidFill>
              </a:rPr>
              <a:t>-data" },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      "object": { "key": "raw/</a:t>
            </a:r>
            <a:r>
              <a:rPr lang="en-IN" dirty="0" err="1">
                <a:solidFill>
                  <a:srgbClr val="FF0000"/>
                </a:solidFill>
              </a:rPr>
              <a:t>data.json</a:t>
            </a:r>
            <a:r>
              <a:rPr lang="en-IN" dirty="0">
                <a:solidFill>
                  <a:srgbClr val="FF0000"/>
                </a:solidFill>
              </a:rPr>
              <a:t>" } 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253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C73F-0EA8-5E38-FC52-9EEA0784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Processing Logic Inside Lambda</a:t>
            </a:r>
            <a:br>
              <a:rPr lang="en-IN" b="1" dirty="0"/>
            </a:br>
            <a:r>
              <a:rPr lang="en-IN" b="1" dirty="0"/>
              <a:t>Example: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39D1C-240C-D83D-D4F2-3121027E1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</a:t>
            </a:r>
            <a:r>
              <a:rPr lang="en-IN" dirty="0" err="1">
                <a:solidFill>
                  <a:srgbClr val="FF0000"/>
                </a:solidFill>
              </a:rPr>
              <a:t>lambda_handler</a:t>
            </a:r>
            <a:r>
              <a:rPr lang="en-IN" dirty="0">
                <a:solidFill>
                  <a:srgbClr val="FF0000"/>
                </a:solidFill>
              </a:rPr>
              <a:t>(event, context):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bucket = event["Records"][0]["s3"]["bucket"]["name"]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key = event["Records"][0]["s3"]["object"]["key"]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print(</a:t>
            </a:r>
            <a:r>
              <a:rPr lang="en-IN" dirty="0" err="1">
                <a:solidFill>
                  <a:srgbClr val="FF0000"/>
                </a:solidFill>
              </a:rPr>
              <a:t>f"Processing</a:t>
            </a:r>
            <a:r>
              <a:rPr lang="en-IN" dirty="0">
                <a:solidFill>
                  <a:srgbClr val="FF0000"/>
                </a:solidFill>
              </a:rPr>
              <a:t> file: {key} from bucket: {bucket}")</a:t>
            </a:r>
          </a:p>
          <a:p>
            <a:r>
              <a:rPr lang="en-US" b="1" dirty="0"/>
              <a:t>Use Case:</a:t>
            </a:r>
            <a:endParaRPr lang="en-US" dirty="0"/>
          </a:p>
          <a:p>
            <a:r>
              <a:rPr lang="en-US" dirty="0"/>
              <a:t>Validate schema</a:t>
            </a:r>
          </a:p>
          <a:p>
            <a:r>
              <a:rPr lang="en-US" dirty="0"/>
              <a:t>Convert JSON → Parquet</a:t>
            </a:r>
          </a:p>
          <a:p>
            <a:r>
              <a:rPr lang="en-US" dirty="0"/>
              <a:t>Save output to S3 trusted/</a:t>
            </a:r>
          </a:p>
          <a:p>
            <a:r>
              <a:rPr lang="en-US" dirty="0"/>
              <a:t>Publish success message to SNS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74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F964-5CC0-8FCC-0207-F3250E93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0472D-E369-0D8D-FA29-C120D80C6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Monitoring ensures your functions run correctly.</a:t>
            </a:r>
            <a:br>
              <a:rPr lang="en-IN" dirty="0"/>
            </a:br>
            <a:r>
              <a:rPr lang="en-IN" b="1" dirty="0"/>
              <a:t>Tools:</a:t>
            </a:r>
            <a:endParaRPr lang="en-IN" dirty="0"/>
          </a:p>
          <a:p>
            <a:r>
              <a:rPr lang="en-IN" b="1" dirty="0"/>
              <a:t>CloudWatch Logs:</a:t>
            </a:r>
            <a:r>
              <a:rPr lang="en-IN" dirty="0"/>
              <a:t> Automatically captures print() and logger outputs</a:t>
            </a:r>
          </a:p>
          <a:p>
            <a:r>
              <a:rPr lang="en-IN" b="1" dirty="0"/>
              <a:t>CloudWatch Metrics:</a:t>
            </a:r>
            <a:r>
              <a:rPr lang="en-IN" dirty="0"/>
              <a:t> Measures invocations, duration, errors</a:t>
            </a:r>
          </a:p>
          <a:p>
            <a:r>
              <a:rPr lang="en-IN" b="1" dirty="0"/>
              <a:t>AWS X-Ray:</a:t>
            </a:r>
            <a:r>
              <a:rPr lang="en-IN" dirty="0"/>
              <a:t> Visualizes request trace</a:t>
            </a:r>
            <a:br>
              <a:rPr lang="en-IN" dirty="0"/>
            </a:br>
            <a:r>
              <a:rPr lang="en-IN" b="1" dirty="0"/>
              <a:t>Tip:</a:t>
            </a:r>
            <a:br>
              <a:rPr lang="en-IN" dirty="0"/>
            </a:br>
            <a:r>
              <a:rPr lang="en-IN" dirty="0"/>
              <a:t>Use structured logging and error alerts.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39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A81C-FB01-57CF-80A4-D0DDB8F5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DD7B1-D725-2330-A85B-C7963A0FB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Recommended Practices:</a:t>
            </a:r>
            <a:br>
              <a:rPr lang="en-IN" dirty="0"/>
            </a:br>
            <a:r>
              <a:rPr lang="en-IN" dirty="0"/>
              <a:t>✅ Keep function code modular and under 100 MB</a:t>
            </a:r>
            <a:br>
              <a:rPr lang="en-IN" dirty="0"/>
            </a:br>
            <a:r>
              <a:rPr lang="en-IN" dirty="0"/>
              <a:t>✅ Use environment variables for config</a:t>
            </a:r>
            <a:br>
              <a:rPr lang="en-IN" dirty="0"/>
            </a:br>
            <a:r>
              <a:rPr lang="en-IN" dirty="0"/>
              <a:t>✅ Handle retries gracefully</a:t>
            </a:r>
            <a:br>
              <a:rPr lang="en-IN" dirty="0"/>
            </a:br>
            <a:r>
              <a:rPr lang="en-IN" dirty="0"/>
              <a:t>✅ Grant minimum IAM permissions</a:t>
            </a:r>
            <a:br>
              <a:rPr lang="en-IN" dirty="0"/>
            </a:br>
            <a:r>
              <a:rPr lang="en-IN" dirty="0"/>
              <a:t>✅ Use layers for reusable dependencies (e.g., pandas)</a:t>
            </a:r>
            <a:br>
              <a:rPr lang="en-IN" dirty="0"/>
            </a:br>
            <a:r>
              <a:rPr lang="en-IN" dirty="0"/>
              <a:t>✅ Always log errors using </a:t>
            </a:r>
            <a:r>
              <a:rPr lang="en-IN" dirty="0" err="1"/>
              <a:t>logger.error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41139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0BE16-5EE8-6858-7A09-AD69D773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74D97-1A54-01AD-D66A-2E008AF72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Takeaways:</a:t>
            </a:r>
            <a:endParaRPr lang="en-IN" dirty="0"/>
          </a:p>
          <a:p>
            <a:r>
              <a:rPr lang="en-IN" dirty="0"/>
              <a:t>Lambda = Event-driven compute engine</a:t>
            </a:r>
          </a:p>
          <a:p>
            <a:r>
              <a:rPr lang="en-IN" dirty="0"/>
              <a:t>Works seamlessly with S3, SNS, API Gateway</a:t>
            </a:r>
          </a:p>
          <a:p>
            <a:r>
              <a:rPr lang="en-IN" dirty="0"/>
              <a:t>Core for automation in AWS data pipelines</a:t>
            </a:r>
          </a:p>
          <a:p>
            <a:r>
              <a:rPr lang="en-IN"/>
              <a:t>Reduces cost and complexity</a:t>
            </a:r>
            <a:br>
              <a:rPr lang="en-IN"/>
            </a:br>
            <a:r>
              <a:rPr lang="en-IN" b="1"/>
              <a:t>Summary Line:</a:t>
            </a:r>
            <a:br>
              <a:rPr lang="en-IN"/>
            </a:br>
            <a:r>
              <a:rPr lang="en-IN"/>
              <a:t>“Upload a file → Lambda wakes up → Job runs → Data flows — automatically!” ⚡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601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Basics of AWS Lambda (Event-Driven Jobs) </vt:lpstr>
      <vt:lpstr>How AWS Lambda Works</vt:lpstr>
      <vt:lpstr>Event-Driven Architecture </vt:lpstr>
      <vt:lpstr>Example Use Case: Auto-Triggering S3 Loads</vt:lpstr>
      <vt:lpstr>Lambda Function Structure</vt:lpstr>
      <vt:lpstr>Triggering Lambda from S3</vt:lpstr>
      <vt:lpstr>Processing Logic Inside Lambda Example: </vt:lpstr>
      <vt:lpstr>Monitoring Lambda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2025-11-10T10:04:52Z</dcterms:created>
  <dcterms:modified xsi:type="dcterms:W3CDTF">2025-11-10T10:05:02Z</dcterms:modified>
</cp:coreProperties>
</file>