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2428D-1988-2A85-49BC-B0FCF3D8E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1D27F-D188-AAAA-50F0-4841201F4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9535F-493E-B069-FDA8-B304C205B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CC127-99E7-4370-4CEC-8234EC9C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B61D8-A5B7-4618-26AC-354F5E98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781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E6B3-001F-145B-2F8F-D64A249D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20F69-65EA-EA76-0604-CC6DD7F24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30C99-16F2-E8C4-9525-D7DB2E14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A9D67-1D19-3A0E-53F6-CE1F365AD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9C96A-9450-062B-D803-CD8B78A2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644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4528-EAEF-80A5-D74A-F8EC50927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6E2EF-5649-218B-2537-C0BCD6928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7AC15-34C5-6A15-3882-FCFEA78D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B08B9-69B8-8B2E-8909-27896E28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86586-392D-2EE9-1650-FCA3478B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407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28C3-2F90-8CF2-F944-CF7D673B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E47B-3443-A9C0-1674-05D5688642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209D6-DBEA-AE32-2C54-60FAD8416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7A920-92CE-957B-C127-A5B364C1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4AEA4-FF1C-14DB-DA24-232A2747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4608A-E197-A8BA-2809-50250E05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27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C77F-D10B-D16A-C76E-18585D4B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21D01-9BB5-3E03-8638-A0C5C0277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EA5E5-FEA4-DE6E-726A-0F7343509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C1463-429D-5B71-BCC8-DE9B321F3F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D04C42-6632-B037-19BB-E35E3D895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7EF64C-2566-C05E-7475-814D50BF6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CAB08-A8F4-7493-B460-8786A73C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40EF4-AC24-1D5F-F499-E193A70F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96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1E7F-3CB7-B1E7-0816-88FA2EE2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1078D-0FE9-C829-1ED5-48F66C33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B1065-D676-B1C9-A0C8-26ED85AB1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1E628-7BB9-AC4F-59FC-7FE6EFC1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826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CB89D-5F1D-A8EE-8FD8-0471A425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F1AAA-A144-AA83-E126-CD12BAE8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03203-CE0E-50CE-3583-55CB3A9A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906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BD0D-4137-8193-8822-6721FD933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ADFFA-2931-2F7F-B683-E23706E36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DF9BC-3179-55A6-D57F-907484AAF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97DC7-0D37-48EE-031F-9174D836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CD85A-D911-E767-A3B0-7D293F81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0D39C-77B5-A4D5-62E1-E454094C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81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A1DB-AC21-4679-F557-5CD74B445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12B2C-C043-01BF-5168-F0B84EF64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1FE9C-0F61-5FCE-EA06-C52EC6826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B434-F0B9-CBEB-6E27-7DF68F6D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58E2B-4671-ADC2-60D4-F9F142A3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2185F-E4A5-AD73-3247-5E1809B0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7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4D6AA-A8F2-CA42-043A-AE377E2C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AF79E-7F57-B3FF-84C2-713E090BB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BF2C3-0079-9DF3-A446-EE28D1E9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2C4E8-F2CA-5809-B814-67AE112C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ED18D-8EBA-2456-71A0-85E71BB7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61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F0E1C-6467-3CAC-023E-B246FC721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B3D2E-9183-144F-1888-03AD82E7F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3019A-97C3-2939-5C57-0BB30DF5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5763D-4E0B-9183-6AB0-1FFB8CDF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E0E55-09BB-FF3C-3779-BA3755DBA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388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DD02E-E4B8-E94D-EA12-0BBBC0E8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37502-8A8D-D449-A0AE-3D0DACEAA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31212-6FA0-7622-E4FD-C552EF1DD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4804C-D9BA-451F-B4B9-F8DBF1EA25B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47980-7CDE-FE62-FF64-452F0603A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ECA79-3E5B-A1C8-183D-7EEBE1833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8F67C-B67A-426E-9363-4BAEF02CB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832E-2ED1-F6EA-4852-AB8A53F96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16" y="176463"/>
            <a:ext cx="10090485" cy="1655762"/>
          </a:xfrm>
        </p:spPr>
        <p:txBody>
          <a:bodyPr>
            <a:normAutofit fontScale="90000"/>
          </a:bodyPr>
          <a:lstStyle/>
          <a:p>
            <a:r>
              <a:rPr lang="en-IN" dirty="0"/>
              <a:t>transform() vs persist() in Data Pipelines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54F7F-092B-A242-1B81-74E06CCBC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653" y="1700463"/>
            <a:ext cx="9657347" cy="3557337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In modern ETL/ELT pipelines, the core design principle is to separate data </a:t>
            </a:r>
            <a:r>
              <a:rPr lang="en-IN" b="1" dirty="0"/>
              <a:t>transformation logic</a:t>
            </a:r>
            <a:r>
              <a:rPr lang="en-IN" dirty="0"/>
              <a:t> from </a:t>
            </a:r>
            <a:r>
              <a:rPr lang="en-IN" b="1" dirty="0"/>
              <a:t>persistence (storage)</a:t>
            </a:r>
            <a:r>
              <a:rPr lang="en-IN" dirty="0"/>
              <a:t> logic.</a:t>
            </a:r>
            <a:br>
              <a:rPr lang="en-IN" dirty="0"/>
            </a:br>
            <a:r>
              <a:rPr lang="en-IN" dirty="0"/>
              <a:t>This makes pipelines modular, testable, and easier to maintain.</a:t>
            </a:r>
            <a:br>
              <a:rPr lang="en-IN" dirty="0"/>
            </a:br>
            <a:r>
              <a:rPr lang="en-IN" b="1" dirty="0"/>
              <a:t>Key Points:</a:t>
            </a:r>
            <a:endParaRPr lang="en-IN" dirty="0"/>
          </a:p>
          <a:p>
            <a:pPr algn="l"/>
            <a:r>
              <a:rPr lang="en-IN" dirty="0"/>
              <a:t>transform() = logic layer (clean, enrich, compute)</a:t>
            </a:r>
          </a:p>
          <a:p>
            <a:pPr algn="l"/>
            <a:r>
              <a:rPr lang="en-IN" dirty="0"/>
              <a:t>persist() = I/O layer (save to storage or DB)</a:t>
            </a:r>
          </a:p>
          <a:p>
            <a:pPr algn="l"/>
            <a:r>
              <a:rPr lang="en-IN" dirty="0"/>
              <a:t>Clean separation = better debugging and flexibility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810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B006-DC77-E42D-159D-6D524725B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Separate Logic and Storage?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673DC-F624-83DD-4944-D69A9F254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Mixing transformations and storage operations causes testing difficulty and tight coupling.</a:t>
            </a:r>
            <a:br>
              <a:rPr lang="en-IN" dirty="0"/>
            </a:br>
            <a:r>
              <a:rPr lang="en-IN" b="1" dirty="0"/>
              <a:t>Benefits of separation:</a:t>
            </a:r>
            <a:endParaRPr lang="en-IN" dirty="0"/>
          </a:p>
          <a:p>
            <a:r>
              <a:rPr lang="en-IN" dirty="0"/>
              <a:t>Unit-testing of logic without S3 or DB access</a:t>
            </a:r>
          </a:p>
          <a:p>
            <a:r>
              <a:rPr lang="en-IN" dirty="0"/>
              <a:t>Easier environment switching (dev → prod)</a:t>
            </a:r>
          </a:p>
          <a:p>
            <a:r>
              <a:rPr lang="en-IN" dirty="0"/>
              <a:t>Clearer error isolation</a:t>
            </a:r>
          </a:p>
          <a:p>
            <a:r>
              <a:rPr lang="en-IN" dirty="0"/>
              <a:t>Code reuse across multiple pipelines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4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B1F3-1B70-5096-A279-1FB7B4D9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Role of transform()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E3DD-FD32-D003-9D38-311AAD24F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Handles all data preparation and business rules without any external write operations.</a:t>
            </a:r>
            <a:br>
              <a:rPr lang="en-US" dirty="0"/>
            </a:br>
            <a:r>
              <a:rPr lang="en-US" b="1" dirty="0"/>
              <a:t>Key Points:</a:t>
            </a:r>
            <a:endParaRPr lang="en-US" dirty="0"/>
          </a:p>
          <a:p>
            <a:r>
              <a:rPr lang="en-US" dirty="0"/>
              <a:t>Input = raw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Output = transformed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No file I/O or network calls</a:t>
            </a:r>
          </a:p>
          <a:p>
            <a:r>
              <a:rPr lang="en-US" dirty="0"/>
              <a:t>Can be purely tested in memory</a:t>
            </a:r>
            <a:br>
              <a:rPr lang="en-US" dirty="0"/>
            </a:br>
            <a:r>
              <a:rPr lang="en-US" b="1" dirty="0"/>
              <a:t>Code Snippet:</a:t>
            </a:r>
            <a:endParaRPr lang="en-US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def transform(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r>
              <a:rPr lang="en-IN" dirty="0">
                <a:solidFill>
                  <a:srgbClr val="FF0000"/>
                </a:solidFill>
              </a:rPr>
              <a:t>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 err="1">
                <a:solidFill>
                  <a:srgbClr val="FF0000"/>
                </a:solidFill>
              </a:rPr>
              <a:t>df.dropna</a:t>
            </a:r>
            <a:r>
              <a:rPr lang="en-IN" dirty="0">
                <a:solidFill>
                  <a:srgbClr val="FF0000"/>
                </a:solidFill>
              </a:rPr>
              <a:t>(subset=["</a:t>
            </a:r>
            <a:r>
              <a:rPr lang="en-IN" dirty="0" err="1">
                <a:solidFill>
                  <a:srgbClr val="FF0000"/>
                </a:solidFill>
              </a:rPr>
              <a:t>order_id</a:t>
            </a:r>
            <a:r>
              <a:rPr lang="en-IN" dirty="0">
                <a:solidFill>
                  <a:srgbClr val="FF0000"/>
                </a:solidFill>
              </a:rPr>
              <a:t>"])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r>
              <a:rPr lang="en-IN" dirty="0">
                <a:solidFill>
                  <a:srgbClr val="FF0000"/>
                </a:solidFill>
              </a:rPr>
              <a:t>["</a:t>
            </a:r>
            <a:r>
              <a:rPr lang="en-IN" dirty="0" err="1">
                <a:solidFill>
                  <a:srgbClr val="FF0000"/>
                </a:solidFill>
              </a:rPr>
              <a:t>price_usd</a:t>
            </a:r>
            <a:r>
              <a:rPr lang="en-IN" dirty="0">
                <a:solidFill>
                  <a:srgbClr val="FF0000"/>
                </a:solidFill>
              </a:rPr>
              <a:t>"] = 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r>
              <a:rPr lang="en-IN" dirty="0">
                <a:solidFill>
                  <a:srgbClr val="FF0000"/>
                </a:solidFill>
              </a:rPr>
              <a:t>["price"] * 0.012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r>
              <a:rPr lang="en-IN" dirty="0">
                <a:solidFill>
                  <a:srgbClr val="FF0000"/>
                </a:solidFill>
              </a:rPr>
              <a:t>["</a:t>
            </a:r>
            <a:r>
              <a:rPr lang="en-IN" dirty="0" err="1">
                <a:solidFill>
                  <a:srgbClr val="FF0000"/>
                </a:solidFill>
              </a:rPr>
              <a:t>processed_ts</a:t>
            </a:r>
            <a:r>
              <a:rPr lang="en-IN" dirty="0">
                <a:solidFill>
                  <a:srgbClr val="FF0000"/>
                </a:solidFill>
              </a:rPr>
              <a:t>"] = </a:t>
            </a:r>
            <a:r>
              <a:rPr lang="en-IN" dirty="0" err="1">
                <a:solidFill>
                  <a:srgbClr val="FF0000"/>
                </a:solidFill>
              </a:rPr>
              <a:t>pd.Timestamp.now</a:t>
            </a:r>
            <a:r>
              <a:rPr lang="en-IN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return 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951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DE790-F6D3-FB86-69C6-14EA3AF5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persist()?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6FE09-61A9-1E88-0BBE-F04A18176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Responsible for saving or exporting data to a target location.</a:t>
            </a:r>
            <a:br>
              <a:rPr lang="en-US" dirty="0"/>
            </a:br>
            <a:r>
              <a:rPr lang="en-US" b="1" dirty="0"/>
              <a:t>Key Points:</a:t>
            </a:r>
            <a:endParaRPr lang="en-US" dirty="0"/>
          </a:p>
          <a:p>
            <a:r>
              <a:rPr lang="en-US" dirty="0"/>
              <a:t>Input = clean/transformed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Output = data stored in S3, DB, or file</a:t>
            </a:r>
          </a:p>
          <a:p>
            <a:r>
              <a:rPr lang="en-US" dirty="0"/>
              <a:t>Handles I/O errors, retries, and logging</a:t>
            </a:r>
            <a:br>
              <a:rPr lang="en-US" dirty="0"/>
            </a:br>
            <a:r>
              <a:rPr lang="en-US" b="1" dirty="0"/>
              <a:t>Code Snippet:</a:t>
            </a:r>
            <a:endParaRPr lang="en-US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def persist(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err="1">
                <a:solidFill>
                  <a:srgbClr val="FF0000"/>
                </a:solidFill>
              </a:rPr>
              <a:t>output_path</a:t>
            </a:r>
            <a:r>
              <a:rPr lang="en-IN" dirty="0">
                <a:solidFill>
                  <a:srgbClr val="FF0000"/>
                </a:solidFill>
              </a:rPr>
              <a:t>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try: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</a:t>
            </a:r>
            <a:r>
              <a:rPr lang="en-IN" dirty="0" err="1">
                <a:solidFill>
                  <a:srgbClr val="FF0000"/>
                </a:solidFill>
              </a:rPr>
              <a:t>df.to_parquet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output_path</a:t>
            </a:r>
            <a:r>
              <a:rPr lang="en-IN" dirty="0">
                <a:solidFill>
                  <a:srgbClr val="FF0000"/>
                </a:solidFill>
              </a:rPr>
              <a:t>, index=False)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print("✅ Saved:", </a:t>
            </a:r>
            <a:r>
              <a:rPr lang="en-IN" dirty="0" err="1">
                <a:solidFill>
                  <a:srgbClr val="FF0000"/>
                </a:solidFill>
              </a:rPr>
              <a:t>output_path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except Exception as 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print("❌ Persist failed:", 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054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7BE2-D6CF-2EA6-1449-A4592DF1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Pipeline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19AF7-8569-1B54-AC56-0A8B09FD6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transform() cleans and prepares data → persist() saves it to storage.</a:t>
            </a:r>
            <a:br>
              <a:rPr lang="en-US" dirty="0"/>
            </a:br>
            <a:r>
              <a:rPr lang="en-US" b="1" dirty="0"/>
              <a:t>Example Flow:</a:t>
            </a:r>
            <a:endParaRPr lang="en-US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def main():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df_raw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 err="1">
                <a:solidFill>
                  <a:srgbClr val="FF0000"/>
                </a:solidFill>
              </a:rPr>
              <a:t>pd.read_csv</a:t>
            </a:r>
            <a:r>
              <a:rPr lang="en-IN" dirty="0">
                <a:solidFill>
                  <a:srgbClr val="FF0000"/>
                </a:solidFill>
              </a:rPr>
              <a:t>("input/orders.csv")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df_trans</a:t>
            </a:r>
            <a:r>
              <a:rPr lang="en-IN" dirty="0">
                <a:solidFill>
                  <a:srgbClr val="FF0000"/>
                </a:solidFill>
              </a:rPr>
              <a:t> = transform(</a:t>
            </a:r>
            <a:r>
              <a:rPr lang="en-IN" dirty="0" err="1">
                <a:solidFill>
                  <a:srgbClr val="FF0000"/>
                </a:solidFill>
              </a:rPr>
              <a:t>df_raw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persist(</a:t>
            </a:r>
            <a:r>
              <a:rPr lang="en-IN" dirty="0" err="1">
                <a:solidFill>
                  <a:srgbClr val="FF0000"/>
                </a:solidFill>
              </a:rPr>
              <a:t>df_trans</a:t>
            </a:r>
            <a:r>
              <a:rPr lang="en-IN" dirty="0">
                <a:solidFill>
                  <a:srgbClr val="FF0000"/>
                </a:solidFill>
              </a:rPr>
              <a:t>, "s3://bucket/processed/</a:t>
            </a:r>
            <a:r>
              <a:rPr lang="en-IN" dirty="0" err="1">
                <a:solidFill>
                  <a:srgbClr val="FF0000"/>
                </a:solidFill>
              </a:rPr>
              <a:t>orders.parquet</a:t>
            </a:r>
            <a:r>
              <a:rPr lang="en-IN" dirty="0">
                <a:solidFill>
                  <a:srgbClr val="FF0000"/>
                </a:solidFill>
              </a:rPr>
              <a:t>")</a:t>
            </a:r>
          </a:p>
          <a:p>
            <a:r>
              <a:rPr lang="en-US" b="1" dirty="0"/>
              <a:t>Result:</a:t>
            </a:r>
            <a:endParaRPr lang="en-US" dirty="0"/>
          </a:p>
          <a:p>
            <a:r>
              <a:rPr lang="en-US" dirty="0"/>
              <a:t>Logic and I/O remain independent.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37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9838-4BB1-047E-A167-B77F02C0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Unit Testing Transformations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BC83A-F624-6B49-F2D4-A9958C611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Test transformations locally without touching S3/DB.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def </a:t>
            </a:r>
            <a:r>
              <a:rPr lang="en-IN" dirty="0" err="1">
                <a:solidFill>
                  <a:srgbClr val="FF0000"/>
                </a:solidFill>
              </a:rPr>
              <a:t>test_transform_adds_column</a:t>
            </a:r>
            <a:r>
              <a:rPr lang="en-IN" dirty="0">
                <a:solidFill>
                  <a:srgbClr val="FF0000"/>
                </a:solidFill>
              </a:rPr>
              <a:t>():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 err="1">
                <a:solidFill>
                  <a:srgbClr val="FF0000"/>
                </a:solidFill>
              </a:rPr>
              <a:t>pd.DataFrame</a:t>
            </a:r>
            <a:r>
              <a:rPr lang="en-IN" dirty="0">
                <a:solidFill>
                  <a:srgbClr val="FF0000"/>
                </a:solidFill>
              </a:rPr>
              <a:t>([{"price": 100}])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out = transform(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assert "</a:t>
            </a:r>
            <a:r>
              <a:rPr lang="en-IN" dirty="0" err="1">
                <a:solidFill>
                  <a:srgbClr val="FF0000"/>
                </a:solidFill>
              </a:rPr>
              <a:t>price_usd</a:t>
            </a:r>
            <a:r>
              <a:rPr lang="en-IN" dirty="0">
                <a:solidFill>
                  <a:srgbClr val="FF0000"/>
                </a:solidFill>
              </a:rPr>
              <a:t>" in </a:t>
            </a:r>
            <a:r>
              <a:rPr lang="en-IN" dirty="0" err="1">
                <a:solidFill>
                  <a:srgbClr val="FF0000"/>
                </a:solidFill>
              </a:rPr>
              <a:t>out.columns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Tip:</a:t>
            </a:r>
            <a:r>
              <a:rPr lang="en-US" dirty="0"/>
              <a:t> Keep transform pure → repeatable and predictable.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36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CBE3-EE1B-8A11-2CE1-802BF83F1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persist()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C0D4-7FBD-2102-6B9E-4B844569E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59832"/>
            <a:ext cx="10744200" cy="471713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Mocking Storage Layer</a:t>
            </a:r>
            <a:br>
              <a:rPr lang="en-US" dirty="0"/>
            </a:b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Replace real S3/DB writes with local or mocked calls in tests.</a:t>
            </a:r>
            <a:br>
              <a:rPr lang="en-US" dirty="0"/>
            </a:br>
            <a:r>
              <a:rPr lang="en-US" b="1" dirty="0"/>
              <a:t>Approach:</a:t>
            </a:r>
            <a:endParaRPr lang="en-US" dirty="0"/>
          </a:p>
          <a:p>
            <a:r>
              <a:rPr lang="en-US" dirty="0"/>
              <a:t>Use </a:t>
            </a:r>
            <a:r>
              <a:rPr lang="en-US" dirty="0" err="1"/>
              <a:t>pytest</a:t>
            </a:r>
            <a:r>
              <a:rPr lang="en-US" dirty="0"/>
              <a:t> fixtures to mock I/O</a:t>
            </a:r>
          </a:p>
          <a:p>
            <a:r>
              <a:rPr lang="en-US" dirty="0"/>
              <a:t>Capture log messages for validation</a:t>
            </a:r>
          </a:p>
          <a:p>
            <a:r>
              <a:rPr lang="en-US" dirty="0"/>
              <a:t>Ensure error paths are covered</a:t>
            </a:r>
            <a:br>
              <a:rPr lang="en-US" dirty="0"/>
            </a:br>
            <a:r>
              <a:rPr lang="en-US" b="1" dirty="0"/>
              <a:t>Mini-Example: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@patch("module.df.to_parquet")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def </a:t>
            </a:r>
            <a:r>
              <a:rPr lang="en-US" dirty="0" err="1">
                <a:solidFill>
                  <a:srgbClr val="FF0000"/>
                </a:solidFill>
              </a:rPr>
              <a:t>test_persist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mock_save</a:t>
            </a:r>
            <a:r>
              <a:rPr lang="en-US" dirty="0">
                <a:solidFill>
                  <a:srgbClr val="FF0000"/>
                </a:solidFill>
              </a:rPr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persist(</a:t>
            </a:r>
            <a:r>
              <a:rPr lang="en-US" dirty="0" err="1">
                <a:solidFill>
                  <a:srgbClr val="FF0000"/>
                </a:solidFill>
              </a:rPr>
              <a:t>pd.DataFrame</a:t>
            </a:r>
            <a:r>
              <a:rPr lang="en-US" dirty="0">
                <a:solidFill>
                  <a:srgbClr val="FF0000"/>
                </a:solidFill>
              </a:rPr>
              <a:t>(), "fake")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mock_save.assert_called_once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14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4FB0-9162-01EA-F5D5-9D1F7699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 and Environment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F7197-EFB9-A36F-3F7A-B98770AF4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Configurable Persistence</a:t>
            </a:r>
            <a:br>
              <a:rPr lang="en-US" dirty="0"/>
            </a:b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persist() reads output path or credentials from environment configs.</a:t>
            </a:r>
            <a:br>
              <a:rPr lang="en-US" dirty="0"/>
            </a:br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if ENV == "dev":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path = "./output/dev/</a:t>
            </a:r>
            <a:r>
              <a:rPr lang="en-IN" dirty="0" err="1">
                <a:solidFill>
                  <a:srgbClr val="FF0000"/>
                </a:solidFill>
              </a:rPr>
              <a:t>orders.parquet</a:t>
            </a:r>
            <a:r>
              <a:rPr lang="en-IN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else: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path = "s3://prod/</a:t>
            </a:r>
            <a:r>
              <a:rPr lang="en-IN" dirty="0" err="1">
                <a:solidFill>
                  <a:srgbClr val="FF0000"/>
                </a:solidFill>
              </a:rPr>
              <a:t>orders.parquet</a:t>
            </a:r>
            <a:r>
              <a:rPr lang="en-IN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b="1" dirty="0"/>
              <a:t>Tip:</a:t>
            </a:r>
            <a:r>
              <a:rPr lang="en-US" dirty="0"/>
              <a:t> use YAML/</a:t>
            </a:r>
            <a:r>
              <a:rPr lang="en-US" dirty="0" err="1"/>
              <a:t>AppConfig</a:t>
            </a:r>
            <a:r>
              <a:rPr lang="en-US" dirty="0"/>
              <a:t> to decouple paths and keys.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81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AA4A-B899-D365-63CE-7094FB46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04EC2-0104-54EE-1614-78AC55A1F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Supply-Chain Data Use Case</a:t>
            </a:r>
            <a:br>
              <a:rPr lang="en-US" dirty="0"/>
            </a:br>
            <a:r>
              <a:rPr lang="en-US" b="1" dirty="0"/>
              <a:t>Scenario:</a:t>
            </a:r>
            <a:endParaRPr lang="en-US" dirty="0"/>
          </a:p>
          <a:p>
            <a:r>
              <a:rPr lang="en-US" dirty="0"/>
              <a:t>Extract shipment data from API (JSON).</a:t>
            </a:r>
          </a:p>
          <a:p>
            <a:r>
              <a:rPr lang="en-US" dirty="0"/>
              <a:t>transform() adds SLA columns and holiday logic.</a:t>
            </a:r>
          </a:p>
          <a:p>
            <a:r>
              <a:rPr lang="en-US" dirty="0"/>
              <a:t>persist() writes to S3 for BI dashboards.</a:t>
            </a:r>
            <a:br>
              <a:rPr lang="en-US" dirty="0"/>
            </a:br>
            <a:r>
              <a:rPr lang="en-US" b="1" dirty="0"/>
              <a:t>Benefit:</a:t>
            </a:r>
            <a:endParaRPr lang="en-US" dirty="0"/>
          </a:p>
          <a:p>
            <a:r>
              <a:rPr lang="en-US" dirty="0"/>
              <a:t>Test business logic locally.</a:t>
            </a:r>
          </a:p>
          <a:p>
            <a:r>
              <a:rPr lang="en-US" dirty="0"/>
              <a:t>Switch storage to Redshift in prod without code change.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515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C063-D6EA-65CE-3F6D-293F9F1F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C1B9A-09A1-A6C4-8274-C68DD507D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Summary – Separation of Concerns</a:t>
            </a:r>
            <a:br>
              <a:rPr lang="en-IN" dirty="0"/>
            </a:br>
            <a:r>
              <a:rPr lang="en-IN" b="1" dirty="0"/>
              <a:t>Best Practices:</a:t>
            </a:r>
            <a:endParaRPr lang="en-IN" dirty="0"/>
          </a:p>
          <a:p>
            <a:r>
              <a:rPr lang="en-IN" dirty="0"/>
              <a:t>Keep transform pure (no I/O).</a:t>
            </a:r>
          </a:p>
          <a:p>
            <a:r>
              <a:rPr lang="en-IN" dirty="0"/>
              <a:t>Handle all I/O in persist().</a:t>
            </a:r>
          </a:p>
          <a:p>
            <a:r>
              <a:rPr lang="en-IN" dirty="0"/>
              <a:t>Log and monitor each stage.</a:t>
            </a:r>
          </a:p>
          <a:p>
            <a:r>
              <a:rPr lang="en-IN" dirty="0"/>
              <a:t>Enable easy unit &amp; integration testing.</a:t>
            </a:r>
            <a:br>
              <a:rPr lang="en-IN" dirty="0"/>
            </a:br>
            <a:r>
              <a:rPr lang="en-IN" b="1"/>
              <a:t>In short:</a:t>
            </a:r>
            <a:br>
              <a:rPr lang="en-IN"/>
            </a:br>
            <a:r>
              <a:rPr lang="en-IN"/>
              <a:t>| Function | Purpose | Testable | Env-Specific |</a:t>
            </a:r>
            <a:br>
              <a:rPr lang="en-IN"/>
            </a:br>
            <a:r>
              <a:rPr lang="en-IN"/>
              <a:t>|-----------|-----------|-----------|---------------|</a:t>
            </a:r>
            <a:br>
              <a:rPr lang="en-IN"/>
            </a:br>
            <a:r>
              <a:rPr lang="en-IN"/>
              <a:t>| transform() | Clean &amp; logic | ✅ | ❌ |</a:t>
            </a:r>
            <a:br>
              <a:rPr lang="en-IN"/>
            </a:br>
            <a:r>
              <a:rPr lang="en-IN"/>
              <a:t>| persist() | Store data | ⚠️ | ✅ |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797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transform() vs persist() in Data Pipelines</vt:lpstr>
      <vt:lpstr>Why Separate Logic and Storage? </vt:lpstr>
      <vt:lpstr>Role of transform()</vt:lpstr>
      <vt:lpstr>What is persist()?</vt:lpstr>
      <vt:lpstr>Pipeline Integration</vt:lpstr>
      <vt:lpstr>Unit Testing Transformations </vt:lpstr>
      <vt:lpstr>Testing persist()</vt:lpstr>
      <vt:lpstr>Config and Environment Awareness</vt:lpstr>
      <vt:lpstr>Real-World Example</vt:lpstr>
      <vt:lpstr>Best Practices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2025-11-10T09:01:59Z</dcterms:created>
  <dcterms:modified xsi:type="dcterms:W3CDTF">2025-11-10T09:02:09Z</dcterms:modified>
</cp:coreProperties>
</file>