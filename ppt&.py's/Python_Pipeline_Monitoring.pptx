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CDCC-017D-CEE1-DBF2-27F2B906A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4C93C-4817-63AA-4904-A5DEB4A73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90AC8-AD40-6D52-32BA-1EF1F9BE4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F81B-D877-4586-AF84-72F1920EBC3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CEF62-36DD-912A-2546-33295C069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84D3B-E9C7-A263-A610-946865C2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5C05-02FA-4454-9F12-26498F064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04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17CF8-DDD5-DAD5-6105-594CE8C7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A9EDA-7F26-1996-1512-AE9BC292D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B6379-AE23-ACE4-D671-DE480F812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F81B-D877-4586-AF84-72F1920EBC3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D8861-9E20-9BA2-83EB-5F1833C8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AFCA9-18D5-AFD5-C880-E21B10E5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5C05-02FA-4454-9F12-26498F064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482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F1FDF-A5B8-BC83-C1AB-B63A57783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F3C4-75E7-FC74-9073-BFA1CE3DA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A78CA-C56D-FB41-83EE-975DD80D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F81B-D877-4586-AF84-72F1920EBC3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97255-DD92-DC9F-07B0-CC3E7E29D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75C2D-7762-5FD4-0918-3326B734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5C05-02FA-4454-9F12-26498F064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734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3627-6AEB-9E13-37D6-CDA412FD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F8DC6-0642-236D-3428-131B647EE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D0FC8-6A5F-3F2F-4839-0661BD0C2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091B7-1C02-9169-73D6-7736C2CAB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F81B-D877-4586-AF84-72F1920EBC3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91815-E31A-2B38-4EA9-19C5EBB7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5E064-5754-0D4E-7133-76266E7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5C05-02FA-4454-9F12-26498F064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179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E9531-CCF5-044E-11CD-54E1F80F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35718-7664-08C0-1810-C833B19F2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154E4-4BA2-876B-D628-167EAD24F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994B14-D2CE-9149-3ABC-47D882480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3F6A53-865D-985D-C9F3-415109D399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527E19-5DC2-A4AF-7998-AAFA6A56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F81B-D877-4586-AF84-72F1920EBC3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9B2BFA-9681-0AFB-2430-B2C40B831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CB4138-1FFE-0C77-DBD8-781B4360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5C05-02FA-4454-9F12-26498F064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42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CCC9B-7863-E4AB-10F8-7C804AE44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DF4BBB-9EA2-617D-65B4-C33BE1B5F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F81B-D877-4586-AF84-72F1920EBC3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E8FEA-210E-F47D-6913-7F8BB2450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83B29-AC6A-7F3E-EDB2-B3B37911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5C05-02FA-4454-9F12-26498F064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68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3CF03-21EF-FA35-AB6D-B713D00CA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F81B-D877-4586-AF84-72F1920EBC3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FE95D-6988-77B1-D379-5378D038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AA11C-87DA-C888-D433-CF424AA9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5C05-02FA-4454-9F12-26498F064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390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B304-B8D4-07F1-7445-9FAFEA993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BD5EF-265D-F12F-7E4A-D19B9AF63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634DD-05AF-D776-74C7-18EE3C5EE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64C5C-A2A0-6EE8-0636-62E48653D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F81B-D877-4586-AF84-72F1920EBC3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4663E-CBF6-8D79-0EF4-B66A05AB3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B1C76-DCA0-F073-AEAB-835DB24C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5C05-02FA-4454-9F12-26498F064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70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C632-24E3-F197-9F69-73234EEA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6F371-98E8-0F3E-631B-E55CB97B70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90E41-D857-407E-1077-67F560DE9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EF45E-EB89-ECDB-3AE0-9FC3C92D0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F81B-D877-4586-AF84-72F1920EBC3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C2582-B036-A295-08EF-A60FC24D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0C41-12C2-3181-345B-07D7E09A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5C05-02FA-4454-9F12-26498F064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634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72023-EAF7-4823-277F-B7FF428DB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7210E-76C1-607B-A428-DB7B4AEC2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39CBB-451C-71F0-FD7C-EDD3482C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F81B-D877-4586-AF84-72F1920EBC3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00D06-30DB-2FCF-D4FA-43B19B55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FAB73-4921-4FD3-A5D3-014A2519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5C05-02FA-4454-9F12-26498F064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427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731F29-523D-2EF5-0DDA-E02B9F018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175C6-3B13-61E4-2596-C6D6DFDEF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5665-B8FB-89BE-AA25-224C315FA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F81B-D877-4586-AF84-72F1920EBC3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8D3AB-8E4E-F85A-E9C2-5B4225C14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0E8D2-7405-4185-2360-2921D0AF9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5C05-02FA-4454-9F12-26498F064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964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A328FA-205C-F08B-CC2D-73CC0861E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1EA46-D32B-E6DD-5B35-A6717D2C7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4726D-35B0-3C87-3F95-30E5F5EC4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9F81B-D877-4586-AF84-72F1920EBC3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D37E1-23C5-BD5D-3718-B904CB3E8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E1B16-EBA4-0965-FF23-129FB8019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35C05-02FA-4454-9F12-26498F0646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73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7AB5-F1A4-881E-C373-15679E50B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5453" y="1122363"/>
            <a:ext cx="9352547" cy="1251869"/>
          </a:xfrm>
        </p:spPr>
        <p:txBody>
          <a:bodyPr/>
          <a:lstStyle/>
          <a:p>
            <a:r>
              <a:rPr lang="en-IN" b="1" dirty="0"/>
              <a:t>Monitoring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6DA0C-C4B6-BF86-DF31-FABA773B5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5453" y="2374232"/>
            <a:ext cx="9352547" cy="2883568"/>
          </a:xfrm>
        </p:spPr>
        <p:txBody>
          <a:bodyPr/>
          <a:lstStyle/>
          <a:p>
            <a:pPr algn="l"/>
            <a:r>
              <a:rPr lang="en-US" b="1" dirty="0"/>
              <a:t>What Is Monitoring?</a:t>
            </a:r>
          </a:p>
          <a:p>
            <a:pPr algn="l"/>
            <a:r>
              <a:rPr lang="en-US" dirty="0"/>
              <a:t>Monitoring means continuously observing data pipeline execution, performance, and quality.</a:t>
            </a:r>
            <a:br>
              <a:rPr lang="en-US" dirty="0"/>
            </a:br>
            <a:r>
              <a:rPr lang="en-US" dirty="0"/>
              <a:t>Goal: Detect and respond to failures, delays, and anomalies in real-time.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01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03EBA-CE83-2A92-E12F-1762EA7AA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It’s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5C617-73A6-5AC7-0FA0-162A35075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Early detection of errors or missing data</a:t>
            </a:r>
          </a:p>
          <a:p>
            <a:r>
              <a:rPr lang="en-US" dirty="0"/>
              <a:t>Helps maintain data quality and reliability</a:t>
            </a:r>
          </a:p>
          <a:p>
            <a:r>
              <a:rPr lang="en-US" dirty="0"/>
              <a:t>Enables proactive alerts and issue resolution</a:t>
            </a:r>
          </a:p>
          <a:p>
            <a:r>
              <a:rPr lang="en-US" dirty="0"/>
              <a:t>Provides transparency for DevOps and business users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592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02A5-6A00-37F7-F2C2-274F8A71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to Monitor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FDA902-492D-5A6D-CC59-1AE4D61F68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430068"/>
              </p:ext>
            </p:extLst>
          </p:nvPr>
        </p:nvGraphicFramePr>
        <p:xfrm>
          <a:off x="449180" y="1825625"/>
          <a:ext cx="10904619" cy="3805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4873">
                  <a:extLst>
                    <a:ext uri="{9D8B030D-6E8A-4147-A177-3AD203B41FA5}">
                      <a16:colId xmlns:a16="http://schemas.microsoft.com/office/drawing/2014/main" val="1166457367"/>
                    </a:ext>
                  </a:extLst>
                </a:gridCol>
                <a:gridCol w="3634873">
                  <a:extLst>
                    <a:ext uri="{9D8B030D-6E8A-4147-A177-3AD203B41FA5}">
                      <a16:colId xmlns:a16="http://schemas.microsoft.com/office/drawing/2014/main" val="426581617"/>
                    </a:ext>
                  </a:extLst>
                </a:gridCol>
                <a:gridCol w="3634873">
                  <a:extLst>
                    <a:ext uri="{9D8B030D-6E8A-4147-A177-3AD203B41FA5}">
                      <a16:colId xmlns:a16="http://schemas.microsoft.com/office/drawing/2014/main" val="210641711"/>
                    </a:ext>
                  </a:extLst>
                </a:gridCol>
              </a:tblGrid>
              <a:tr h="761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to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153649"/>
                  </a:ext>
                </a:extLst>
              </a:tr>
              <a:tr h="761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Job Health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Success/failure of ETL jobs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Glue job failed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0374258"/>
                  </a:ext>
                </a:extLst>
              </a:tr>
              <a:tr h="761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Performance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Duration,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Job took 12 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5566987"/>
                  </a:ext>
                </a:extLst>
              </a:tr>
              <a:tr h="761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Quality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Missing/duplicate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Null price field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625987"/>
                  </a:ext>
                </a:extLst>
              </a:tr>
              <a:tr h="761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Resources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CPU/memory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EC2 utilization 85%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099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717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D408-D518-04A9-90A6-7EF3ED176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for Monitoring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E4D34F-45F0-C8AC-EC46-1CAF8B4EFB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432" y="2134828"/>
            <a:ext cx="993495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CloudWatch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(logs, metrics, alerts)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Glue Job Metrics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(rows processed, duration)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Airflow UI / Step Function Console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Logging in Python (logging, metrics)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458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58621-B00C-6194-ED72-65CA55CA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Logging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09138-8059-B9D4-7337-3FE871576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import logging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logging.info("Job started")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logging.warning</a:t>
            </a:r>
            <a:r>
              <a:rPr lang="en-US" dirty="0">
                <a:solidFill>
                  <a:schemeClr val="accent6"/>
                </a:solidFill>
              </a:rPr>
              <a:t>("Nulls detected in column 'region'")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logging.error</a:t>
            </a:r>
            <a:r>
              <a:rPr lang="en-US" dirty="0">
                <a:solidFill>
                  <a:schemeClr val="accent6"/>
                </a:solidFill>
              </a:rPr>
              <a:t>("Failed to write to S3")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Logging is the backbone of monitoring.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717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CABA-1434-FB72-D56B-69B2BEF2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Metric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4E45-3CC7-569A-3ED7-89B3F584D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records_processed</a:t>
            </a:r>
            <a:r>
              <a:rPr lang="en-IN" dirty="0">
                <a:solidFill>
                  <a:schemeClr val="accent6"/>
                </a:solidFill>
              </a:rPr>
              <a:t> = </a:t>
            </a:r>
            <a:r>
              <a:rPr lang="en-IN" dirty="0" err="1">
                <a:solidFill>
                  <a:schemeClr val="accent6"/>
                </a:solidFill>
              </a:rPr>
              <a:t>len</a:t>
            </a:r>
            <a:r>
              <a:rPr lang="en-IN" dirty="0">
                <a:solidFill>
                  <a:schemeClr val="accent6"/>
                </a:solidFill>
              </a:rPr>
              <a:t>(</a:t>
            </a:r>
            <a:r>
              <a:rPr lang="en-IN" dirty="0" err="1">
                <a:solidFill>
                  <a:schemeClr val="accent6"/>
                </a:solidFill>
              </a:rPr>
              <a:t>df</a:t>
            </a:r>
            <a:r>
              <a:rPr lang="en-IN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processing_time</a:t>
            </a:r>
            <a:r>
              <a:rPr lang="en-IN" dirty="0">
                <a:solidFill>
                  <a:schemeClr val="accent6"/>
                </a:solidFill>
              </a:rPr>
              <a:t> = </a:t>
            </a:r>
            <a:r>
              <a:rPr lang="en-IN" dirty="0" err="1">
                <a:solidFill>
                  <a:schemeClr val="accent6"/>
                </a:solidFill>
              </a:rPr>
              <a:t>time.time</a:t>
            </a:r>
            <a:r>
              <a:rPr lang="en-IN" dirty="0">
                <a:solidFill>
                  <a:schemeClr val="accent6"/>
                </a:solidFill>
              </a:rPr>
              <a:t>() - start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logging.info(</a:t>
            </a:r>
            <a:r>
              <a:rPr lang="en-IN" dirty="0" err="1">
                <a:solidFill>
                  <a:schemeClr val="accent6"/>
                </a:solidFill>
              </a:rPr>
              <a:t>f"Records</a:t>
            </a:r>
            <a:r>
              <a:rPr lang="en-IN" dirty="0">
                <a:solidFill>
                  <a:schemeClr val="accent6"/>
                </a:solidFill>
              </a:rPr>
              <a:t> processed: {</a:t>
            </a:r>
            <a:r>
              <a:rPr lang="en-IN" dirty="0" err="1">
                <a:solidFill>
                  <a:schemeClr val="accent6"/>
                </a:solidFill>
              </a:rPr>
              <a:t>records_processed</a:t>
            </a:r>
            <a:r>
              <a:rPr lang="en-IN" dirty="0">
                <a:solidFill>
                  <a:schemeClr val="accent6"/>
                </a:solidFill>
              </a:rPr>
              <a:t>}")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logging.info(</a:t>
            </a:r>
            <a:r>
              <a:rPr lang="en-IN" dirty="0" err="1">
                <a:solidFill>
                  <a:schemeClr val="accent6"/>
                </a:solidFill>
              </a:rPr>
              <a:t>f"Processing</a:t>
            </a:r>
            <a:r>
              <a:rPr lang="en-IN" dirty="0">
                <a:solidFill>
                  <a:schemeClr val="accent6"/>
                </a:solidFill>
              </a:rPr>
              <a:t> time: {processing_time:.2f}s")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/>
              <a:t>✅ Collect operational metrics for dashboards or alerts.</a:t>
            </a: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205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0E95-0AC5-226E-3315-2B4607553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CloudWatch Alerts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971999-FDBC-19D0-9DDF-10DA9D8B89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16465"/>
            <a:ext cx="855073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runtime &gt; threshold → Trigger SNS alert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count mismatch → Send email to owner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success rate &lt; 90% → Escalate</a:t>
            </a:r>
          </a:p>
        </p:txBody>
      </p:sp>
    </p:spTree>
    <p:extLst>
      <p:ext uri="{BB962C8B-B14F-4D97-AF65-F5344CB8AC3E}">
        <p14:creationId xmlns:p14="http://schemas.microsoft.com/office/powerpoint/2010/main" val="894015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31F1E-6BF9-9DFC-48D7-39B5CB73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Local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26BED-9BE3-0B32-371E-C3ADDA685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if </a:t>
            </a:r>
            <a:r>
              <a:rPr lang="en-IN" dirty="0" err="1">
                <a:solidFill>
                  <a:schemeClr val="accent6"/>
                </a:solidFill>
              </a:rPr>
              <a:t>df</a:t>
            </a:r>
            <a:r>
              <a:rPr lang="en-IN" dirty="0">
                <a:solidFill>
                  <a:schemeClr val="accent6"/>
                </a:solidFill>
              </a:rPr>
              <a:t>["region"].</a:t>
            </a:r>
            <a:r>
              <a:rPr lang="en-IN" dirty="0" err="1">
                <a:solidFill>
                  <a:schemeClr val="accent6"/>
                </a:solidFill>
              </a:rPr>
              <a:t>isnull</a:t>
            </a:r>
            <a:r>
              <a:rPr lang="en-IN" dirty="0">
                <a:solidFill>
                  <a:schemeClr val="accent6"/>
                </a:solidFill>
              </a:rPr>
              <a:t>().any():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</a:t>
            </a:r>
            <a:r>
              <a:rPr lang="en-IN" dirty="0" err="1">
                <a:solidFill>
                  <a:schemeClr val="accent6"/>
                </a:solidFill>
              </a:rPr>
              <a:t>logging.warning</a:t>
            </a:r>
            <a:r>
              <a:rPr lang="en-IN" dirty="0">
                <a:solidFill>
                  <a:schemeClr val="accent6"/>
                </a:solidFill>
              </a:rPr>
              <a:t>("⚠️ Missing region detected!")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else: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logging.info("✅ All regions valid")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Simple logic to mimic automated quality checks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404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48D8-5BE9-F51D-A1E7-2BFC9FF0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75E5D1-C005-43F5-E299-67BF9D3807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1474" y="2110764"/>
            <a:ext cx="871365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start/end timestamps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logs centrally (e.g., S3 or CloudWatch)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alert thresholds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metrics periodically</a:t>
            </a:r>
          </a:p>
        </p:txBody>
      </p:sp>
    </p:spTree>
    <p:extLst>
      <p:ext uri="{BB962C8B-B14F-4D97-AF65-F5344CB8AC3E}">
        <p14:creationId xmlns:p14="http://schemas.microsoft.com/office/powerpoint/2010/main" val="3459434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C711-B6F8-7ABE-5AEC-9B4A7F2C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D1A60-E286-CB55-1CEA-34B91655B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✅ Monitoring = visibility + reliability</a:t>
            </a:r>
            <a:br>
              <a:rPr lang="en-US"/>
            </a:br>
            <a:r>
              <a:rPr lang="en-US"/>
              <a:t>✅ Use both </a:t>
            </a:r>
            <a:r>
              <a:rPr lang="en-US" b="1"/>
              <a:t>system metrics</a:t>
            </a:r>
            <a:r>
              <a:rPr lang="en-US"/>
              <a:t> and </a:t>
            </a:r>
            <a:r>
              <a:rPr lang="en-US" b="1"/>
              <a:t>data metrics</a:t>
            </a:r>
            <a:br>
              <a:rPr lang="en-US"/>
            </a:br>
            <a:r>
              <a:rPr lang="en-US"/>
              <a:t>✅ Enable alerts for proactive issue detection</a:t>
            </a:r>
            <a:br>
              <a:rPr lang="en-US"/>
            </a:br>
            <a:r>
              <a:rPr lang="en-US"/>
              <a:t>✅ Integrate with Slack, SNS, or email for notifications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570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Monitoring</vt:lpstr>
      <vt:lpstr>Why It’s Important</vt:lpstr>
      <vt:lpstr>What to Monitor</vt:lpstr>
      <vt:lpstr>Tools for Monitoring </vt:lpstr>
      <vt:lpstr>Logging Basics</vt:lpstr>
      <vt:lpstr>Metric Tracking</vt:lpstr>
      <vt:lpstr>Example — CloudWatch Alerts</vt:lpstr>
      <vt:lpstr>Local Simulation</vt:lpstr>
      <vt:lpstr>Best Practices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2025-11-08T05:15:56Z</dcterms:created>
  <dcterms:modified xsi:type="dcterms:W3CDTF">2025-11-08T05:16:40Z</dcterms:modified>
</cp:coreProperties>
</file>