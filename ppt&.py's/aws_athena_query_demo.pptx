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9511-15EA-DFFF-5463-5DD8233CF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77920B-BC37-13BD-715B-D53770AB5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D1710-746A-AFB0-2A84-4B0D23D7B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0E566-7FA1-4C4C-BA13-AA112963CF5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8988C-02FF-90D8-FF35-6A7A9345B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3AC45-2FF7-9FB6-9228-C41C3D336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F0FB-64BC-4885-8D86-2088299870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62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9CDB-D250-A426-0E90-B868D38B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2E001-C7DE-CFA9-AC25-3A5A06E6B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24F3C-10E0-F3E3-D819-84E1392E0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0E566-7FA1-4C4C-BA13-AA112963CF5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DB142-326D-49AB-4F88-9A014796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3A767-AED5-DB1F-B657-DA06FFE3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F0FB-64BC-4885-8D86-2088299870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621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11D84-D7E6-185D-954E-6B3F0EB8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EE125-D605-8385-AF03-747B75D11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445DB-A237-563B-888E-56D8AF531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0E566-7FA1-4C4C-BA13-AA112963CF5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387D6-2B3A-3C8A-5D9A-76669848F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64B08-B16D-B472-EA4A-7847AFEBA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F0FB-64BC-4885-8D86-2088299870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2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3D227-1CA7-6C27-1294-A0C440767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95EA6-AE9B-7F4D-5519-631F75AEBA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1099-7F83-F295-1649-684CAC238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A3590-30D0-4D9A-AB50-283AFC9B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0E566-7FA1-4C4C-BA13-AA112963CF5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66EDC-264F-5629-04A1-E69584043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10E4C-6F66-B37B-59AC-F296227D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F0FB-64BC-4885-8D86-2088299870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514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A24B8-D988-A795-7DF6-9A46774E0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4FDBBA-708E-A3C9-DB45-81FBD3300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130D00-A301-ACD8-9CC4-281EA7291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AB21D-6DB9-BF9D-D662-CF7A2CDB3E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9B92E1-8F9D-1DDE-DCBE-25F6D17B2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B43EA2-9FD9-AF69-3CA5-B2762CD5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0E566-7FA1-4C4C-BA13-AA112963CF5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72DF58-BBD2-98D9-92CE-05369A303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DAEBE-0B50-C55A-BDF1-495BEAF3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F0FB-64BC-4885-8D86-2088299870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462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A048-201F-0689-9DA3-CD210CC1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92B61-66DD-0A8B-3039-4C7CD212B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0E566-7FA1-4C4C-BA13-AA112963CF5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A1CFA2-4D37-EC25-4797-7F7F1ADDE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DE9FB-2EE7-34DF-1A3A-F113B204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F0FB-64BC-4885-8D86-2088299870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23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AE137C-1A37-BB99-AE9C-94AA1F2B8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0E566-7FA1-4C4C-BA13-AA112963CF5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D7AC6C-757C-BAE0-C01C-1C02026F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C39EE-1D0E-3CDB-6A84-92E99468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F0FB-64BC-4885-8D86-2088299870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48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39350-192F-A382-70E8-DC78AA21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52441-3B16-28B7-6E73-DA1DB55A2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1939E-53D9-6A6F-CE1D-3124362D9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95128-F038-C4DB-7F93-B6E71199D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0E566-7FA1-4C4C-BA13-AA112963CF5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BA1F3-52F9-83D0-AA2C-6D2ACCA9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8A260-7AC7-B424-B2DC-46CD592C8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F0FB-64BC-4885-8D86-2088299870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339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47A5-AF44-FAD6-4561-09F62DE89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D309C0-D466-F0A4-3E61-6F85623818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7091B1-946C-AD01-A7F4-97B0A8B82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E2ADD-6A89-DD45-D820-A29E6012E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0E566-7FA1-4C4C-BA13-AA112963CF5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3BF41-83E0-9CC3-0FEE-4D09C0CBB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FBBA9-BAED-596A-8ABD-ABCA2BA05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F0FB-64BC-4885-8D86-2088299870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48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87996-9E8A-FDCE-B507-6606B7023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52DF7-703F-7C4E-A37C-50F952D41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88DE0-59B6-AE68-944A-A31E29326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0E566-7FA1-4C4C-BA13-AA112963CF5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22CC3-EC80-972A-F7AC-3D53A7527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9BC4-3A73-D190-CDC9-590B1EAD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F0FB-64BC-4885-8D86-2088299870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8162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71DB4C-BAA3-67DF-6560-898622590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FC641F-A220-90AD-6E69-82537DEA2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EBEA8-6D67-742F-4BD6-161429DDB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0E566-7FA1-4C4C-BA13-AA112963CF5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37474-67EE-45FF-9F3C-49E1926CC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AEB15-5265-C256-3EBA-A8AB1DC9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EF0FB-64BC-4885-8D86-2088299870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278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80D3CF-42E3-8CB9-AB71-0589FC0B6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48013-A8B7-F34A-33EB-BA3D0E657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7AA2D-70B9-9F7E-B491-7676AA6A2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0E566-7FA1-4C4C-BA13-AA112963CF58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33395-9697-339F-70DF-10BC86C01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08441-8ADA-999A-B117-7A4106C29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EF0FB-64BC-4885-8D86-2088299870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832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D1C02-05D9-644B-91FF-4E71E539C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116" y="160421"/>
            <a:ext cx="9480884" cy="2069432"/>
          </a:xfrm>
        </p:spPr>
        <p:txBody>
          <a:bodyPr/>
          <a:lstStyle/>
          <a:p>
            <a:r>
              <a:rPr lang="en-US" dirty="0"/>
              <a:t>AWS Athena Basics (Querying S3 Data via SQL)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7B4A93-D39B-39D2-5D96-D51D9C8F3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1" y="2229852"/>
            <a:ext cx="10363200" cy="4467727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 is Amazon Athena?</a:t>
            </a:r>
          </a:p>
          <a:p>
            <a:pPr algn="l"/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Amazon Athena is a </a:t>
            </a:r>
            <a:r>
              <a:rPr lang="en-US" i="1" dirty="0"/>
              <a:t>serverless interactive query service</a:t>
            </a:r>
            <a:r>
              <a:rPr lang="en-US" dirty="0"/>
              <a:t> that allows users to run </a:t>
            </a:r>
            <a:r>
              <a:rPr lang="en-US" b="1" dirty="0"/>
              <a:t>SQL queries directly on data stored in S3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uses </a:t>
            </a:r>
            <a:r>
              <a:rPr lang="en-US" b="1" dirty="0"/>
              <a:t>Presto (Trino)</a:t>
            </a:r>
            <a:r>
              <a:rPr lang="en-US" dirty="0"/>
              <a:t> under the hood and integrates seamlessly with the AWS Glue Data Catalog.</a:t>
            </a:r>
            <a:br>
              <a:rPr lang="en-US" dirty="0"/>
            </a:br>
            <a:r>
              <a:rPr lang="en-US" b="1" dirty="0"/>
              <a:t>Key Features:</a:t>
            </a:r>
            <a:endParaRPr lang="en-US" dirty="0"/>
          </a:p>
          <a:p>
            <a:pPr algn="l"/>
            <a:r>
              <a:rPr lang="en-US" dirty="0"/>
              <a:t>No infrastructure or servers to manage</a:t>
            </a:r>
          </a:p>
          <a:p>
            <a:pPr algn="l"/>
            <a:r>
              <a:rPr lang="en-US" dirty="0"/>
              <a:t>Pay per query (scanned data volume)</a:t>
            </a:r>
          </a:p>
          <a:p>
            <a:pPr algn="l"/>
            <a:r>
              <a:rPr lang="en-US" dirty="0"/>
              <a:t>Works directly with Parquet, JSON, CSV, and ORC files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9869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5D1B3-A9B2-A7C9-4EAE-372AF396E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Use Athena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B5AAF-A4D3-DAF7-AB7D-18D00FCC5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Theory:</a:t>
            </a:r>
            <a:br>
              <a:rPr lang="en-US" dirty="0"/>
            </a:br>
            <a:r>
              <a:rPr lang="en-US" dirty="0"/>
              <a:t>Athena is ideal for analytics on top of S3 data lakes.</a:t>
            </a:r>
            <a:br>
              <a:rPr lang="en-US" dirty="0"/>
            </a:br>
            <a:r>
              <a:rPr lang="en-US" b="1" dirty="0"/>
              <a:t>Benefits:</a:t>
            </a:r>
            <a:endParaRPr lang="en-US" dirty="0"/>
          </a:p>
          <a:p>
            <a:r>
              <a:rPr lang="en-US" dirty="0"/>
              <a:t>Instant SQL on S3 data</a:t>
            </a:r>
          </a:p>
          <a:p>
            <a:r>
              <a:rPr lang="en-US" dirty="0"/>
              <a:t>Fast performance with columnar formats (Parquet)</a:t>
            </a:r>
          </a:p>
          <a:p>
            <a:r>
              <a:rPr lang="en-US" dirty="0"/>
              <a:t>Connects easily with BI tools (</a:t>
            </a:r>
            <a:r>
              <a:rPr lang="en-US" dirty="0" err="1"/>
              <a:t>QuickSight</a:t>
            </a:r>
            <a:r>
              <a:rPr lang="en-US" dirty="0"/>
              <a:t>, Tableau)</a:t>
            </a:r>
            <a:br>
              <a:rPr lang="en-US" dirty="0"/>
            </a:br>
            <a:r>
              <a:rPr lang="en-US" b="1" dirty="0"/>
              <a:t>Example Use Case:</a:t>
            </a:r>
            <a:br>
              <a:rPr lang="en-US" dirty="0"/>
            </a:br>
            <a:r>
              <a:rPr lang="en-US" dirty="0"/>
              <a:t>Query daily shipment performance directly from the “trusted” zone.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221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087A7-6D30-725F-FC1B-73A8C5FBD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Athena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01EBE-95CF-F14D-B5D1-8E2F832A4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Execution Flow:</a:t>
            </a:r>
            <a:br>
              <a:rPr lang="en-IN" dirty="0"/>
            </a:br>
            <a:r>
              <a:rPr lang="en-IN" dirty="0"/>
              <a:t>1️⃣ Data stored in S3 (raw/trusted/refined zones)</a:t>
            </a:r>
            <a:br>
              <a:rPr lang="en-IN" dirty="0"/>
            </a:br>
            <a:r>
              <a:rPr lang="en-IN" dirty="0"/>
              <a:t>2️⃣ Tables registered in Glue Data </a:t>
            </a:r>
            <a:r>
              <a:rPr lang="en-IN" dirty="0" err="1"/>
              <a:t>Catalog</a:t>
            </a:r>
            <a:br>
              <a:rPr lang="en-IN" dirty="0"/>
            </a:br>
            <a:r>
              <a:rPr lang="en-IN" dirty="0"/>
              <a:t>3️⃣ You run SQL queries via Console, CLI, or SDK</a:t>
            </a:r>
            <a:br>
              <a:rPr lang="en-IN" dirty="0"/>
            </a:br>
            <a:r>
              <a:rPr lang="en-IN" dirty="0"/>
              <a:t>4️⃣ Query results stored in S3 output folder</a:t>
            </a:r>
            <a:br>
              <a:rPr lang="en-IN" dirty="0"/>
            </a:br>
            <a:r>
              <a:rPr lang="en-IN" b="1" dirty="0"/>
              <a:t>Architecture:</a:t>
            </a:r>
            <a:br>
              <a:rPr lang="en-IN" dirty="0"/>
            </a:br>
            <a:r>
              <a:rPr lang="en-IN" dirty="0"/>
              <a:t>S3 (data) → Glue </a:t>
            </a:r>
            <a:r>
              <a:rPr lang="en-IN" dirty="0" err="1"/>
              <a:t>Catalog</a:t>
            </a:r>
            <a:r>
              <a:rPr lang="en-IN" dirty="0"/>
              <a:t> (schema) → Athena (SQL) → S3 (results)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98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E4EDE-AF8B-B7DC-FBF2-4AD78184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Schema</a:t>
            </a:r>
            <a:br>
              <a:rPr lang="en-IN" dirty="0"/>
            </a:br>
            <a:r>
              <a:rPr lang="en-IN" b="1" dirty="0"/>
              <a:t>Table:</a:t>
            </a:r>
            <a:r>
              <a:rPr lang="en-IN" dirty="0"/>
              <a:t> </a:t>
            </a:r>
            <a:r>
              <a:rPr lang="en-IN" dirty="0" err="1"/>
              <a:t>supplychain.trusted_shipments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E67DC4-BD30-D36F-4F09-856E9EC2C2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486696"/>
              </p:ext>
            </p:extLst>
          </p:nvPr>
        </p:nvGraphicFramePr>
        <p:xfrm>
          <a:off x="994611" y="1825625"/>
          <a:ext cx="10359186" cy="447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062">
                  <a:extLst>
                    <a:ext uri="{9D8B030D-6E8A-4147-A177-3AD203B41FA5}">
                      <a16:colId xmlns:a16="http://schemas.microsoft.com/office/drawing/2014/main" val="943678433"/>
                    </a:ext>
                  </a:extLst>
                </a:gridCol>
                <a:gridCol w="3453062">
                  <a:extLst>
                    <a:ext uri="{9D8B030D-6E8A-4147-A177-3AD203B41FA5}">
                      <a16:colId xmlns:a16="http://schemas.microsoft.com/office/drawing/2014/main" val="4205049883"/>
                    </a:ext>
                  </a:extLst>
                </a:gridCol>
                <a:gridCol w="3453062">
                  <a:extLst>
                    <a:ext uri="{9D8B030D-6E8A-4147-A177-3AD203B41FA5}">
                      <a16:colId xmlns:a16="http://schemas.microsoft.com/office/drawing/2014/main" val="1541600850"/>
                    </a:ext>
                  </a:extLst>
                </a:gridCol>
              </a:tblGrid>
              <a:tr h="895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4917460"/>
                  </a:ext>
                </a:extLst>
              </a:tr>
              <a:tr h="895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shipment_id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SHP123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0158020"/>
                  </a:ext>
                </a:extLst>
              </a:tr>
              <a:tr h="895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double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0733392"/>
                  </a:ext>
                </a:extLst>
              </a:tr>
              <a:tr h="895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Delivered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850986"/>
                  </a:ext>
                </a:extLst>
              </a:tr>
              <a:tr h="895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050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5415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656B1-9EF5-A4D9-3996-76DC2C97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 Athena Query</a:t>
            </a:r>
            <a:br>
              <a:rPr lang="en-US" b="1" dirty="0"/>
            </a:br>
            <a:r>
              <a:rPr lang="en-US" b="1" dirty="0"/>
              <a:t>SQL Example: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7C9CE2-10DC-2963-1D9D-341590EF7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SELECT region, COUNT(*) AS </a:t>
            </a:r>
            <a:r>
              <a:rPr lang="en-US" dirty="0" err="1">
                <a:solidFill>
                  <a:srgbClr val="FF0000"/>
                </a:solidFill>
              </a:rPr>
              <a:t>delivered_shipments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FROM </a:t>
            </a:r>
            <a:r>
              <a:rPr lang="en-US" dirty="0" err="1">
                <a:solidFill>
                  <a:srgbClr val="FF0000"/>
                </a:solidFill>
              </a:rPr>
              <a:t>supplychain.trusted_shipments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WHERE status = 'Delivered'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GROUP BY region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ORDER BY </a:t>
            </a:r>
            <a:r>
              <a:rPr lang="en-US" dirty="0" err="1">
                <a:solidFill>
                  <a:srgbClr val="FF0000"/>
                </a:solidFill>
              </a:rPr>
              <a:t>delivered_shipments</a:t>
            </a:r>
            <a:r>
              <a:rPr lang="en-US" dirty="0">
                <a:solidFill>
                  <a:srgbClr val="FF0000"/>
                </a:solidFill>
              </a:rPr>
              <a:t> DESC;</a:t>
            </a:r>
          </a:p>
          <a:p>
            <a:pPr marL="0" indent="0">
              <a:buNone/>
            </a:pPr>
            <a:r>
              <a:rPr lang="en-US" b="1" dirty="0"/>
              <a:t>Result:</a:t>
            </a:r>
            <a:br>
              <a:rPr lang="en-US" dirty="0"/>
            </a:br>
            <a:r>
              <a:rPr lang="en-US" dirty="0"/>
              <a:t>Shows delivered shipments count per region, instantly from S3.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0977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F478-FC21-733B-B86C-8B5C36982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Querying Using AWS Console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4F5AF-EC8F-3682-B7E0-32A08DD0E5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Steps:</a:t>
            </a:r>
            <a:br>
              <a:rPr lang="en-IN" dirty="0"/>
            </a:br>
            <a:r>
              <a:rPr lang="en-IN" dirty="0"/>
              <a:t>1️⃣ Open Athena Console</a:t>
            </a:r>
            <a:br>
              <a:rPr lang="en-IN" dirty="0"/>
            </a:br>
            <a:r>
              <a:rPr lang="en-IN" dirty="0"/>
              <a:t>2️⃣ Choose Database (from Glue </a:t>
            </a:r>
            <a:r>
              <a:rPr lang="en-IN" dirty="0" err="1"/>
              <a:t>Catalog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3️⃣ Run SQL on S3 data</a:t>
            </a:r>
            <a:br>
              <a:rPr lang="en-IN" dirty="0"/>
            </a:br>
            <a:r>
              <a:rPr lang="en-IN" dirty="0"/>
              <a:t>4️⃣ Download results as CSV/JSON</a:t>
            </a:r>
            <a:br>
              <a:rPr lang="en-IN" dirty="0"/>
            </a:br>
            <a:r>
              <a:rPr lang="en-IN" b="1" dirty="0"/>
              <a:t>Query Result Location:</a:t>
            </a:r>
            <a:br>
              <a:rPr lang="en-IN" dirty="0"/>
            </a:br>
            <a:r>
              <a:rPr lang="en-IN" dirty="0"/>
              <a:t>s3://aws-athena-query-results-youraccount/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8712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68275-9DDF-3C0B-AF23-9FED9DB6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Querying Athena Using Python (boto3)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3B04C-47F1-C565-AF0B-F3DAB856A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You can run Athena queries programmatically using Python SDK (boto3).</a:t>
            </a:r>
            <a:br>
              <a:rPr lang="en-IN" dirty="0"/>
            </a:br>
            <a:r>
              <a:rPr lang="en-IN" b="1" dirty="0"/>
              <a:t>Use Case:</a:t>
            </a:r>
            <a:br>
              <a:rPr lang="en-IN" dirty="0"/>
            </a:br>
            <a:r>
              <a:rPr lang="en-IN" dirty="0"/>
              <a:t>Automate queries and integrate results into your pipelines or dashboards.</a:t>
            </a:r>
            <a:br>
              <a:rPr lang="en-IN" dirty="0"/>
            </a:br>
            <a:r>
              <a:rPr lang="en-IN" b="1" dirty="0"/>
              <a:t>Flow:</a:t>
            </a:r>
            <a:br>
              <a:rPr lang="en-IN" dirty="0"/>
            </a:br>
            <a:r>
              <a:rPr lang="en-IN" dirty="0"/>
              <a:t>Python → Athena → S3 (result set) → Read via pandas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567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7034A-19AC-8A60-B3F6-7619E1A8F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 with Glue and S3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65356-B0F2-B66F-C380-D41BD380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Theory:</a:t>
            </a:r>
            <a:br>
              <a:rPr lang="en-IN" dirty="0"/>
            </a:br>
            <a:r>
              <a:rPr lang="en-IN" dirty="0"/>
              <a:t>Athena relies on </a:t>
            </a:r>
            <a:r>
              <a:rPr lang="en-IN" b="1" dirty="0"/>
              <a:t>Glue Data </a:t>
            </a:r>
            <a:r>
              <a:rPr lang="en-IN" b="1" dirty="0" err="1"/>
              <a:t>Catalog</a:t>
            </a:r>
            <a:r>
              <a:rPr lang="en-IN" dirty="0"/>
              <a:t> for metadata.</a:t>
            </a:r>
            <a:br>
              <a:rPr lang="en-IN" dirty="0"/>
            </a:br>
            <a:r>
              <a:rPr lang="en-IN" b="1" dirty="0"/>
              <a:t>Integration Flow:</a:t>
            </a:r>
            <a:br>
              <a:rPr lang="en-IN" dirty="0"/>
            </a:br>
            <a:r>
              <a:rPr lang="en-IN" dirty="0"/>
              <a:t>1️⃣ Glue Job → Writes Parquet to trusted/</a:t>
            </a:r>
            <a:br>
              <a:rPr lang="en-IN" dirty="0"/>
            </a:br>
            <a:r>
              <a:rPr lang="en-IN" dirty="0"/>
              <a:t>2️⃣ Glue Crawler → Updates </a:t>
            </a:r>
            <a:r>
              <a:rPr lang="en-IN" dirty="0" err="1"/>
              <a:t>Catalog</a:t>
            </a:r>
            <a:br>
              <a:rPr lang="en-IN" dirty="0"/>
            </a:br>
            <a:r>
              <a:rPr lang="en-IN" dirty="0"/>
              <a:t>3️⃣ Athena → Queries </a:t>
            </a:r>
            <a:r>
              <a:rPr lang="en-IN" dirty="0" err="1"/>
              <a:t>cataloged</a:t>
            </a:r>
            <a:r>
              <a:rPr lang="en-IN" dirty="0"/>
              <a:t> data</a:t>
            </a:r>
            <a:br>
              <a:rPr lang="en-IN" dirty="0"/>
            </a:br>
            <a:r>
              <a:rPr lang="en-IN" b="1" dirty="0"/>
              <a:t>Benefit:</a:t>
            </a:r>
            <a:br>
              <a:rPr lang="en-IN" dirty="0"/>
            </a:br>
            <a:r>
              <a:rPr lang="en-IN" dirty="0"/>
              <a:t>Real-time SQL access to data right after Glue transformations.</a:t>
            </a:r>
          </a:p>
        </p:txBody>
      </p:sp>
    </p:spTree>
    <p:extLst>
      <p:ext uri="{BB962C8B-B14F-4D97-AF65-F5344CB8AC3E}">
        <p14:creationId xmlns:p14="http://schemas.microsoft.com/office/powerpoint/2010/main" val="1944472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6298-F9D5-2799-939C-BA77B1530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Performance Optimization</a:t>
            </a:r>
            <a:br>
              <a:rPr lang="en-IN" b="1" dirty="0"/>
            </a:br>
            <a:r>
              <a:rPr lang="en-IN" b="1" dirty="0"/>
              <a:t>Tips: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A6304-C3BF-F541-6CE2-FD063129F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Convert raw data to </a:t>
            </a:r>
            <a:r>
              <a:rPr lang="en-IN" b="1" dirty="0"/>
              <a:t>Parquet</a:t>
            </a:r>
            <a:r>
              <a:rPr lang="en-IN" dirty="0"/>
              <a:t> format (reduces scan size)</a:t>
            </a:r>
            <a:br>
              <a:rPr lang="en-IN" dirty="0"/>
            </a:br>
            <a:r>
              <a:rPr lang="en-IN" dirty="0"/>
              <a:t>⚡ Use </a:t>
            </a:r>
            <a:r>
              <a:rPr lang="en-IN" b="1" dirty="0"/>
              <a:t>partitions</a:t>
            </a:r>
            <a:r>
              <a:rPr lang="en-IN" dirty="0"/>
              <a:t> (by date/region) to improve query speed</a:t>
            </a:r>
            <a:br>
              <a:rPr lang="en-IN" dirty="0"/>
            </a:br>
            <a:r>
              <a:rPr lang="en-IN" dirty="0"/>
              <a:t>⚡ Compress data with Snappy</a:t>
            </a:r>
            <a:br>
              <a:rPr lang="en-IN" dirty="0"/>
            </a:br>
            <a:r>
              <a:rPr lang="en-IN" dirty="0"/>
              <a:t>⚡ Limit columns and filters for efficiency</a:t>
            </a:r>
            <a:br>
              <a:rPr lang="en-IN" dirty="0"/>
            </a:br>
            <a:r>
              <a:rPr lang="en-IN" dirty="0"/>
              <a:t>⚡ Use “CTAS” (Create Table As Select) for aggregations</a:t>
            </a:r>
          </a:p>
        </p:txBody>
      </p:sp>
    </p:spTree>
    <p:extLst>
      <p:ext uri="{BB962C8B-B14F-4D97-AF65-F5344CB8AC3E}">
        <p14:creationId xmlns:p14="http://schemas.microsoft.com/office/powerpoint/2010/main" val="501925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76D3-6E60-5FEB-901C-0BE111C68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 &amp;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097AE-2827-1A5C-98B6-3FB621B6B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Best Practices:</a:t>
            </a:r>
            <a:br>
              <a:rPr lang="en-IN" dirty="0"/>
            </a:br>
            <a:r>
              <a:rPr lang="en-IN" dirty="0"/>
              <a:t>✅ Store data in S3 using structured folder hierarchy (raw/trusted/refined)</a:t>
            </a:r>
            <a:br>
              <a:rPr lang="en-IN" dirty="0"/>
            </a:br>
            <a:r>
              <a:rPr lang="en-IN" dirty="0"/>
              <a:t>✅ Always </a:t>
            </a:r>
            <a:r>
              <a:rPr lang="en-IN" dirty="0" err="1"/>
              <a:t>catalog</a:t>
            </a:r>
            <a:r>
              <a:rPr lang="en-IN" dirty="0"/>
              <a:t> data using Glue before querying</a:t>
            </a:r>
            <a:br>
              <a:rPr lang="en-IN" dirty="0"/>
            </a:br>
            <a:r>
              <a:rPr lang="en-IN" dirty="0"/>
              <a:t>✅ Use Parquet/ORC for analytics</a:t>
            </a:r>
            <a:br>
              <a:rPr lang="en-IN" dirty="0"/>
            </a:br>
            <a:r>
              <a:rPr lang="en-IN" dirty="0"/>
              <a:t>✅ Control costs by minimizing scan size</a:t>
            </a:r>
            <a:br>
              <a:rPr lang="en-IN" dirty="0"/>
            </a:br>
            <a:r>
              <a:rPr lang="en-IN" dirty="0"/>
              <a:t>✅ Secure queries with IAM and Lake Formation</a:t>
            </a:r>
            <a:br>
              <a:rPr lang="en-IN" dirty="0"/>
            </a:br>
            <a:r>
              <a:rPr lang="en-IN" b="1" dirty="0"/>
              <a:t>Summary:</a:t>
            </a:r>
            <a:br>
              <a:rPr lang="en-IN" dirty="0"/>
            </a:br>
            <a:r>
              <a:rPr lang="en-IN" dirty="0"/>
              <a:t>Athena transforms your S3 into a </a:t>
            </a:r>
            <a:r>
              <a:rPr lang="en-IN" i="1" dirty="0"/>
              <a:t>SQL-powered data warehouse</a:t>
            </a:r>
            <a:r>
              <a:rPr lang="en-IN" dirty="0"/>
              <a:t> — instantly query, </a:t>
            </a:r>
            <a:r>
              <a:rPr lang="en-IN" dirty="0" err="1"/>
              <a:t>analyze</a:t>
            </a:r>
            <a:r>
              <a:rPr lang="en-IN" dirty="0"/>
              <a:t>, and visualize your data without ETL overhead. </a:t>
            </a:r>
            <a:r>
              <a:rPr lang="en-IN"/>
              <a:t>🚀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697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</Words>
  <Application>Microsoft Office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AWS Athena Basics (Querying S3 Data via SQL)</vt:lpstr>
      <vt:lpstr>Why Use Athena </vt:lpstr>
      <vt:lpstr>How Athena Works</vt:lpstr>
      <vt:lpstr>Example Schema Table: supplychain.trusted_shipments </vt:lpstr>
      <vt:lpstr>Example Athena Query SQL Example: </vt:lpstr>
      <vt:lpstr>Querying Using AWS Console</vt:lpstr>
      <vt:lpstr>Querying Athena Using Python (boto3)</vt:lpstr>
      <vt:lpstr>Integration with Glue and S3</vt:lpstr>
      <vt:lpstr>Performance Optimization Tips: </vt:lpstr>
      <vt:lpstr>Best Practices &amp;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2025-11-10T10:27:00Z</dcterms:created>
  <dcterms:modified xsi:type="dcterms:W3CDTF">2025-11-10T10:27:08Z</dcterms:modified>
</cp:coreProperties>
</file>