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1949-9CAA-8A88-7969-59719109A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54997-B180-4918-BB37-DBFFD55E5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9D0FC-63CD-83F0-65CF-82F53E25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88186-B3E0-77B0-83E9-86C269F0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3D786-8F5D-E6F0-6C69-8E533611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58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4CCD-9D80-2443-E22A-D22823197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25139-D191-4B4F-E185-F017B7E9E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1ED4A-13EB-7C84-2E5C-EB4EE9541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C5357-0F4A-2BA5-5A8C-90927C49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69F6F-D33B-8F1B-5939-665C5E87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94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C6BB-B0FB-2263-795D-6448D9F26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ACE18-FDDC-2C4F-ACDC-2775DA95E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B0CF9-A6C0-5904-4B06-24D6D555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5116F-1B60-627E-000B-07C7C655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E7F6-4CD7-8587-521E-9AB72546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51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8037-A127-DC86-CCFF-8DD4C1C4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E59D4-5F5E-EE5F-3382-3A97EDCD8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1507A-EDC8-9047-3524-37A733E9D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2525C-02A6-4F57-6738-9BB4887B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C8696-C21A-3E03-893E-911C5047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8FA37-DF0B-ED6E-2B1D-127B9631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76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2402D-8F8D-0321-7F50-2D335AA14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4E54C-CAD9-38E9-224F-53F99DFC7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FAE47-13DE-28D3-D744-C0504AC7A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59613-A830-FF58-78B3-01AC6E30A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4848A-4E33-F140-36DF-C1A3426A2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67EE2-7E8E-D9C1-63BE-492F9E5D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E362A-8B25-557E-7067-274DCEB55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37F39B-BD14-E8E3-3729-5E72790A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26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F9AF-C130-3BE5-7057-30359CE1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0C0C3-8703-D124-83AD-AAE018A55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E1FD0-F30A-ADE7-EB79-5773B77E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66862-6357-10FC-7445-ECB406F6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24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BAF26D-07EF-E2D0-03B3-BCC6922D0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7FAD0-7F0C-4E29-422A-7C6AECF19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D715D-944B-01ED-4CAB-8FC8ABA8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053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EA7B-E8E9-C1F5-156B-DD3C7FB3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42EE6-BAD6-C3D2-427D-BAE2ADB7B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91750-406A-7B18-BB79-6CAA11287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6AB78-0702-4A51-BB97-6790272F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5D0EE-C7CF-8DFE-3D56-C232A016E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CF6F6-6892-438C-57E5-40469AF0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77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B8186-A877-AE5E-69DF-44C3E0B6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47458-8DFC-8051-3074-F1780244E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DF8A6-36D1-3D45-A1F3-A28E0238C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5F8C0-9907-322A-9944-FDA23353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7C8B2-74E4-9CFA-54BB-0A7DC4B3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A97AF-0A51-B8AB-E85C-D588388E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59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CCF7-F6A2-1402-D4D4-4DC3A687A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3EC1B-EE46-2C2D-AB33-604FD203E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6C7ED-BC00-67AE-6BB2-8D4ED699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16A01-F622-4E38-D8F8-4F70D680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8EDDA-4BD7-376B-FDB7-85DFE79EF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24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4FAC60-EC1B-E821-CC3D-D7E94329A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1A51F-65F0-E44D-3E00-5B279BD5D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E132A-7010-B674-DE9D-438D96D1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03BEF-26DB-DAB8-3D26-F199EAB0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667C9-3AC0-3A4D-0818-27277714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74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A9D9F-D3DA-17B0-D78C-9A05DFE5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DE885-F1FC-660C-469A-BA6E6AB1D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F8FB5-97DE-66C4-82E1-62815DB0C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F443C-20BF-4865-AFC2-C1E1FD6640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1EFE-D0DD-6D15-FF29-C7E0E600D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48D0-1FD0-1E42-8401-8BF560C1F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C2275-7676-4BDF-90D2-011ADD4C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6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00C3-9C1F-CABF-0E9D-3A2124181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Environment Variables and Secrets (API Keys, DB Creds)”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98CA7-71C5-E259-4A81-32BBE47C59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Sensitive info like </a:t>
            </a:r>
            <a:r>
              <a:rPr lang="en-US" b="1" dirty="0"/>
              <a:t>API keys, DB credentials, access tokens</a:t>
            </a:r>
            <a:r>
              <a:rPr lang="en-US" dirty="0"/>
              <a:t> should never be in code.</a:t>
            </a:r>
            <a:br>
              <a:rPr lang="en-US" dirty="0"/>
            </a:br>
            <a:r>
              <a:rPr lang="en-US" dirty="0"/>
              <a:t>They’re stored securely in environment variables or secret managers.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370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CE66-2087-71AC-054A-670335E1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Examples of Sensitive Data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53DFCA-7B48-986C-66CC-5DF6D07B7C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981692"/>
              </p:ext>
            </p:extLst>
          </p:nvPr>
        </p:nvGraphicFramePr>
        <p:xfrm>
          <a:off x="838200" y="1315453"/>
          <a:ext cx="10515600" cy="431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842936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57292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9971437"/>
                    </a:ext>
                  </a:extLst>
                </a:gridCol>
              </a:tblGrid>
              <a:tr h="1078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 if Exposed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0204893"/>
                  </a:ext>
                </a:extLst>
              </a:tr>
              <a:tr h="1078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API_KEY=abcd1234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Unauthorized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777711"/>
                  </a:ext>
                </a:extLst>
              </a:tr>
              <a:tr h="1078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DB 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db_password=Redshift@123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leak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188330"/>
                  </a:ext>
                </a:extLst>
              </a:tr>
              <a:tr h="1078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JWT=eyJhbGciOi...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Security breach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150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26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8B37-334A-E1ED-2E5F-C0222006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Environment Variables?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D37E2-6FEE-9775-E9D6-5DB088301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System-level key-value pairs available at runtime.</a:t>
            </a:r>
            <a:br>
              <a:rPr lang="en-US" dirty="0"/>
            </a:br>
            <a:r>
              <a:rPr lang="en-US" dirty="0"/>
              <a:t>They keep secrets </a:t>
            </a:r>
            <a:r>
              <a:rPr lang="en-US" b="1" dirty="0"/>
              <a:t>outside your source code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bash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set AWS_ACCESS_KEY_ID=your-key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set AWS_SECRET_ACCESS_KEY=your-secret</a:t>
            </a:r>
          </a:p>
          <a:p>
            <a:pPr marL="0" indent="0">
              <a:buNone/>
            </a:pPr>
            <a:r>
              <a:rPr lang="en-US" dirty="0"/>
              <a:t>Access in Python: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import </a:t>
            </a:r>
            <a:r>
              <a:rPr lang="en-US" dirty="0" err="1">
                <a:solidFill>
                  <a:srgbClr val="00B050"/>
                </a:solidFill>
              </a:rPr>
              <a:t>os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key = </a:t>
            </a:r>
            <a:r>
              <a:rPr lang="en-US" dirty="0" err="1">
                <a:solidFill>
                  <a:srgbClr val="00B050"/>
                </a:solidFill>
              </a:rPr>
              <a:t>os.getenv</a:t>
            </a:r>
            <a:r>
              <a:rPr lang="en-US" dirty="0">
                <a:solidFill>
                  <a:srgbClr val="00B050"/>
                </a:solidFill>
              </a:rPr>
              <a:t>("AWS_ACCESS_KEY_ID")</a:t>
            </a:r>
          </a:p>
          <a:p>
            <a:pPr marL="0" indent="0">
              <a:buNone/>
            </a:pP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09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80BF-CBD1-884A-162A-F5ABCFC2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Setting Env Variables in Different Environments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8E0CD0-B789-8E20-7843-71BCA2A54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556711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362672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872183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How to 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484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Courier New" panose="02070309020205020404" pitchFamily="49" charset="0"/>
                        </a:rPr>
                        <a:t>.env</a:t>
                      </a:r>
                      <a:r>
                        <a:rPr lang="pt-BR"/>
                        <a:t> file or OS 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28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GitLab → CI/CD →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079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AWS Lambda / Step Functions / Glue → Environment config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650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94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4E64-9749-A835-1400-5471CBAA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.env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9D688-3E1D-99FD-3FD6-8CD98DE23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API_KEY=abcd1234xyz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DB_USER=admin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DB_PASS=Redshift@123</a:t>
            </a:r>
          </a:p>
          <a:p>
            <a:pPr marL="0" indent="0">
              <a:buNone/>
            </a:pPr>
            <a:r>
              <a:rPr lang="en-US" dirty="0"/>
              <a:t>Load it securely: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from </a:t>
            </a:r>
            <a:r>
              <a:rPr lang="en-US" dirty="0" err="1">
                <a:solidFill>
                  <a:srgbClr val="00B050"/>
                </a:solidFill>
              </a:rPr>
              <a:t>dotenv</a:t>
            </a:r>
            <a:r>
              <a:rPr lang="en-US" dirty="0">
                <a:solidFill>
                  <a:srgbClr val="00B050"/>
                </a:solidFill>
              </a:rPr>
              <a:t> import </a:t>
            </a:r>
            <a:r>
              <a:rPr lang="en-US" dirty="0" err="1">
                <a:solidFill>
                  <a:srgbClr val="00B050"/>
                </a:solidFill>
              </a:rPr>
              <a:t>load_dotenv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load_dotenv</a:t>
            </a:r>
            <a:r>
              <a:rPr lang="en-US" dirty="0">
                <a:solidFill>
                  <a:srgbClr val="00B050"/>
                </a:solidFill>
              </a:rPr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43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4F833-3576-3EB0-43E2-4E6425EF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Accessing Secrets in Code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95571-33F2-B505-2AE1-3238F73A4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import </a:t>
            </a:r>
            <a:r>
              <a:rPr lang="en-IN" dirty="0" err="1">
                <a:solidFill>
                  <a:srgbClr val="00B050"/>
                </a:solidFill>
              </a:rPr>
              <a:t>os</a:t>
            </a: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api_key</a:t>
            </a:r>
            <a:r>
              <a:rPr lang="en-IN" dirty="0">
                <a:solidFill>
                  <a:srgbClr val="00B050"/>
                </a:solidFill>
              </a:rPr>
              <a:t> = </a:t>
            </a:r>
            <a:r>
              <a:rPr lang="en-IN" dirty="0" err="1">
                <a:solidFill>
                  <a:srgbClr val="00B050"/>
                </a:solidFill>
              </a:rPr>
              <a:t>os.getenv</a:t>
            </a:r>
            <a:r>
              <a:rPr lang="en-IN" dirty="0">
                <a:solidFill>
                  <a:srgbClr val="00B050"/>
                </a:solidFill>
              </a:rPr>
              <a:t>("API_KEY")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db_user</a:t>
            </a:r>
            <a:r>
              <a:rPr lang="en-IN" dirty="0">
                <a:solidFill>
                  <a:srgbClr val="00B050"/>
                </a:solidFill>
              </a:rPr>
              <a:t> = </a:t>
            </a:r>
            <a:r>
              <a:rPr lang="en-IN" dirty="0" err="1">
                <a:solidFill>
                  <a:srgbClr val="00B050"/>
                </a:solidFill>
              </a:rPr>
              <a:t>os.getenv</a:t>
            </a:r>
            <a:r>
              <a:rPr lang="en-IN" dirty="0">
                <a:solidFill>
                  <a:srgbClr val="00B050"/>
                </a:solidFill>
              </a:rPr>
              <a:t>("DB_USER")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db_pass</a:t>
            </a:r>
            <a:r>
              <a:rPr lang="en-IN" dirty="0">
                <a:solidFill>
                  <a:srgbClr val="00B050"/>
                </a:solidFill>
              </a:rPr>
              <a:t> = </a:t>
            </a:r>
            <a:r>
              <a:rPr lang="en-IN" dirty="0" err="1">
                <a:solidFill>
                  <a:srgbClr val="00B050"/>
                </a:solidFill>
              </a:rPr>
              <a:t>os.getenv</a:t>
            </a:r>
            <a:r>
              <a:rPr lang="en-IN" dirty="0">
                <a:solidFill>
                  <a:srgbClr val="00B050"/>
                </a:solidFill>
              </a:rPr>
              <a:t>("DB_PASS")</a:t>
            </a:r>
          </a:p>
          <a:p>
            <a:pPr marL="0" indent="0">
              <a:buNone/>
            </a:pP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print("API Key Loaded:", </a:t>
            </a:r>
            <a:r>
              <a:rPr lang="en-IN" dirty="0" err="1">
                <a:solidFill>
                  <a:srgbClr val="00B050"/>
                </a:solidFill>
              </a:rPr>
              <a:t>api_key</a:t>
            </a:r>
            <a:r>
              <a:rPr lang="en-IN" dirty="0">
                <a:solidFill>
                  <a:srgbClr val="00B050"/>
                </a:solidFill>
              </a:rPr>
              <a:t>[:4] + "****")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4761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CBA6-235E-7F93-1903-1D21ED18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AWS Secrets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D5201-E676-19FC-0003-2730F8CF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practice for storing credentials in cloud: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import boto3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secrets = boto3.client('</a:t>
            </a:r>
            <a:r>
              <a:rPr lang="en-US" dirty="0" err="1">
                <a:solidFill>
                  <a:srgbClr val="00B050"/>
                </a:solidFill>
              </a:rPr>
              <a:t>secretsmanager</a:t>
            </a:r>
            <a:r>
              <a:rPr lang="en-US" dirty="0">
                <a:solidFill>
                  <a:srgbClr val="00B050"/>
                </a:solidFill>
              </a:rPr>
              <a:t>')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secret = </a:t>
            </a:r>
            <a:r>
              <a:rPr lang="en-US" dirty="0" err="1">
                <a:solidFill>
                  <a:srgbClr val="00B050"/>
                </a:solidFill>
              </a:rPr>
              <a:t>secrets.get_secret_value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00B050"/>
                </a:solidFill>
              </a:rPr>
              <a:t>SecretId</a:t>
            </a:r>
            <a:r>
              <a:rPr lang="en-US" dirty="0">
                <a:solidFill>
                  <a:srgbClr val="00B050"/>
                </a:solidFill>
              </a:rPr>
              <a:t>='prod/</a:t>
            </a:r>
            <a:r>
              <a:rPr lang="en-US" dirty="0" err="1">
                <a:solidFill>
                  <a:srgbClr val="00B050"/>
                </a:solidFill>
              </a:rPr>
              <a:t>db</a:t>
            </a:r>
            <a:r>
              <a:rPr lang="en-US" dirty="0">
                <a:solidFill>
                  <a:srgbClr val="00B050"/>
                </a:solidFill>
              </a:rPr>
              <a:t>/credentials')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print(secret['</a:t>
            </a:r>
            <a:r>
              <a:rPr lang="en-US" dirty="0" err="1">
                <a:solidFill>
                  <a:srgbClr val="00B050"/>
                </a:solidFill>
              </a:rPr>
              <a:t>SecretString</a:t>
            </a:r>
            <a:r>
              <a:rPr lang="en-US" dirty="0">
                <a:solidFill>
                  <a:srgbClr val="00B050"/>
                </a:solidFill>
              </a:rPr>
              <a:t>’])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dirty="0"/>
              <a:t>✅ Rotatable, Encrypted, Auditable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68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ED4C-D121-59F1-7948-086F84E5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SSM Parameter Store (Alternative)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3DE6B-8D5E-ED94-8878-FD3354580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import boto3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ssm</a:t>
            </a:r>
            <a:r>
              <a:rPr lang="en-IN" dirty="0">
                <a:solidFill>
                  <a:srgbClr val="00B050"/>
                </a:solidFill>
              </a:rPr>
              <a:t> = boto3.client('</a:t>
            </a:r>
            <a:r>
              <a:rPr lang="en-IN" dirty="0" err="1">
                <a:solidFill>
                  <a:srgbClr val="00B050"/>
                </a:solidFill>
              </a:rPr>
              <a:t>ssm</a:t>
            </a:r>
            <a:r>
              <a:rPr lang="en-IN" dirty="0">
                <a:solidFill>
                  <a:srgbClr val="00B050"/>
                </a:solidFill>
              </a:rPr>
              <a:t>')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param = </a:t>
            </a:r>
            <a:r>
              <a:rPr lang="en-IN" dirty="0" err="1">
                <a:solidFill>
                  <a:srgbClr val="00B050"/>
                </a:solidFill>
              </a:rPr>
              <a:t>ssm.get_parameter</a:t>
            </a:r>
            <a:r>
              <a:rPr lang="en-IN" dirty="0">
                <a:solidFill>
                  <a:srgbClr val="00B050"/>
                </a:solidFill>
              </a:rPr>
              <a:t>(Name='/prod/</a:t>
            </a:r>
            <a:r>
              <a:rPr lang="en-IN" dirty="0" err="1">
                <a:solidFill>
                  <a:srgbClr val="00B050"/>
                </a:solidFill>
              </a:rPr>
              <a:t>api</a:t>
            </a:r>
            <a:r>
              <a:rPr lang="en-IN" dirty="0">
                <a:solidFill>
                  <a:srgbClr val="00B050"/>
                </a:solidFill>
              </a:rPr>
              <a:t>/key', </a:t>
            </a:r>
            <a:r>
              <a:rPr lang="en-IN" dirty="0" err="1">
                <a:solidFill>
                  <a:srgbClr val="00B050"/>
                </a:solidFill>
              </a:rPr>
              <a:t>WithDecryption</a:t>
            </a:r>
            <a:r>
              <a:rPr lang="en-IN" dirty="0">
                <a:solidFill>
                  <a:srgbClr val="00B050"/>
                </a:solidFill>
              </a:rPr>
              <a:t>=True)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print(param['Parameter']['Value’])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Good for config-style secrets (lightweight).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6061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BA948-6EF3-D6DF-0C01-679D349E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6D65-8CB2-76A7-32F3-29CC9CA7E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❌ Hardcoding credentials</a:t>
            </a:r>
            <a:br>
              <a:rPr lang="en-IN" dirty="0"/>
            </a:br>
            <a:r>
              <a:rPr lang="en-IN" dirty="0"/>
              <a:t>❌ Pushing .env to Git</a:t>
            </a:r>
            <a:br>
              <a:rPr lang="en-IN" dirty="0"/>
            </a:br>
            <a:r>
              <a:rPr lang="en-IN" dirty="0"/>
              <a:t>❌ Using same credentials for Dev &amp; Prod</a:t>
            </a:r>
          </a:p>
          <a:p>
            <a:r>
              <a:rPr lang="en-IN" dirty="0"/>
              <a:t>✅ Always load from environment, never store in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97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7B9-C009-87F1-13E1-8C81E635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89D35-F563-156D-90E7-CFBF432D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/>
              <a:t>✅ Store secrets outside code</a:t>
            </a:r>
            <a:br>
              <a:rPr lang="en-IN" sz="3200" dirty="0"/>
            </a:br>
            <a:r>
              <a:rPr lang="en-IN" sz="3200" dirty="0"/>
              <a:t>✅ Use .env, Secrets Manager, or SSM</a:t>
            </a:r>
            <a:br>
              <a:rPr lang="en-IN" sz="3200" dirty="0"/>
            </a:br>
            <a:r>
              <a:rPr lang="en-IN" sz="3200" dirty="0"/>
              <a:t>✅ Access via </a:t>
            </a:r>
            <a:r>
              <a:rPr lang="en-IN" sz="3200" dirty="0" err="1"/>
              <a:t>os.getenv</a:t>
            </a:r>
            <a:r>
              <a:rPr lang="en-IN" sz="3200" dirty="0"/>
              <a:t>()</a:t>
            </a:r>
            <a:br>
              <a:rPr lang="en-IN" sz="3200" dirty="0"/>
            </a:br>
            <a:r>
              <a:rPr lang="en-IN" sz="3200" dirty="0"/>
              <a:t>✅ Different secrets per environment</a:t>
            </a:r>
            <a:br>
              <a:rPr lang="en-IN" sz="3200" dirty="0"/>
            </a:br>
            <a:r>
              <a:rPr lang="en-IN" sz="3200" dirty="0"/>
              <a:t>✅ Log only masked values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75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Environment Variables and Secrets (API Keys, DB Creds)”</vt:lpstr>
      <vt:lpstr>Examples of Sensitive Data</vt:lpstr>
      <vt:lpstr>What Are Environment Variables?</vt:lpstr>
      <vt:lpstr>Setting Env Variables in Different Environments</vt:lpstr>
      <vt:lpstr>Example .env File</vt:lpstr>
      <vt:lpstr>Accessing Secrets in Code </vt:lpstr>
      <vt:lpstr>Using AWS Secrets Manager</vt:lpstr>
      <vt:lpstr>Using SSM Parameter Store (Alternative)</vt:lpstr>
      <vt:lpstr>Common Mistakes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2025-11-07T06:56:03Z</dcterms:created>
  <dcterms:modified xsi:type="dcterms:W3CDTF">2025-11-07T06:56:25Z</dcterms:modified>
</cp:coreProperties>
</file>