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3C20C-FDD8-A92B-B3EF-46A777181A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2658E7-0267-A41D-4A38-3407363D5A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C88BE-E05D-BD75-D554-DE910D3EE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0B98A-DC3E-412C-B5F1-49277DA5CF6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5A77B-7CC9-26C1-C2E0-021103E2C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4FBB7-8386-A5CA-CF7F-631D3470F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DCF8D-7986-4BEF-A0D5-EFD81AEFD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043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095FA-704E-9ADF-9CCE-CD738AD04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DFDF9-1BB0-DCF6-64D8-0A3BBFE03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0746C-8799-AE69-BA3C-5CC4B452F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0B98A-DC3E-412C-B5F1-49277DA5CF6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78C93-B977-AC11-3A3D-4BA14B85C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83287-DBFC-3235-03AD-684A86106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DCF8D-7986-4BEF-A0D5-EFD81AEFD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899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9E973-9154-3C3B-8F55-A6A1305B5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0A21FA-F31B-CD4D-1CFE-70190001B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8F140-91F9-EEC6-D9D4-F1B51A8DB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0B98A-DC3E-412C-B5F1-49277DA5CF6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F92B6-4361-126E-7FE7-F49BC3D6D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5CA85-68ED-C94E-8692-3AFCEA5B7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DCF8D-7986-4BEF-A0D5-EFD81AEFD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103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195BB-D065-5748-94CD-BE95044EF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5D151-6C07-6785-85CE-28D5C6F9FB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ECFF92-E387-0980-9CED-E03B508AAB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CC8519-E7AB-596F-F0F4-7832E5539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0B98A-DC3E-412C-B5F1-49277DA5CF6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3597B-3014-609F-5A6F-4AFF5526C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4DE263-40D8-0950-7D22-93E96E339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DCF8D-7986-4BEF-A0D5-EFD81AEFD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5356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574CD-81DE-A315-4C1D-803C19C57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6239A5-4729-DFD5-CCB9-D0F4BE7D5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EA431C-0800-0719-E7A5-F689CB1980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75E25-B045-3406-8485-B35262348C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1BF3A1-A81F-3770-848C-2EA64719D1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4880A9-5776-CFBE-EE8D-20C833478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0B98A-DC3E-412C-B5F1-49277DA5CF6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6B3BF5-CA6B-B28F-B97F-307BAB06A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67D1C3-FB87-388B-11A2-CC5B633B9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DCF8D-7986-4BEF-A0D5-EFD81AEFD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972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E4929-A24B-D39D-87A9-C049D0219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6F218F-14A2-A581-375C-172877132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0B98A-DC3E-412C-B5F1-49277DA5CF6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979BFC-91C2-B04E-38DC-C3F813E3E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F981BF-9DB0-2FA7-2933-A01DCC4E0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DCF8D-7986-4BEF-A0D5-EFD81AEFD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969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E78AFF-BED1-EB7D-225A-9008A29BC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0B98A-DC3E-412C-B5F1-49277DA5CF6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5E628A-0D99-CD16-1F91-AF159A9FD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26457C-CCD9-E856-EFF3-7C287C7CF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DCF8D-7986-4BEF-A0D5-EFD81AEFD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6278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7E4A3-45C5-8D05-0158-6451E5D4A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8F416-F885-2640-6D1B-1D8E5B636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0A6746-BC0B-0649-006C-7049A85B95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E8DAA3-FB5D-A7F6-7CDA-A0669622F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0B98A-DC3E-412C-B5F1-49277DA5CF6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B0182E-4EAF-4F08-A956-5E61045AA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EE9101-2A44-C7CE-688A-666559ABF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DCF8D-7986-4BEF-A0D5-EFD81AEFD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7594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17088-B4BD-B5B6-9282-263512510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8E924C-74DA-4668-2DDE-5AADCAEBF9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EAB1F3-89F1-E14D-EBB5-5EDA5C5C6A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72DD40-701D-A56A-2958-86B5E7950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0B98A-DC3E-412C-B5F1-49277DA5CF6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050D39-FE89-694B-9EA6-DE718A5BA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B7D9D5-7839-E327-D900-168075A39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DCF8D-7986-4BEF-A0D5-EFD81AEFD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280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F6BE4-3612-63B2-6BEA-24F7ACD06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8F388E-65A1-1573-2982-6E8A0FBE0B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56D9B-744C-9BE1-FF06-C44FC8154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0B98A-DC3E-412C-B5F1-49277DA5CF6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55F3A-28C3-DFDE-2ECD-49F5F2F0C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08464-295B-89AF-E7C2-AA9328615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DCF8D-7986-4BEF-A0D5-EFD81AEFD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106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C99BA9-B13E-C325-A7E9-53B2998B95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53BCD6-92B2-E860-C3B5-16EFA83C38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BA1AA-D297-B83C-78F1-F866B48E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0B98A-DC3E-412C-B5F1-49277DA5CF6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4E22B-3A0E-3D07-D863-058B9F0A6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524F7-D262-52A9-F768-8C76A894D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DCF8D-7986-4BEF-A0D5-EFD81AEFD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021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3F7F20-3DC3-2470-9668-CF766CAB0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500918-BF6D-7F7D-DBBB-A427890F46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45FF8-0421-A4EF-14CF-D66495813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0B98A-DC3E-412C-B5F1-49277DA5CF65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4CCED-3274-2B15-E562-EC19F1C011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7D119-5D4C-DAFE-5E03-0DED4E61E6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7DCF8D-7986-4BEF-A0D5-EFD81AEFD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3351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8376B-D558-7CA8-A021-412DE54B9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6905" y="224589"/>
            <a:ext cx="9561095" cy="1042737"/>
          </a:xfrm>
        </p:spPr>
        <p:txBody>
          <a:bodyPr/>
          <a:lstStyle/>
          <a:p>
            <a:r>
              <a:rPr lang="en-IN" dirty="0"/>
              <a:t>What is Amazon CloudWatch?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C01387-0B19-916F-62DA-090266082B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1053" y="1684421"/>
            <a:ext cx="10266947" cy="4796590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Theory:</a:t>
            </a:r>
            <a:br>
              <a:rPr lang="en-US" dirty="0"/>
            </a:br>
            <a:r>
              <a:rPr lang="en-US" dirty="0"/>
              <a:t>Amazon CloudWatch is a </a:t>
            </a:r>
            <a:r>
              <a:rPr lang="en-US" i="1" dirty="0"/>
              <a:t>monitoring and observability service</a:t>
            </a:r>
            <a:r>
              <a:rPr lang="en-US" dirty="0"/>
              <a:t> that provides logs, metrics, and alerts for all AWS resources.</a:t>
            </a:r>
            <a:br>
              <a:rPr lang="en-US" dirty="0"/>
            </a:br>
            <a:r>
              <a:rPr lang="en-US" dirty="0"/>
              <a:t>It helps track performance, detect issues, and visualize operational health in real time.</a:t>
            </a:r>
            <a:br>
              <a:rPr lang="en-US" dirty="0"/>
            </a:br>
            <a:r>
              <a:rPr lang="en-US" b="1" dirty="0"/>
              <a:t>Key Features:</a:t>
            </a:r>
            <a:endParaRPr lang="en-US" dirty="0"/>
          </a:p>
          <a:p>
            <a:pPr algn="l"/>
            <a:r>
              <a:rPr lang="en-US" dirty="0"/>
              <a:t>Collects logs and metrics</a:t>
            </a:r>
          </a:p>
          <a:p>
            <a:pPr algn="l"/>
            <a:r>
              <a:rPr lang="en-US" dirty="0"/>
              <a:t>Sets up automated alarms</a:t>
            </a:r>
          </a:p>
          <a:p>
            <a:pPr algn="l"/>
            <a:r>
              <a:rPr lang="en-US" dirty="0"/>
              <a:t>Visualizes dashboards</a:t>
            </a:r>
          </a:p>
          <a:p>
            <a:pPr algn="l"/>
            <a:r>
              <a:rPr lang="en-US" dirty="0"/>
              <a:t>Integrates with Lambda, Glue, EC2, Athena, etc.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0694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C1D72-3298-1018-99B8-CC5D2414B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CloudWatch is Essential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44B4B-DC23-FAA0-638C-159DDD92A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Theory:</a:t>
            </a:r>
            <a:br>
              <a:rPr lang="en-IN" dirty="0"/>
            </a:br>
            <a:r>
              <a:rPr lang="en-IN" dirty="0"/>
              <a:t>Every AWS workload needs monitoring to ensure reliability and performance.</a:t>
            </a:r>
            <a:br>
              <a:rPr lang="en-IN" dirty="0"/>
            </a:br>
            <a:r>
              <a:rPr lang="en-IN" b="1" dirty="0"/>
              <a:t>Why We Use CloudWatch:</a:t>
            </a:r>
            <a:br>
              <a:rPr lang="en-IN" dirty="0"/>
            </a:br>
            <a:r>
              <a:rPr lang="en-IN" dirty="0"/>
              <a:t>✅ Detect job failures (Glue/Lambda)</a:t>
            </a:r>
            <a:br>
              <a:rPr lang="en-IN" dirty="0"/>
            </a:br>
            <a:r>
              <a:rPr lang="en-IN" dirty="0"/>
              <a:t>✅ Track ETL runtime performance</a:t>
            </a:r>
            <a:br>
              <a:rPr lang="en-IN" dirty="0"/>
            </a:br>
            <a:r>
              <a:rPr lang="en-IN" dirty="0"/>
              <a:t>✅ Monitor costs and usage</a:t>
            </a:r>
            <a:br>
              <a:rPr lang="en-IN" dirty="0"/>
            </a:br>
            <a:r>
              <a:rPr lang="en-IN" dirty="0"/>
              <a:t>✅ Automate alerts for anomalies</a:t>
            </a:r>
            <a:br>
              <a:rPr lang="en-IN" dirty="0"/>
            </a:br>
            <a:r>
              <a:rPr lang="en-IN" b="1" dirty="0"/>
              <a:t>Example:</a:t>
            </a:r>
            <a:br>
              <a:rPr lang="en-IN" dirty="0"/>
            </a:br>
            <a:r>
              <a:rPr lang="en-IN" dirty="0"/>
              <a:t>Send an SNS alert when a Glue job fails or runs too long.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7090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59DCD-6C9F-7E22-CF6A-EEBA1CDB6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CloudWatch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B7B53-EE6D-8BAC-0E55-F4E13F3B8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Main Components:</a:t>
            </a:r>
            <a:br>
              <a:rPr lang="en-IN" dirty="0"/>
            </a:br>
            <a:r>
              <a:rPr lang="en-IN" dirty="0"/>
              <a:t>1️⃣ </a:t>
            </a:r>
            <a:r>
              <a:rPr lang="en-IN" b="1" dirty="0"/>
              <a:t>Metrics:</a:t>
            </a:r>
            <a:r>
              <a:rPr lang="en-IN" dirty="0"/>
              <a:t> Numerical data (CPU usage, job duration, invocations)</a:t>
            </a:r>
            <a:br>
              <a:rPr lang="en-IN" dirty="0"/>
            </a:br>
            <a:r>
              <a:rPr lang="en-IN" dirty="0"/>
              <a:t>2️⃣ </a:t>
            </a:r>
            <a:r>
              <a:rPr lang="en-IN" b="1" dirty="0"/>
              <a:t>Logs:</a:t>
            </a:r>
            <a:r>
              <a:rPr lang="en-IN" dirty="0"/>
              <a:t> Detailed execution output and errors</a:t>
            </a:r>
            <a:br>
              <a:rPr lang="en-IN" dirty="0"/>
            </a:br>
            <a:r>
              <a:rPr lang="en-IN" dirty="0"/>
              <a:t>3️⃣ </a:t>
            </a:r>
            <a:r>
              <a:rPr lang="en-IN" b="1" dirty="0"/>
              <a:t>Alarms:</a:t>
            </a:r>
            <a:r>
              <a:rPr lang="en-IN" dirty="0"/>
              <a:t> Notifications triggered when metrics cross thresholds</a:t>
            </a:r>
            <a:br>
              <a:rPr lang="en-IN" dirty="0"/>
            </a:br>
            <a:r>
              <a:rPr lang="en-IN" dirty="0"/>
              <a:t>4️⃣ </a:t>
            </a:r>
            <a:r>
              <a:rPr lang="en-IN" b="1" dirty="0"/>
              <a:t>Dashboards:</a:t>
            </a:r>
            <a:r>
              <a:rPr lang="en-IN" dirty="0"/>
              <a:t> Visual summaries of key performance indicators</a:t>
            </a:r>
            <a:br>
              <a:rPr lang="en-IN" dirty="0"/>
            </a:br>
            <a:r>
              <a:rPr lang="en-IN" dirty="0"/>
              <a:t>5️⃣ </a:t>
            </a:r>
            <a:r>
              <a:rPr lang="en-IN" b="1" dirty="0"/>
              <a:t>Events:</a:t>
            </a:r>
            <a:r>
              <a:rPr lang="en-IN" dirty="0"/>
              <a:t> Automation triggers for job execution or remediation</a:t>
            </a:r>
          </a:p>
        </p:txBody>
      </p:sp>
    </p:spTree>
    <p:extLst>
      <p:ext uri="{BB962C8B-B14F-4D97-AF65-F5344CB8AC3E}">
        <p14:creationId xmlns:p14="http://schemas.microsoft.com/office/powerpoint/2010/main" val="1282758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3AB62-0DBA-4643-FDC4-34F4C3597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Log Collection in CloudWatch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30372-2C51-7DC5-45EB-BC43DF83C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Theory:</a:t>
            </a:r>
            <a:br>
              <a:rPr lang="en-IN" dirty="0"/>
            </a:br>
            <a:r>
              <a:rPr lang="en-IN" dirty="0"/>
              <a:t>Logs are automatically captured from AWS services (e.g., Lambda, Glue, EC2).</a:t>
            </a:r>
            <a:br>
              <a:rPr lang="en-IN" dirty="0"/>
            </a:br>
            <a:r>
              <a:rPr lang="en-IN" b="1" dirty="0"/>
              <a:t>For Lambda:</a:t>
            </a:r>
            <a:r>
              <a:rPr lang="en-IN" dirty="0"/>
              <a:t> print() → sent to CloudWatch Logs</a:t>
            </a:r>
            <a:br>
              <a:rPr lang="en-IN" dirty="0"/>
            </a:br>
            <a:r>
              <a:rPr lang="en-IN" b="1" dirty="0"/>
              <a:t>For Glue:</a:t>
            </a:r>
            <a:r>
              <a:rPr lang="en-IN" dirty="0"/>
              <a:t> job output → /</a:t>
            </a:r>
            <a:r>
              <a:rPr lang="en-IN" dirty="0" err="1"/>
              <a:t>aws</a:t>
            </a:r>
            <a:r>
              <a:rPr lang="en-IN" dirty="0"/>
              <a:t>-glue/jobs/output</a:t>
            </a:r>
            <a:br>
              <a:rPr lang="en-IN" dirty="0"/>
            </a:br>
            <a:r>
              <a:rPr lang="en-IN" b="1" dirty="0"/>
              <a:t>For Athena:</a:t>
            </a:r>
            <a:r>
              <a:rPr lang="en-IN" dirty="0"/>
              <a:t> query metadata logged in /</a:t>
            </a:r>
            <a:r>
              <a:rPr lang="en-IN" dirty="0" err="1"/>
              <a:t>aws-athena</a:t>
            </a:r>
            <a:r>
              <a:rPr lang="en-IN" dirty="0"/>
              <a:t>/queries/</a:t>
            </a:r>
            <a:br>
              <a:rPr lang="en-IN" dirty="0"/>
            </a:br>
            <a:r>
              <a:rPr lang="en-IN" b="1" dirty="0"/>
              <a:t>Tip:</a:t>
            </a:r>
            <a:r>
              <a:rPr lang="en-IN" dirty="0"/>
              <a:t> Use logger.info() or </a:t>
            </a:r>
            <a:r>
              <a:rPr lang="en-IN" dirty="0" err="1"/>
              <a:t>logger.error</a:t>
            </a:r>
            <a:r>
              <a:rPr lang="en-IN" dirty="0"/>
              <a:t>() for structured logs.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4655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D5705-2DF0-DC84-8503-77073AE6B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305" y="1"/>
            <a:ext cx="10856495" cy="1219199"/>
          </a:xfrm>
        </p:spPr>
        <p:txBody>
          <a:bodyPr/>
          <a:lstStyle/>
          <a:p>
            <a:r>
              <a:rPr lang="en-IN" dirty="0"/>
              <a:t>Example: Lambda Logging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7DA12-A2AD-E264-2B0E-DD5E2526A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632" y="1090863"/>
            <a:ext cx="11113168" cy="50861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Code Example:</a:t>
            </a: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import logging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logger = </a:t>
            </a:r>
            <a:r>
              <a:rPr lang="en-IN" dirty="0" err="1">
                <a:solidFill>
                  <a:srgbClr val="FF0000"/>
                </a:solidFill>
              </a:rPr>
              <a:t>logging.getLogger</a:t>
            </a:r>
            <a:r>
              <a:rPr lang="en-IN" dirty="0">
                <a:solidFill>
                  <a:srgbClr val="FF0000"/>
                </a:solidFill>
              </a:rPr>
              <a:t>()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logger.setLevel</a:t>
            </a:r>
            <a:r>
              <a:rPr lang="en-IN" dirty="0">
                <a:solidFill>
                  <a:srgbClr val="FF0000"/>
                </a:solidFill>
              </a:rPr>
              <a:t>(logging.INFO)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def </a:t>
            </a:r>
            <a:r>
              <a:rPr lang="en-IN" dirty="0" err="1">
                <a:solidFill>
                  <a:srgbClr val="FF0000"/>
                </a:solidFill>
              </a:rPr>
              <a:t>lambda_handler</a:t>
            </a:r>
            <a:r>
              <a:rPr lang="en-IN" dirty="0">
                <a:solidFill>
                  <a:srgbClr val="FF0000"/>
                </a:solidFill>
              </a:rPr>
              <a:t>(event, context):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logger.info("Lambda started")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try: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    # process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    logger.info("✅ Job successful")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except Exception as e: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    </a:t>
            </a:r>
            <a:r>
              <a:rPr lang="en-IN" dirty="0" err="1">
                <a:solidFill>
                  <a:srgbClr val="FF0000"/>
                </a:solidFill>
              </a:rPr>
              <a:t>logger.error</a:t>
            </a:r>
            <a:r>
              <a:rPr lang="en-IN" dirty="0">
                <a:solidFill>
                  <a:srgbClr val="FF0000"/>
                </a:solidFill>
              </a:rPr>
              <a:t>(f"❌ Error: {e}")</a:t>
            </a:r>
          </a:p>
          <a:p>
            <a:pPr marL="0" indent="0">
              <a:buNone/>
            </a:pPr>
            <a:r>
              <a:rPr lang="en-US" b="1" dirty="0"/>
              <a:t>Explanation:</a:t>
            </a:r>
            <a:br>
              <a:rPr lang="en-US" dirty="0"/>
            </a:br>
            <a:r>
              <a:rPr lang="en-US" dirty="0"/>
              <a:t>Logs appear instantly in </a:t>
            </a:r>
            <a:r>
              <a:rPr lang="en-US" b="1" dirty="0"/>
              <a:t>CloudWatch → Log Groups → /</a:t>
            </a:r>
            <a:r>
              <a:rPr lang="en-US" b="1" dirty="0" err="1"/>
              <a:t>aws</a:t>
            </a:r>
            <a:r>
              <a:rPr lang="en-US" b="1" dirty="0"/>
              <a:t>/lambda/function-name</a:t>
            </a: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9064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F3C0E-A5B7-A055-D5E8-32DB63DA2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Glue Job Logging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FD4B4-8688-4587-66D0-CFCBF5FE3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Theory:</a:t>
            </a:r>
            <a:br>
              <a:rPr lang="en-IN" dirty="0"/>
            </a:br>
            <a:r>
              <a:rPr lang="en-IN" dirty="0"/>
              <a:t>Glue Jobs automatically push Spark and Python logs to CloudWatch.</a:t>
            </a:r>
            <a:br>
              <a:rPr lang="en-IN" dirty="0"/>
            </a:br>
            <a:r>
              <a:rPr lang="en-IN" b="1" dirty="0"/>
              <a:t>Log Streams:</a:t>
            </a:r>
            <a:endParaRPr lang="en-IN" dirty="0"/>
          </a:p>
          <a:p>
            <a:r>
              <a:rPr lang="en-IN" dirty="0"/>
              <a:t>/</a:t>
            </a:r>
            <a:r>
              <a:rPr lang="en-IN" dirty="0" err="1"/>
              <a:t>aws</a:t>
            </a:r>
            <a:r>
              <a:rPr lang="en-IN" dirty="0"/>
              <a:t>-glue/jobs/output → Job </a:t>
            </a:r>
            <a:r>
              <a:rPr lang="en-IN" dirty="0" err="1"/>
              <a:t>stdout</a:t>
            </a:r>
            <a:r>
              <a:rPr lang="en-IN" dirty="0"/>
              <a:t> logs</a:t>
            </a:r>
          </a:p>
          <a:p>
            <a:r>
              <a:rPr lang="en-IN" dirty="0"/>
              <a:t>/</a:t>
            </a:r>
            <a:r>
              <a:rPr lang="en-IN" dirty="0" err="1"/>
              <a:t>aws</a:t>
            </a:r>
            <a:r>
              <a:rPr lang="en-IN" dirty="0"/>
              <a:t>-glue/jobs/error → Error stack traces</a:t>
            </a:r>
            <a:br>
              <a:rPr lang="en-IN" dirty="0"/>
            </a:br>
            <a:r>
              <a:rPr lang="en-IN" b="1" dirty="0"/>
              <a:t>Best Practice:</a:t>
            </a:r>
            <a:br>
              <a:rPr lang="en-IN" dirty="0"/>
            </a:br>
            <a:r>
              <a:rPr lang="en-IN" dirty="0"/>
              <a:t>Add custom log statements in your Glue script for clarity:</a:t>
            </a:r>
          </a:p>
          <a:p>
            <a:pPr marL="0" indent="0">
              <a:buNone/>
            </a:pPr>
            <a:r>
              <a:rPr lang="en-IN" dirty="0"/>
              <a:t>Code: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logger.info("Transform step completed successfully.")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8819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0CC5B-5A1F-86AC-C2A2-FA3D77F99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Setting Up CloudWatch Alarms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14511-1852-F1C7-8F5C-E51C32F19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Theory:</a:t>
            </a:r>
            <a:br>
              <a:rPr lang="en-IN" dirty="0"/>
            </a:br>
            <a:r>
              <a:rPr lang="en-IN" dirty="0"/>
              <a:t>CloudWatch alarms monitor metrics and notify via SNS.</a:t>
            </a:r>
            <a:br>
              <a:rPr lang="en-IN" dirty="0"/>
            </a:br>
            <a:r>
              <a:rPr lang="en-IN" b="1" dirty="0"/>
              <a:t>Steps:</a:t>
            </a:r>
            <a:br>
              <a:rPr lang="en-IN" dirty="0"/>
            </a:br>
            <a:r>
              <a:rPr lang="en-IN" dirty="0"/>
              <a:t>1️⃣ Choose metric (e.g., Glue Job Failures)</a:t>
            </a:r>
            <a:br>
              <a:rPr lang="en-IN" dirty="0"/>
            </a:br>
            <a:r>
              <a:rPr lang="en-IN" dirty="0"/>
              <a:t>2️⃣ Define threshold (e.g., &gt; 0 errors)</a:t>
            </a:r>
            <a:br>
              <a:rPr lang="en-IN" dirty="0"/>
            </a:br>
            <a:r>
              <a:rPr lang="en-IN" dirty="0"/>
              <a:t>3️⃣ Link SNS topic for email/SMS alert</a:t>
            </a:r>
            <a:br>
              <a:rPr lang="en-IN" dirty="0"/>
            </a:br>
            <a:r>
              <a:rPr lang="en-IN" b="1" dirty="0"/>
              <a:t>Use Case:</a:t>
            </a:r>
            <a:br>
              <a:rPr lang="en-IN" dirty="0"/>
            </a:br>
            <a:r>
              <a:rPr lang="en-IN" dirty="0"/>
              <a:t>Alert when daily ETL job fails more than once.</a:t>
            </a:r>
          </a:p>
        </p:txBody>
      </p:sp>
    </p:spTree>
    <p:extLst>
      <p:ext uri="{BB962C8B-B14F-4D97-AF65-F5344CB8AC3E}">
        <p14:creationId xmlns:p14="http://schemas.microsoft.com/office/powerpoint/2010/main" val="3218581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96B9E-787E-00DC-79BB-494CEDBA6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Dashboards and Visualization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7F852-6CB1-A53B-5F8D-A971E1498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Theory:</a:t>
            </a:r>
            <a:br>
              <a:rPr lang="en-IN" dirty="0"/>
            </a:br>
            <a:r>
              <a:rPr lang="en-IN" dirty="0"/>
              <a:t>CloudWatch Dashboards provide real-time visualizations.</a:t>
            </a:r>
            <a:br>
              <a:rPr lang="en-IN" dirty="0"/>
            </a:br>
            <a:r>
              <a:rPr lang="en-IN" b="1" dirty="0"/>
              <a:t>Example Metrics to Track:</a:t>
            </a:r>
            <a:endParaRPr lang="en-IN" dirty="0"/>
          </a:p>
          <a:p>
            <a:r>
              <a:rPr lang="en-IN" dirty="0"/>
              <a:t>Number of Lambda Invocations</a:t>
            </a:r>
          </a:p>
          <a:p>
            <a:r>
              <a:rPr lang="en-IN" dirty="0"/>
              <a:t>Glue Job Runtime Duration</a:t>
            </a:r>
          </a:p>
          <a:p>
            <a:r>
              <a:rPr lang="en-IN" dirty="0"/>
              <a:t>SQS Queue Size</a:t>
            </a:r>
          </a:p>
          <a:p>
            <a:r>
              <a:rPr lang="en-IN" dirty="0"/>
              <a:t>Athena Query Success Count</a:t>
            </a:r>
            <a:br>
              <a:rPr lang="en-IN" dirty="0"/>
            </a:br>
            <a:r>
              <a:rPr lang="en-IN" b="1" dirty="0"/>
              <a:t>Best Practice:</a:t>
            </a:r>
            <a:br>
              <a:rPr lang="en-IN" dirty="0"/>
            </a:br>
            <a:r>
              <a:rPr lang="en-IN" dirty="0"/>
              <a:t>Create one dashboard per environment (Dev, Stage, Prod).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7914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8F09A-B59A-B1FC-AF7F-D07E2240C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Integration with Other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02DC7-7B76-0ECC-27DC-083B3B859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CloudWatch Integrations:</a:t>
            </a:r>
            <a:endParaRPr lang="en-IN" dirty="0"/>
          </a:p>
          <a:p>
            <a:r>
              <a:rPr lang="en-IN" b="1" dirty="0"/>
              <a:t>SNS:</a:t>
            </a:r>
            <a:r>
              <a:rPr lang="en-IN" dirty="0"/>
              <a:t> Sends alerts via email or SMS</a:t>
            </a:r>
          </a:p>
          <a:p>
            <a:r>
              <a:rPr lang="en-IN" b="1" dirty="0" err="1"/>
              <a:t>EventBridge</a:t>
            </a:r>
            <a:r>
              <a:rPr lang="en-IN" b="1" dirty="0"/>
              <a:t>:</a:t>
            </a:r>
            <a:r>
              <a:rPr lang="en-IN" dirty="0"/>
              <a:t> Automates triggers based on events</a:t>
            </a:r>
          </a:p>
          <a:p>
            <a:r>
              <a:rPr lang="en-IN" b="1" dirty="0"/>
              <a:t>AWS Budgets:</a:t>
            </a:r>
            <a:r>
              <a:rPr lang="en-IN" dirty="0"/>
              <a:t> Cost monitoring</a:t>
            </a:r>
          </a:p>
          <a:p>
            <a:r>
              <a:rPr lang="en-IN" b="1" dirty="0"/>
              <a:t>Logs Insights:</a:t>
            </a:r>
            <a:r>
              <a:rPr lang="en-IN" dirty="0"/>
              <a:t> Query logs using SQL-like syntax</a:t>
            </a:r>
            <a:br>
              <a:rPr lang="en-IN" dirty="0"/>
            </a:br>
            <a:r>
              <a:rPr lang="en-IN" b="1" dirty="0"/>
              <a:t>Example:</a:t>
            </a:r>
            <a:br>
              <a:rPr lang="en-IN" dirty="0"/>
            </a:br>
            <a:r>
              <a:rPr lang="en-IN" dirty="0"/>
              <a:t>Automatically restart failed Glue jobs via </a:t>
            </a:r>
            <a:r>
              <a:rPr lang="en-IN" dirty="0" err="1"/>
              <a:t>EventBridge</a:t>
            </a:r>
            <a:r>
              <a:rPr lang="en-IN" dirty="0"/>
              <a:t> rule.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0419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C4945-582C-BDAE-4ED5-248347DED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 Practices &amp;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BEE33-6782-2B63-CAFB-E7F045DD7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Best Practices:</a:t>
            </a:r>
            <a:br>
              <a:rPr lang="en-US" dirty="0"/>
            </a:br>
            <a:r>
              <a:rPr lang="en-US" dirty="0"/>
              <a:t>✅ Always enable detailed logs for Glue and Lambda</a:t>
            </a:r>
            <a:br>
              <a:rPr lang="en-US" dirty="0"/>
            </a:br>
            <a:r>
              <a:rPr lang="en-US" dirty="0"/>
              <a:t>✅ Use logger instead of print()</a:t>
            </a:r>
            <a:br>
              <a:rPr lang="en-US" dirty="0"/>
            </a:br>
            <a:r>
              <a:rPr lang="en-US" dirty="0"/>
              <a:t>✅ Create metric filters for custom events</a:t>
            </a:r>
            <a:br>
              <a:rPr lang="en-US" dirty="0"/>
            </a:br>
            <a:r>
              <a:rPr lang="en-US" dirty="0"/>
              <a:t>✅ Archive logs to S3 for audit retention</a:t>
            </a:r>
            <a:br>
              <a:rPr lang="en-US" dirty="0"/>
            </a:br>
            <a:r>
              <a:rPr lang="en-US" dirty="0"/>
              <a:t>✅ Use alarms to detect slow or failing pipelines</a:t>
            </a:r>
            <a:br>
              <a:rPr lang="en-US" dirty="0"/>
            </a:br>
            <a:r>
              <a:rPr lang="en-US" b="1" dirty="0"/>
              <a:t>Summary:</a:t>
            </a:r>
            <a:br>
              <a:rPr lang="en-US" dirty="0"/>
            </a:br>
            <a:r>
              <a:rPr lang="en-US" dirty="0"/>
              <a:t>CloudWatch gives your AWS pipeline </a:t>
            </a:r>
            <a:r>
              <a:rPr lang="en-US" i="1" dirty="0"/>
              <a:t>eyes and ears</a:t>
            </a:r>
            <a:r>
              <a:rPr lang="en-US" dirty="0"/>
              <a:t> — it monitors, logs, and alerts, keeping your automation reliable and proactive. </a:t>
            </a:r>
            <a:r>
              <a:rPr lang="en-US"/>
              <a:t>🚀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1660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694</Words>
  <Application>Microsoft Office PowerPoint</Application>
  <PresentationFormat>Widescreen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What is Amazon CloudWatch?</vt:lpstr>
      <vt:lpstr>Why CloudWatch is Essential</vt:lpstr>
      <vt:lpstr>CloudWatch Components</vt:lpstr>
      <vt:lpstr>Log Collection in CloudWatch </vt:lpstr>
      <vt:lpstr>Example: Lambda Logging</vt:lpstr>
      <vt:lpstr>Example: Glue Job Logging</vt:lpstr>
      <vt:lpstr>Setting Up CloudWatch Alarms</vt:lpstr>
      <vt:lpstr>Dashboards and Visualization </vt:lpstr>
      <vt:lpstr>Integration with Other Services</vt:lpstr>
      <vt:lpstr>Best Practices &amp;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2025-11-12T07:00:51Z</dcterms:created>
  <dcterms:modified xsi:type="dcterms:W3CDTF">2025-11-12T07:01:15Z</dcterms:modified>
</cp:coreProperties>
</file>