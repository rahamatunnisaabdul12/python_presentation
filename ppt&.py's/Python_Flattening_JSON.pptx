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F8081-D2E9-C15D-0F54-4AED8B3CD3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69F467-6040-9584-5F1C-CD0A9F731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F15E0-D098-1052-5853-E32628F9B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79EAD-3C03-4F0B-ABA9-553DBD032E3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66D5-2A5E-459F-3BCB-439CA4A6F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694C9-229F-247C-4330-163E050E4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7E3AA-501D-474D-96E2-C7DA90F5EA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407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E51BE-88F7-A24E-4C23-C4FD79B6B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E910D-4022-F5EA-97D7-7BE4B86E4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46848-93C5-4AC2-812E-1E220989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79EAD-3C03-4F0B-ABA9-553DBD032E3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70220-0CAA-1668-3060-5EB29B2BC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DB9BD-17B5-40AF-D981-DE8F97594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7E3AA-501D-474D-96E2-C7DA90F5EA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138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3A35C-CA79-B2F4-5258-ACDEEA80E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89C29-7572-F361-1773-9AFD57A62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FE215-A13D-A339-A5AB-AA1077856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79EAD-3C03-4F0B-ABA9-553DBD032E3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2ED0A-4060-7C9D-AE86-33140B99C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92F29-2C7E-E68C-8D8B-959B52296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7E3AA-501D-474D-96E2-C7DA90F5EA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319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6ED8D-C5AF-C1C7-86E8-6BA8D5412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558CC-2671-7222-B890-587AC3082E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716C45-BBBF-E702-72DB-6364F02E07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96E501-142A-D989-C3DA-EEEAC845A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79EAD-3C03-4F0B-ABA9-553DBD032E3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8A64C-E055-C0D7-A948-1032FCE22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C16DD7-3225-7EC5-959D-6278E08E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7E3AA-501D-474D-96E2-C7DA90F5EA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145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83D68-BC02-D9E3-4A07-03A53234B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24D00E-F8BA-6BB2-63BD-C30736E7A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0BF0FC-1306-F991-A80A-4DD47A147F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207792-0A49-CDE0-F963-88D7B46DCC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3AD0AD-4A8F-38C7-BA96-8A1962C262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3EE205-E16C-3BFE-A174-969A7CA3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79EAD-3C03-4F0B-ABA9-553DBD032E3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97A7A1-BE91-8599-C309-37CDA1DDE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8EEB35-E3AF-8DDA-7347-27532C190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7E3AA-501D-474D-96E2-C7DA90F5EA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871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03785-8F86-519B-F653-1E4F6A339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C1309A-6A10-C369-64F9-C93E3868E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79EAD-3C03-4F0B-ABA9-553DBD032E3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23AB3E-A406-2A72-CEF3-A955AEDAB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6E1C80-267D-2BC3-6C5D-6F30DC25F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7E3AA-501D-474D-96E2-C7DA90F5EA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304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FA6F8A-2467-BE7A-703D-D736BA2F0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79EAD-3C03-4F0B-ABA9-553DBD032E3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E283FF-94FB-8CB3-B8B3-5CD4A310E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45B88-9BF7-E6E1-C370-8B59C3A3F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7E3AA-501D-474D-96E2-C7DA90F5EA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57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21CD3-87F0-28C5-E70B-0CA8E0F59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56D12-D3CE-E640-878B-96BDFAB39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9AD8AD-4D7B-3868-4881-6ADF4E3A92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DB8F2-1A3E-160E-19BE-8FC60D588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79EAD-3C03-4F0B-ABA9-553DBD032E3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D172A7-406B-AF3E-54EF-3D44D7BC9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D3B72-A167-79F7-A6F6-D00AAC556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7E3AA-501D-474D-96E2-C7DA90F5EA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42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63A0F-C8EF-05CC-4F4D-D7D62DF8A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76A574-CA18-FBCA-A9A5-45C7428ADA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2B12A9-2F0D-216C-816B-1068B98325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5F146-C0B4-90DD-D43D-FF473A7D6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79EAD-3C03-4F0B-ABA9-553DBD032E3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3404AF-33A1-4A67-5E19-3E53C428E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75AED1-6F7A-4F3C-AEE2-D1692647A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7E3AA-501D-474D-96E2-C7DA90F5EA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833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A0AA0-D731-36F8-7C20-38BBB1931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D1BA01-5428-60D4-8419-40D12E490C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87FF2-C206-1D61-3250-A5DCEC9A3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79EAD-3C03-4F0B-ABA9-553DBD032E3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25025-4FD0-2923-8C0D-B2C1DF476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07033-1197-6567-C57F-2CBBD65D1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7E3AA-501D-474D-96E2-C7DA90F5EA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923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9F4012-876B-AFF8-0DFE-A2887A2D92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DB7EC-DDBF-1A66-CB5F-DCD849BFD5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B18D7-4F39-16FD-0B9E-7ABF1FF78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79EAD-3C03-4F0B-ABA9-553DBD032E3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4FBD8-EA28-2930-4E11-52715D1ED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61845-302E-D016-AB9F-2E95C7680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7E3AA-501D-474D-96E2-C7DA90F5EA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436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8D0EBB-38B6-215F-2698-160A93A6B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6C066-9E00-A991-2539-C92771BA6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9F39A-B5D6-6E5D-40EB-2C6D401CFB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79EAD-3C03-4F0B-ABA9-553DBD032E3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3E772-F10D-7150-33CB-9320764C9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DD81D-E964-5611-4460-7E49C5B667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87E3AA-501D-474D-96E2-C7DA90F5EA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84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876FB-B26A-171B-9DC1-C9C305DA31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5242" y="1122363"/>
            <a:ext cx="9432758" cy="89894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Flattening JSON into Tabular Rows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8AD3AC-9E55-095C-56A5-B2BEF69A29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5242" y="2165684"/>
            <a:ext cx="9432758" cy="3092116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Flattening converts </a:t>
            </a:r>
            <a:r>
              <a:rPr lang="en-US" sz="2800" b="1" dirty="0"/>
              <a:t>nested JSON</a:t>
            </a:r>
            <a:r>
              <a:rPr lang="en-US" sz="2800" dirty="0"/>
              <a:t> into </a:t>
            </a:r>
            <a:r>
              <a:rPr lang="en-US" sz="2800" b="1" dirty="0"/>
              <a:t>row-based tabular data</a:t>
            </a:r>
            <a:r>
              <a:rPr lang="en-US" sz="2800" dirty="0"/>
              <a:t> — ideal for uploading to Redshift, Athena, or CSVs.</a:t>
            </a:r>
            <a:br>
              <a:rPr lang="en-US" sz="2800" dirty="0"/>
            </a:br>
            <a:r>
              <a:rPr lang="en-US" sz="2800" dirty="0"/>
              <a:t>Used in your data pipelines to prepare JSON for analysis.</a:t>
            </a:r>
          </a:p>
          <a:p>
            <a:pPr algn="l"/>
            <a:r>
              <a:rPr lang="en-US" sz="2800" dirty="0"/>
              <a:t>This directly connects with your real ETL and AWS workflows, where nested JSON data (from APIs or S3) must be flattened into clean, row-based tables for analytics or Redshift loading.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945296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5D619-2755-EC01-7778-6E766423F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– Nested JSON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5D66E-0A1F-A398-0783-074032BA5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"department": "IT",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"employees": [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{"name": "Aisha", "role": "Manager", "skills": ["Python", "AWS"]},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{"name": "Rahul", "role": "Developer", "skills": ["ETL", "SQL"]}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]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}</a:t>
            </a:r>
          </a:p>
          <a:p>
            <a:pPr marL="0" indent="0">
              <a:buNone/>
            </a:pPr>
            <a:r>
              <a:rPr lang="en-US" dirty="0"/>
              <a:t>Goal → Create one row per employee.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3316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0DA46-51F8-1FC4-2447-2D1AAB740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Flattened Output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79B0C98-1EEF-2EBC-2D7A-D875A951CF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4343011"/>
              </p:ext>
            </p:extLst>
          </p:nvPr>
        </p:nvGraphicFramePr>
        <p:xfrm>
          <a:off x="368968" y="1491916"/>
          <a:ext cx="10051485" cy="2999874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764030">
                  <a:extLst>
                    <a:ext uri="{9D8B030D-6E8A-4147-A177-3AD203B41FA5}">
                      <a16:colId xmlns:a16="http://schemas.microsoft.com/office/drawing/2014/main" val="2493752198"/>
                    </a:ext>
                  </a:extLst>
                </a:gridCol>
                <a:gridCol w="2762485">
                  <a:extLst>
                    <a:ext uri="{9D8B030D-6E8A-4147-A177-3AD203B41FA5}">
                      <a16:colId xmlns:a16="http://schemas.microsoft.com/office/drawing/2014/main" val="671851634"/>
                    </a:ext>
                  </a:extLst>
                </a:gridCol>
                <a:gridCol w="2762485">
                  <a:extLst>
                    <a:ext uri="{9D8B030D-6E8A-4147-A177-3AD203B41FA5}">
                      <a16:colId xmlns:a16="http://schemas.microsoft.com/office/drawing/2014/main" val="3665865020"/>
                    </a:ext>
                  </a:extLst>
                </a:gridCol>
                <a:gridCol w="2762485">
                  <a:extLst>
                    <a:ext uri="{9D8B030D-6E8A-4147-A177-3AD203B41FA5}">
                      <a16:colId xmlns:a16="http://schemas.microsoft.com/office/drawing/2014/main" val="3907566290"/>
                    </a:ext>
                  </a:extLst>
                </a:gridCol>
              </a:tblGrid>
              <a:tr h="9999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departmen</a:t>
                      </a:r>
                      <a:r>
                        <a:rPr lang="en-IN" sz="2400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skills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3758316"/>
                  </a:ext>
                </a:extLst>
              </a:tr>
              <a:tr h="9999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Aisha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Manager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['</a:t>
                      </a:r>
                      <a:r>
                        <a:rPr lang="en-IN" sz="2400" dirty="0" err="1"/>
                        <a:t>Python','AWS</a:t>
                      </a:r>
                      <a:r>
                        <a:rPr lang="en-IN" sz="2400" dirty="0"/>
                        <a:t>']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26565"/>
                  </a:ext>
                </a:extLst>
              </a:tr>
              <a:tr h="9999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Rahul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Developer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['ETL','SQL']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8452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2548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1ED20-2A2B-4C4E-877B-BBCB44633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Flatten JSON?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76868-1242-FCD2-60D9-B8B710996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Easier to analyze and query</a:t>
            </a:r>
          </a:p>
          <a:p>
            <a:r>
              <a:rPr lang="en-US" sz="3200" dirty="0"/>
              <a:t>Required for BI tools and databases</a:t>
            </a:r>
          </a:p>
          <a:p>
            <a:r>
              <a:rPr lang="en-US" sz="3200" dirty="0"/>
              <a:t>Converts nested keys into simple columns</a:t>
            </a:r>
          </a:p>
          <a:p>
            <a:r>
              <a:rPr lang="en-US" sz="3200" dirty="0"/>
              <a:t>Common in ETL or Glue transformations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0093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A021F-92DD-DF44-ED57-F46845E2D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Using </a:t>
            </a:r>
            <a:r>
              <a:rPr lang="en-IN" b="1" dirty="0" err="1"/>
              <a:t>pandas.json_normalize</a:t>
            </a:r>
            <a:r>
              <a:rPr lang="en-IN" b="1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01EA0-AE3F-7C20-C459-B8D8F8B3D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import pandas as pd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from pandas import </a:t>
            </a:r>
            <a:r>
              <a:rPr lang="en-US" dirty="0" err="1">
                <a:solidFill>
                  <a:schemeClr val="accent6"/>
                </a:solidFill>
              </a:rPr>
              <a:t>json_normalize</a:t>
            </a: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df</a:t>
            </a:r>
            <a:r>
              <a:rPr lang="en-US" dirty="0">
                <a:solidFill>
                  <a:schemeClr val="accent6"/>
                </a:solidFill>
              </a:rPr>
              <a:t> = </a:t>
            </a:r>
            <a:r>
              <a:rPr lang="en-US" dirty="0" err="1">
                <a:solidFill>
                  <a:schemeClr val="accent6"/>
                </a:solidFill>
              </a:rPr>
              <a:t>json_normalize</a:t>
            </a:r>
            <a:r>
              <a:rPr lang="en-US" dirty="0">
                <a:solidFill>
                  <a:schemeClr val="accent6"/>
                </a:solidFill>
              </a:rPr>
              <a:t>(data, "employees", ["department"])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print(</a:t>
            </a:r>
            <a:r>
              <a:rPr lang="en-US" dirty="0" err="1">
                <a:solidFill>
                  <a:schemeClr val="accent6"/>
                </a:solidFill>
              </a:rPr>
              <a:t>df</a:t>
            </a:r>
            <a:r>
              <a:rPr lang="en-US" dirty="0">
                <a:solidFill>
                  <a:schemeClr val="accent6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/>
              <a:t>Converts nested objects into rows automatically.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0636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9E67E-7C74-69D2-F958-47B01C007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Handling Multi-Level JSON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EC0FB-6A67-5B76-14E9-F2542520F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"organization": "</a:t>
            </a:r>
            <a:r>
              <a:rPr lang="en-IN" dirty="0" err="1">
                <a:solidFill>
                  <a:schemeClr val="accent6"/>
                </a:solidFill>
              </a:rPr>
              <a:t>TechCorp</a:t>
            </a:r>
            <a:r>
              <a:rPr lang="en-IN" dirty="0">
                <a:solidFill>
                  <a:schemeClr val="accent6"/>
                </a:solidFill>
              </a:rPr>
              <a:t>",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"departments": [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{"name": "IT", "employees": [{"name": "Aisha"}, {"name": "Rahul"}]},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{"name": "HR", "employees": [{"name": "Fatima"}]}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]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}</a:t>
            </a:r>
          </a:p>
          <a:p>
            <a:pPr marL="0" indent="0">
              <a:buNone/>
            </a:pPr>
            <a:r>
              <a:rPr lang="en-US" dirty="0"/>
              <a:t>Flatten to get one row per employee with department info.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9283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969F6-995A-FF2E-1DB1-BFC45A425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Custom Flattening (Nested Loops)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C30E0-30FC-160B-B068-7444383C3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rows = []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for dept in data["departments"]: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for emp in dept["employees"]: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    </a:t>
            </a:r>
            <a:r>
              <a:rPr lang="en-US" dirty="0" err="1">
                <a:solidFill>
                  <a:schemeClr val="accent6"/>
                </a:solidFill>
              </a:rPr>
              <a:t>rows.append</a:t>
            </a:r>
            <a:r>
              <a:rPr lang="en-US" dirty="0">
                <a:solidFill>
                  <a:schemeClr val="accent6"/>
                </a:solidFill>
              </a:rPr>
              <a:t>({"department": dept["name"], "employee": emp["name"]})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4911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40830-72BE-04C1-BF4B-F813E29B9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80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Example Output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AFCC9D1-DF11-3B96-3F2D-46E135C705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8132806"/>
              </p:ext>
            </p:extLst>
          </p:nvPr>
        </p:nvGraphicFramePr>
        <p:xfrm>
          <a:off x="818147" y="1812758"/>
          <a:ext cx="10535653" cy="2920056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525253">
                  <a:extLst>
                    <a:ext uri="{9D8B030D-6E8A-4147-A177-3AD203B41FA5}">
                      <a16:colId xmlns:a16="http://schemas.microsoft.com/office/drawing/2014/main" val="280007374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2697129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19901467"/>
                    </a:ext>
                  </a:extLst>
                </a:gridCol>
              </a:tblGrid>
              <a:tr h="730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organization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employee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1278243"/>
                  </a:ext>
                </a:extLst>
              </a:tr>
              <a:tr h="730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TechCorp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Aisha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8684707"/>
                  </a:ext>
                </a:extLst>
              </a:tr>
              <a:tr h="730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TechCorp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Rahul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4461647"/>
                  </a:ext>
                </a:extLst>
              </a:tr>
              <a:tr h="730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TechCorp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Fatima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8052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6640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51387-5BF6-29A2-00BE-8CC8E7CFF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Common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682A2-6EBB-D081-6C4C-5C7FFEA2D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Missing keys across nested levels</a:t>
            </a:r>
          </a:p>
          <a:p>
            <a:r>
              <a:rPr lang="en-US" dirty="0"/>
              <a:t>Different JSON structures in same file</a:t>
            </a:r>
          </a:p>
          <a:p>
            <a:r>
              <a:rPr lang="en-US" dirty="0"/>
              <a:t>Large JSONs causing memory issues</a:t>
            </a:r>
          </a:p>
          <a:p>
            <a:r>
              <a:rPr lang="en-US" dirty="0"/>
              <a:t>✅ Fix: use errors='ignore' or chunk processing.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8060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09330-5C9F-1E7A-23B4-1ED49A1B6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8486F-F364-7D19-7C13-2C057431B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dirty="0"/>
              <a:t>✅ Flattening = convert nested → tabular</a:t>
            </a:r>
            <a:br>
              <a:rPr lang="en-IN" sz="3200" dirty="0"/>
            </a:br>
            <a:r>
              <a:rPr lang="en-IN" sz="3200" dirty="0"/>
              <a:t>✅ Use </a:t>
            </a:r>
            <a:r>
              <a:rPr lang="en-IN" sz="3200" dirty="0" err="1"/>
              <a:t>pandas.json_normalize</a:t>
            </a:r>
            <a:r>
              <a:rPr lang="en-IN" sz="3200" dirty="0"/>
              <a:t>() for fast results</a:t>
            </a:r>
            <a:br>
              <a:rPr lang="en-IN" sz="3200" dirty="0"/>
            </a:br>
            <a:r>
              <a:rPr lang="en-IN" sz="3200" dirty="0"/>
              <a:t>✅ Use loops for custom or deep nesting</a:t>
            </a:r>
            <a:br>
              <a:rPr lang="en-IN" sz="3200" dirty="0"/>
            </a:br>
            <a:r>
              <a:rPr lang="en-IN" sz="3200" dirty="0"/>
              <a:t>✅ Ready for CSV, Parquet, or Redshift upload</a:t>
            </a:r>
          </a:p>
        </p:txBody>
      </p:sp>
    </p:spTree>
    <p:extLst>
      <p:ext uri="{BB962C8B-B14F-4D97-AF65-F5344CB8AC3E}">
        <p14:creationId xmlns:p14="http://schemas.microsoft.com/office/powerpoint/2010/main" val="2515625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</Words>
  <Application>Microsoft Office PowerPoint</Application>
  <PresentationFormat>Widescreen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Flattening JSON into Tabular Rows</vt:lpstr>
      <vt:lpstr>Example – Nested JSON</vt:lpstr>
      <vt:lpstr>Flattened Output</vt:lpstr>
      <vt:lpstr>Why Flatten JSON?</vt:lpstr>
      <vt:lpstr>Using pandas.json_normalize()</vt:lpstr>
      <vt:lpstr>Handling Multi-Level JSON</vt:lpstr>
      <vt:lpstr>Custom Flattening (Nested Loops)</vt:lpstr>
      <vt:lpstr>Example Output </vt:lpstr>
      <vt:lpstr>Common Issues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2025-11-06T06:10:44Z</dcterms:created>
  <dcterms:modified xsi:type="dcterms:W3CDTF">2025-11-06T06:11:34Z</dcterms:modified>
</cp:coreProperties>
</file>