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48CE3F5-CB33-43BA-9EA7-31C0DAC7CDAE}" type="datetimeFigureOut">
              <a:rPr lang="en-IN" smtClean="0"/>
              <a:t>09-11-2025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5C45F08-7430-485E-AD7C-A626A4BB81E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39413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C45F08-7430-485E-AD7C-A626A4BB81E7}" type="slidenum">
              <a:rPr lang="en-IN" smtClean="0"/>
              <a:t>13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818389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 to Supply Chain Management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sz="2400" dirty="0"/>
              <a:t>Supply Chain Management (SCM) coordinates sourcing, manufacturing, and delivery processes to ensure smooth flow of goods and information.</a:t>
            </a:r>
          </a:p>
          <a:p>
            <a:endParaRPr sz="2400" dirty="0"/>
          </a:p>
          <a:p>
            <a:r>
              <a:rPr sz="2400" dirty="0"/>
              <a:t>Key Points:</a:t>
            </a:r>
          </a:p>
          <a:p>
            <a:r>
              <a:rPr sz="2400" dirty="0"/>
              <a:t>- Manages the entire lifecycle from suppliers to customers</a:t>
            </a:r>
          </a:p>
          <a:p>
            <a:r>
              <a:rPr sz="2400" dirty="0"/>
              <a:t>- Focuses on cost, quality, and responsiveness</a:t>
            </a:r>
          </a:p>
          <a:p>
            <a:r>
              <a:rPr sz="2400" dirty="0"/>
              <a:t>- Integrates logistics, inventory, and planning</a:t>
            </a:r>
          </a:p>
          <a:p>
            <a:endParaRPr sz="2400" dirty="0"/>
          </a:p>
          <a:p>
            <a:r>
              <a:rPr sz="2400" dirty="0"/>
              <a:t>Example: Apple managing global suppliers and assembly plants efficiently.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Procurement and Sourcing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sz="2800" dirty="0"/>
              <a:t>Procurement involves acquiring raw materials or services; sourcing identifies and manages suppliers.</a:t>
            </a:r>
          </a:p>
          <a:p>
            <a:endParaRPr sz="2800" dirty="0"/>
          </a:p>
          <a:p>
            <a:r>
              <a:rPr sz="2800" dirty="0"/>
              <a:t>Key Points:</a:t>
            </a:r>
          </a:p>
          <a:p>
            <a:r>
              <a:rPr sz="2800" dirty="0"/>
              <a:t>- Ensures supply reliability and quality</a:t>
            </a:r>
          </a:p>
          <a:p>
            <a:r>
              <a:rPr sz="2800" dirty="0"/>
              <a:t>- Involves contract negotiation and vendor selection</a:t>
            </a:r>
          </a:p>
          <a:p>
            <a:r>
              <a:rPr sz="2800" dirty="0"/>
              <a:t>- Reduces costs and dependency</a:t>
            </a:r>
          </a:p>
          <a:p>
            <a:endParaRPr sz="2800" dirty="0"/>
          </a:p>
          <a:p>
            <a:r>
              <a:rPr sz="2800" dirty="0"/>
              <a:t>Example: Automakers sourcing steel and electronics globally.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Inventory Management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sz="2800" dirty="0"/>
              <a:t>Inventory management ensures the right stock levels to meet demand efficiently.</a:t>
            </a:r>
          </a:p>
          <a:p>
            <a:endParaRPr sz="2800" dirty="0"/>
          </a:p>
          <a:p>
            <a:r>
              <a:rPr sz="2800" dirty="0"/>
              <a:t>Key Points:</a:t>
            </a:r>
          </a:p>
          <a:p>
            <a:r>
              <a:rPr sz="2800" dirty="0"/>
              <a:t>- Avoids overstocking and stockouts</a:t>
            </a:r>
          </a:p>
          <a:p>
            <a:r>
              <a:rPr sz="2800" dirty="0"/>
              <a:t>- Uses EOQ, safety stock, and ABC analysis</a:t>
            </a:r>
          </a:p>
          <a:p>
            <a:r>
              <a:rPr sz="2800" dirty="0"/>
              <a:t>- Balances cost and service level</a:t>
            </a:r>
          </a:p>
          <a:p>
            <a:endParaRPr sz="2800" dirty="0"/>
          </a:p>
          <a:p>
            <a:r>
              <a:rPr sz="2800" dirty="0"/>
              <a:t>Example: Amazon tracking stock automatically using real-time analytics.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Logistics and Transportation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sz="2800" dirty="0"/>
              <a:t>Logistics plans and controls product movement; transportation moves goods between locations.</a:t>
            </a:r>
          </a:p>
          <a:p>
            <a:endParaRPr sz="2800" dirty="0"/>
          </a:p>
          <a:p>
            <a:r>
              <a:rPr sz="2800" dirty="0"/>
              <a:t>Key Points:</a:t>
            </a:r>
          </a:p>
          <a:p>
            <a:r>
              <a:rPr sz="2800" dirty="0"/>
              <a:t>- Uses multi-modal transport (road, air, rail, sea)</a:t>
            </a:r>
          </a:p>
          <a:p>
            <a:r>
              <a:rPr sz="2800" dirty="0"/>
              <a:t>- Focuses on speed, cost, and reliability</a:t>
            </a:r>
          </a:p>
          <a:p>
            <a:r>
              <a:rPr sz="2800" dirty="0"/>
              <a:t>- Essential for last-mile delivery</a:t>
            </a:r>
          </a:p>
          <a:p>
            <a:endParaRPr sz="2800" dirty="0"/>
          </a:p>
          <a:p>
            <a:r>
              <a:rPr sz="2800" dirty="0"/>
              <a:t>Example: FedEx optimizing delivery routes using GPS and AI.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Warehousing and Distribution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sz="2800" dirty="0"/>
              <a:t>Warehousing stores goods; distribution ensures timely customer delivery.</a:t>
            </a:r>
          </a:p>
          <a:p>
            <a:endParaRPr sz="2800" dirty="0"/>
          </a:p>
          <a:p>
            <a:r>
              <a:rPr sz="2800" dirty="0"/>
              <a:t>Key Points:</a:t>
            </a:r>
          </a:p>
          <a:p>
            <a:r>
              <a:rPr sz="2800" dirty="0"/>
              <a:t>- Uses automated systems for picking and packing</a:t>
            </a:r>
          </a:p>
          <a:p>
            <a:r>
              <a:rPr sz="2800" dirty="0"/>
              <a:t>- Regional hubs reduce lead time</a:t>
            </a:r>
          </a:p>
          <a:p>
            <a:r>
              <a:rPr sz="2800" dirty="0"/>
              <a:t>- Improves fulfillment efficiency</a:t>
            </a:r>
          </a:p>
          <a:p>
            <a:endParaRPr sz="2800" dirty="0"/>
          </a:p>
          <a:p>
            <a:r>
              <a:rPr sz="2800" dirty="0"/>
              <a:t>Example: Flipkart’s automated fulfillment centers for same-day delivery.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Demand Forecasting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sz="2800" dirty="0"/>
              <a:t>Demand forecasting predicts future sales to align supply with demand.</a:t>
            </a:r>
          </a:p>
          <a:p>
            <a:endParaRPr sz="2800" dirty="0"/>
          </a:p>
          <a:p>
            <a:r>
              <a:rPr sz="2800" dirty="0"/>
              <a:t>Key Points:</a:t>
            </a:r>
          </a:p>
          <a:p>
            <a:r>
              <a:rPr sz="2800" dirty="0"/>
              <a:t>- Uses statistical and machine learning models</a:t>
            </a:r>
          </a:p>
          <a:p>
            <a:r>
              <a:rPr sz="2800" dirty="0"/>
              <a:t>- Prevents shortages and excess inventory</a:t>
            </a:r>
          </a:p>
          <a:p>
            <a:r>
              <a:rPr sz="2800" dirty="0"/>
              <a:t>- Improves procurement planning</a:t>
            </a:r>
          </a:p>
          <a:p>
            <a:endParaRPr sz="2800" dirty="0"/>
          </a:p>
          <a:p>
            <a:r>
              <a:rPr sz="2800" dirty="0"/>
              <a:t>Example: Zara predicting seasonal demand using data analytics.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Supplier Relationship Management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sz="2800" dirty="0"/>
              <a:t>SRM manages collaboration and performance with key suppliers.</a:t>
            </a:r>
          </a:p>
          <a:p>
            <a:endParaRPr sz="2800" dirty="0"/>
          </a:p>
          <a:p>
            <a:r>
              <a:rPr sz="2800" dirty="0"/>
              <a:t>Key Points:</a:t>
            </a:r>
          </a:p>
          <a:p>
            <a:r>
              <a:rPr sz="2800" dirty="0"/>
              <a:t>- Builds trust and transparency</a:t>
            </a:r>
          </a:p>
          <a:p>
            <a:r>
              <a:rPr sz="2800" dirty="0"/>
              <a:t>- Encourages innovation</a:t>
            </a:r>
          </a:p>
          <a:p>
            <a:r>
              <a:rPr sz="2800" dirty="0"/>
              <a:t>- Reduces supply chain risks</a:t>
            </a:r>
          </a:p>
          <a:p>
            <a:endParaRPr sz="2800" dirty="0"/>
          </a:p>
          <a:p>
            <a:r>
              <a:rPr sz="2800" dirty="0"/>
              <a:t>Example: Toyota co-developing new parts with suppliers.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Order Fulfillment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sz="2800" dirty="0"/>
              <a:t>Order fulfillment handles order receipt, processing, and delivery.</a:t>
            </a:r>
          </a:p>
          <a:p>
            <a:endParaRPr sz="2800" dirty="0"/>
          </a:p>
          <a:p>
            <a:r>
              <a:rPr sz="2800" dirty="0"/>
              <a:t>Key Points:</a:t>
            </a:r>
          </a:p>
          <a:p>
            <a:r>
              <a:rPr sz="2800" dirty="0"/>
              <a:t>- Automation improves accuracy and speed</a:t>
            </a:r>
          </a:p>
          <a:p>
            <a:r>
              <a:rPr sz="2800" dirty="0"/>
              <a:t>- Directly affects customer satisfaction</a:t>
            </a:r>
          </a:p>
          <a:p>
            <a:r>
              <a:rPr sz="2800" dirty="0"/>
              <a:t>- Integrates CRM and warehouse systems</a:t>
            </a:r>
          </a:p>
          <a:p>
            <a:endParaRPr sz="2800" dirty="0"/>
          </a:p>
          <a:p>
            <a:r>
              <a:rPr sz="2800" dirty="0"/>
              <a:t>Example: Amazon Prime processing millions of orders through robotic centers.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Reverse Logistics (Returns Handling)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sz="2800" dirty="0"/>
              <a:t>Reverse logistics manages product returns, repairs, or recycling.</a:t>
            </a:r>
          </a:p>
          <a:p>
            <a:endParaRPr sz="2800" dirty="0"/>
          </a:p>
          <a:p>
            <a:r>
              <a:rPr sz="2800" dirty="0"/>
              <a:t>Key Points:</a:t>
            </a:r>
          </a:p>
          <a:p>
            <a:r>
              <a:rPr sz="2800" dirty="0"/>
              <a:t>- Improves sustainability and recovery value</a:t>
            </a:r>
          </a:p>
          <a:p>
            <a:r>
              <a:rPr sz="2800" dirty="0"/>
              <a:t>- Involves inspection and repair processes</a:t>
            </a:r>
          </a:p>
          <a:p>
            <a:r>
              <a:rPr sz="2800" dirty="0"/>
              <a:t>- Helps build brand reputation</a:t>
            </a:r>
          </a:p>
          <a:p>
            <a:endParaRPr sz="2800" dirty="0"/>
          </a:p>
          <a:p>
            <a:r>
              <a:rPr sz="2800" dirty="0"/>
              <a:t>Example: Apple refurbishing returned iPhones for resale.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Supply Chain Planning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sz="2800" dirty="0"/>
              <a:t>Planning aligns production, demand, and logistics to ensure balance.</a:t>
            </a:r>
          </a:p>
          <a:p>
            <a:endParaRPr sz="2800" dirty="0"/>
          </a:p>
          <a:p>
            <a:r>
              <a:rPr sz="2800" dirty="0"/>
              <a:t>Key Points:</a:t>
            </a:r>
          </a:p>
          <a:p>
            <a:r>
              <a:rPr sz="2800" dirty="0"/>
              <a:t>- Uses forecasting tools for accuracy</a:t>
            </a:r>
          </a:p>
          <a:p>
            <a:r>
              <a:rPr sz="2800" dirty="0"/>
              <a:t>- Coordinates production and resource allocation</a:t>
            </a:r>
          </a:p>
          <a:p>
            <a:r>
              <a:rPr sz="2800" dirty="0"/>
              <a:t>- Reduces cost and delays</a:t>
            </a:r>
          </a:p>
          <a:p>
            <a:endParaRPr sz="2800" dirty="0"/>
          </a:p>
          <a:p>
            <a:r>
              <a:rPr sz="2800" dirty="0"/>
              <a:t>Example: Nestlé synchronizing global raw material supply with seasonal production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Lean Supply Chain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sz="2800" dirty="0"/>
              <a:t>Lean supply chain focuses on minimizing waste and maximizing value.</a:t>
            </a:r>
          </a:p>
          <a:p>
            <a:endParaRPr sz="2800" dirty="0"/>
          </a:p>
          <a:p>
            <a:r>
              <a:rPr sz="2800" dirty="0"/>
              <a:t>Key Points:</a:t>
            </a:r>
          </a:p>
          <a:p>
            <a:r>
              <a:rPr sz="2800" dirty="0"/>
              <a:t>- Removes non-value processes</a:t>
            </a:r>
          </a:p>
          <a:p>
            <a:r>
              <a:rPr sz="2800" dirty="0"/>
              <a:t>- Increases responsiveness</a:t>
            </a:r>
          </a:p>
          <a:p>
            <a:r>
              <a:rPr sz="2800" dirty="0"/>
              <a:t>- Improves operational efficiency</a:t>
            </a:r>
          </a:p>
          <a:p>
            <a:endParaRPr sz="2800" dirty="0"/>
          </a:p>
          <a:p>
            <a:r>
              <a:rPr sz="2800" dirty="0"/>
              <a:t>Example: Dell’s build-to-order model eliminates excess inventory.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Just-In-Time (JIT)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sz="2800" dirty="0"/>
              <a:t>JIT delivers materials only when needed in production.</a:t>
            </a:r>
          </a:p>
          <a:p>
            <a:endParaRPr sz="2800" dirty="0"/>
          </a:p>
          <a:p>
            <a:r>
              <a:rPr sz="2800" dirty="0"/>
              <a:t>Key Points:</a:t>
            </a:r>
          </a:p>
          <a:p>
            <a:r>
              <a:rPr sz="2800" dirty="0"/>
              <a:t>- Reduces inventory holding costs</a:t>
            </a:r>
          </a:p>
          <a:p>
            <a:r>
              <a:rPr sz="2800" dirty="0"/>
              <a:t>- Requires high supplier reliability</a:t>
            </a:r>
          </a:p>
          <a:p>
            <a:r>
              <a:rPr sz="2800" dirty="0"/>
              <a:t>- Improves efficiency and cash flow</a:t>
            </a:r>
          </a:p>
          <a:p>
            <a:endParaRPr sz="2800" dirty="0"/>
          </a:p>
          <a:p>
            <a:r>
              <a:rPr sz="2800" dirty="0"/>
              <a:t>Example: Toyota using JIT to synchronize part delivery with assembly schedules.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Supply Chain Automation (AI &amp; IoT)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sz="2800" dirty="0"/>
              <a:t>Automation enhances visibility, efficiency, and decision-making.</a:t>
            </a:r>
          </a:p>
          <a:p>
            <a:endParaRPr sz="2800" dirty="0"/>
          </a:p>
          <a:p>
            <a:r>
              <a:rPr sz="2800" dirty="0"/>
              <a:t>Key Points:</a:t>
            </a:r>
          </a:p>
          <a:p>
            <a:r>
              <a:rPr sz="2800" dirty="0"/>
              <a:t>- AI predicts demand and optimizes routes</a:t>
            </a:r>
          </a:p>
          <a:p>
            <a:r>
              <a:rPr sz="2800" dirty="0"/>
              <a:t>- IoT sensors monitor real-time shipment status</a:t>
            </a:r>
          </a:p>
          <a:p>
            <a:r>
              <a:rPr sz="2800" dirty="0"/>
              <a:t>- Robotics improve warehouse speed</a:t>
            </a:r>
          </a:p>
          <a:p>
            <a:endParaRPr sz="2800" dirty="0"/>
          </a:p>
          <a:p>
            <a:r>
              <a:rPr sz="2800" dirty="0"/>
              <a:t>Example: Maersk using IoT to track global cargo movements.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Green Supply Chain / Sustainability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sz="2800" dirty="0"/>
              <a:t>Green supply chains minimize environmental impact through eco-friendly practices.</a:t>
            </a:r>
          </a:p>
          <a:p>
            <a:endParaRPr sz="2800" dirty="0"/>
          </a:p>
          <a:p>
            <a:r>
              <a:rPr sz="2800" dirty="0"/>
              <a:t>Key Points:</a:t>
            </a:r>
          </a:p>
          <a:p>
            <a:r>
              <a:rPr sz="2800" dirty="0"/>
              <a:t>- Focus on renewable energy and recyclable packaging</a:t>
            </a:r>
          </a:p>
          <a:p>
            <a:r>
              <a:rPr sz="2800" dirty="0"/>
              <a:t>- Reduces emissions and waste</a:t>
            </a:r>
          </a:p>
          <a:p>
            <a:r>
              <a:rPr sz="2800" dirty="0"/>
              <a:t>- Promotes circular economy</a:t>
            </a:r>
          </a:p>
          <a:p>
            <a:endParaRPr sz="2800" dirty="0"/>
          </a:p>
          <a:p>
            <a:r>
              <a:rPr sz="2800" dirty="0"/>
              <a:t>Example: Unilever adopting recyclable materials and electric delivery trucks.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Performance Metrics &amp; KPIs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sz="2800" dirty="0"/>
              <a:t>KPIs track supply chain performance and efficiency.</a:t>
            </a:r>
          </a:p>
          <a:p>
            <a:endParaRPr sz="2800" dirty="0"/>
          </a:p>
          <a:p>
            <a:r>
              <a:rPr sz="2800" dirty="0"/>
              <a:t>Key Points:</a:t>
            </a:r>
          </a:p>
          <a:p>
            <a:r>
              <a:rPr sz="2800" dirty="0"/>
              <a:t>- Common metrics: On-time delivery, cost per order, accuracy</a:t>
            </a:r>
          </a:p>
          <a:p>
            <a:r>
              <a:rPr sz="2800" dirty="0"/>
              <a:t>- Identify process improvements</a:t>
            </a:r>
          </a:p>
          <a:p>
            <a:r>
              <a:rPr sz="2800" dirty="0"/>
              <a:t>- Support data-driven decisions</a:t>
            </a:r>
          </a:p>
          <a:p>
            <a:endParaRPr sz="2800" dirty="0"/>
          </a:p>
          <a:p>
            <a:r>
              <a:rPr sz="2800" dirty="0"/>
              <a:t>Example: Logistics firms using real-time </a:t>
            </a:r>
            <a:r>
              <a:rPr dirty="0"/>
              <a:t>dashboards for delivery tracking.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708</Words>
  <Application>Microsoft Office PowerPoint</Application>
  <PresentationFormat>On-screen Show (4:3)</PresentationFormat>
  <Paragraphs>136</Paragraphs>
  <Slides>15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Introduction to Supply Chain Management</vt:lpstr>
      <vt:lpstr>Procurement and Sourcing</vt:lpstr>
      <vt:lpstr>Inventory Management</vt:lpstr>
      <vt:lpstr>Logistics and Transportation</vt:lpstr>
      <vt:lpstr>Warehousing and Distribution</vt:lpstr>
      <vt:lpstr>Demand Forecasting</vt:lpstr>
      <vt:lpstr>Supplier Relationship Management</vt:lpstr>
      <vt:lpstr>Order Fulfillment</vt:lpstr>
      <vt:lpstr>Reverse Logistics (Returns Handling)</vt:lpstr>
      <vt:lpstr>Supply Chain Planning</vt:lpstr>
      <vt:lpstr>Lean Supply Chain</vt:lpstr>
      <vt:lpstr>Just-In-Time (JIT) System</vt:lpstr>
      <vt:lpstr>Supply Chain Automation (AI &amp; IoT)</vt:lpstr>
      <vt:lpstr>Green Supply Chain / Sustainability</vt:lpstr>
      <vt:lpstr>Performance Metrics &amp; KPIs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hp</dc:creator>
  <cp:keywords/>
  <dc:description>generated using python-pptx</dc:description>
  <cp:lastModifiedBy>Rahamatunnisa Abdul</cp:lastModifiedBy>
  <cp:revision>2</cp:revision>
  <dcterms:created xsi:type="dcterms:W3CDTF">2013-01-27T09:14:16Z</dcterms:created>
  <dcterms:modified xsi:type="dcterms:W3CDTF">2025-11-09T09:32:07Z</dcterms:modified>
  <cp:category/>
</cp:coreProperties>
</file>