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8BA2-6323-4085-40F9-D41A1F131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359A5-3B0B-E613-DC04-9749C1474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AA044-E122-5884-E8DF-2D34DB00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A0E6E-8884-E2D5-D387-14854D51D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EA2D3-9DF7-A995-3BFB-99875899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480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7107-D844-A073-B422-0563E54F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7EA5F-8EB7-450F-64F2-013107EA5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944E4-09E7-3910-C803-3B61D1B4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C4540-9C03-8D20-7C5F-2651DDD9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6149A-68A2-3167-3567-7FCBCED5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70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EA7C-AEAC-79EC-4C63-49F0F407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6AEB1-0AF5-CA04-E56D-F010B651A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EF4EE-AA69-4A16-A384-618A52F2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1E1D3-E9D5-8977-C057-594413F4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4885D-5180-DCD6-936E-70F67EB9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45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2FBC-BB73-B900-9BF7-133AD08BA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B254-910D-99FA-9C61-0FEC3E988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4E492-871F-B966-95AD-94D0E9869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9A0EA-77DF-65E2-3029-52E7152D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C01B0-65B7-B852-6BBE-4EE651E2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03B17-E6E4-E91C-2A9F-30FE8D024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31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D46E-0F25-877A-E7CD-A313F30B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83437-25C1-3FE1-CD79-95F4DA86E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776E2-AD8D-739F-C273-36ECA019D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42A40-304E-28A3-4445-07BE99846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A16EB-2B6D-DF31-100E-480C5312F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D31057-13F5-7AD0-235E-35C22FFF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225B97-4433-FFFD-7469-19112177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6C9CA5-4F7E-B12F-354A-8EB04C56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706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62CA-1A78-FA83-D6BC-D1B027DD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9F840-1A11-0DB6-7510-D8835F1B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B5A88-1533-72B7-1058-802E26E4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6D389-EAE4-711E-89E9-4480B6F5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43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AA3A9-7B88-AF51-A737-42856CCF6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E9E5C-6E9A-83B6-6ACF-431EBEAA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76D6E-774D-2141-6EC6-F517E402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13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4C902-6AB1-F348-75EF-243EE9A0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71F4-65FF-5CF2-7751-5C1F0AD74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1D636-A316-BFEE-8892-57697930A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0FF6D-4B5C-E950-0670-D0240A8C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65B1A-E5D7-9220-66EE-91E04C02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F990F-9405-F81D-16FA-92AD3BE5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08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BDBB-05EE-6582-206E-E0F077AE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BFB78-B235-AD62-8F52-C3EF90774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4E124-F447-8ACF-8F20-89EB5D759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03644-7631-46F6-0FF1-0C14AFB62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B0D64-CC95-C2CA-EC81-6EF604D4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76C72-2F9F-DAA0-8C2D-99B911A89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43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36FE-8755-0B17-CFC9-703F004C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0F01A-55E7-AA56-B902-AC2B13E3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5F4B1-8628-6CF1-A802-5C6E7830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A6280-02FC-1458-8492-DB35E2FB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1000B-30E0-2705-E91C-918CF5DB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73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B88A1-9AEB-07F6-7FB6-F6E0B7007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DFA2F-6CB0-0DE1-326A-0FA302960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AACD0-4959-9DDB-1ED4-0724C0E2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2A3D-7F9A-CF17-8570-759D7A50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E1E6F-7C8C-ABFB-52F3-17C0C1C2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6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43FDF-0223-9F8B-1BDE-440AFEA1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A37B2-17C0-4D66-4F1B-CB683C792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5A9C2-6ED2-1667-337B-DAE7F83E9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2BB30-E649-46CE-8F0C-EEE2C3C3288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5DD6-2D6B-B6EC-FE37-0A69063E7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5A367-B5AB-9410-166B-3EC418A7F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1545A-B16D-4FAC-8A81-8375DA62E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22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39BB-F8FE-4A68-D0A8-D077F1680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495" y="1122363"/>
            <a:ext cx="9336505" cy="834774"/>
          </a:xfrm>
        </p:spPr>
        <p:txBody>
          <a:bodyPr>
            <a:normAutofit fontScale="90000"/>
          </a:bodyPr>
          <a:lstStyle/>
          <a:p>
            <a:r>
              <a:rPr lang="en-IN" dirty="0"/>
              <a:t>Consistent Error Handling (Using </a:t>
            </a:r>
            <a:r>
              <a:rPr lang="en-IN" dirty="0" err="1"/>
              <a:t>logger.error</a:t>
            </a:r>
            <a:r>
              <a:rPr lang="en-IN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EFCE6-62CA-2A3A-F49D-3C0E260B6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4611" y="1957137"/>
            <a:ext cx="9673389" cy="330066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What is Consistent Error Handling?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Consistent error handling ensures all failures are logged, tracked, and resolved predictably — rather than silently ignored.</a:t>
            </a:r>
            <a:br>
              <a:rPr lang="en-US" dirty="0"/>
            </a:br>
            <a:r>
              <a:rPr lang="en-US" dirty="0"/>
              <a:t>In Python, the logging module standardizes how warnings and errors are captured across modules.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pPr algn="l"/>
            <a:r>
              <a:rPr lang="en-US" dirty="0"/>
              <a:t>Centralized logging = unified error visibility</a:t>
            </a:r>
          </a:p>
          <a:p>
            <a:pPr algn="l"/>
            <a:r>
              <a:rPr lang="en-US" dirty="0"/>
              <a:t>Replace print() with </a:t>
            </a:r>
            <a:r>
              <a:rPr lang="en-US" dirty="0" err="1"/>
              <a:t>logger.error</a:t>
            </a:r>
            <a:r>
              <a:rPr lang="en-US" dirty="0"/>
              <a:t>() for failures</a:t>
            </a:r>
          </a:p>
          <a:p>
            <a:pPr algn="l"/>
            <a:r>
              <a:rPr lang="en-US" dirty="0"/>
              <a:t>Enables debugging, alerting, and automated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37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B8C0-CF7E-CB6A-4AA5-C9E40E27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Logging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916F0-083D-3BE3-1CB2-EB2779DD4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Without structured logging, it’s impossible to understand why jobs fail or behave inconsistently in production.</a:t>
            </a:r>
            <a:br>
              <a:rPr lang="en-US" dirty="0"/>
            </a:br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Traceability of every failure</a:t>
            </a:r>
          </a:p>
          <a:p>
            <a:r>
              <a:rPr lang="en-US" dirty="0"/>
              <a:t>Integrates with CloudWatch, </a:t>
            </a:r>
            <a:r>
              <a:rPr lang="en-US" dirty="0" err="1"/>
              <a:t>DataDog</a:t>
            </a:r>
            <a:r>
              <a:rPr lang="en-US" dirty="0"/>
              <a:t>, or ELK</a:t>
            </a:r>
          </a:p>
          <a:p>
            <a:r>
              <a:rPr lang="en-US" dirty="0"/>
              <a:t>Simplifies troubleshooting and audit trails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Instead of printing errors, log them: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logger.error</a:t>
            </a:r>
            <a:r>
              <a:rPr lang="en-US" dirty="0">
                <a:solidFill>
                  <a:srgbClr val="FF0000"/>
                </a:solidFill>
              </a:rPr>
              <a:t>("S3 write failed: %s", 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48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A64D-9F87-EF62-869D-4B61C65C2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433-0B60-74BE-C0D7-B3A507FB9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import logging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logging.basicConfig</a:t>
            </a:r>
            <a:r>
              <a:rPr lang="en-IN" dirty="0">
                <a:solidFill>
                  <a:srgbClr val="FF0000"/>
                </a:solidFill>
              </a:rPr>
              <a:t>(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filename="pipeline.log",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level=logging.INFO,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format="%(</a:t>
            </a:r>
            <a:r>
              <a:rPr lang="en-IN" dirty="0" err="1">
                <a:solidFill>
                  <a:srgbClr val="FF0000"/>
                </a:solidFill>
              </a:rPr>
              <a:t>asctime</a:t>
            </a:r>
            <a:r>
              <a:rPr lang="en-IN" dirty="0">
                <a:solidFill>
                  <a:srgbClr val="FF0000"/>
                </a:solidFill>
              </a:rPr>
              <a:t>)s - %(</a:t>
            </a:r>
            <a:r>
              <a:rPr lang="en-IN" dirty="0" err="1">
                <a:solidFill>
                  <a:srgbClr val="FF0000"/>
                </a:solidFill>
              </a:rPr>
              <a:t>levelname</a:t>
            </a:r>
            <a:r>
              <a:rPr lang="en-IN" dirty="0">
                <a:solidFill>
                  <a:srgbClr val="FF0000"/>
                </a:solidFill>
              </a:rPr>
              <a:t>)s - %(message)s"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logger = </a:t>
            </a:r>
            <a:r>
              <a:rPr lang="en-IN" dirty="0" err="1">
                <a:solidFill>
                  <a:srgbClr val="FF0000"/>
                </a:solidFill>
              </a:rPr>
              <a:t>logging.getLogger</a:t>
            </a:r>
            <a:r>
              <a:rPr lang="en-IN" dirty="0">
                <a:solidFill>
                  <a:srgbClr val="FF0000"/>
                </a:solidFill>
              </a:rPr>
              <a:t>(__name__)</a:t>
            </a:r>
          </a:p>
          <a:p>
            <a:pPr marL="0" indent="0">
              <a:buNone/>
            </a:pPr>
            <a:r>
              <a:rPr lang="en-US" dirty="0"/>
              <a:t>✅ Logs are now timestamped and structured.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940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A65BE-FE4F-8D9C-E705-1B9DB410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try/except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E01AE-D49E-AFD5-7682-00B24AC68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Wrap critical sections in try/except to catch exceptions without stopping the full pipeline.</a:t>
            </a:r>
            <a:br>
              <a:rPr lang="en-US" dirty="0"/>
            </a:b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try: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pd.read_csv</a:t>
            </a:r>
            <a:r>
              <a:rPr lang="en-US" dirty="0">
                <a:solidFill>
                  <a:srgbClr val="FF0000"/>
                </a:solidFill>
              </a:rPr>
              <a:t>("input.csv")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except Exception as 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logger.error</a:t>
            </a:r>
            <a:r>
              <a:rPr lang="en-US" dirty="0">
                <a:solidFill>
                  <a:srgbClr val="FF0000"/>
                </a:solidFill>
              </a:rPr>
              <a:t>("Failed to read input file: %s", e)</a:t>
            </a:r>
          </a:p>
          <a:p>
            <a:pPr marL="0" indent="0">
              <a:buNone/>
            </a:pPr>
            <a:r>
              <a:rPr lang="en-US" b="1" dirty="0"/>
              <a:t>Tip:</a:t>
            </a:r>
            <a:r>
              <a:rPr lang="en-US" dirty="0"/>
              <a:t> Always capture exception context in messages.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79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C5AC-C90E-FDAF-D3C0-6F74CA34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 Error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D93C-7993-6E4D-D2BA-2C74280F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 good log explains </a:t>
            </a:r>
            <a:r>
              <a:rPr lang="en-US" i="1" dirty="0"/>
              <a:t>what failed, where, and why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logger.error</a:t>
            </a:r>
            <a:r>
              <a:rPr lang="en-US" dirty="0">
                <a:solidFill>
                  <a:srgbClr val="FF0000"/>
                </a:solidFill>
              </a:rPr>
              <a:t>("Transformation failed for </a:t>
            </a:r>
            <a:r>
              <a:rPr lang="en-US" dirty="0" err="1">
                <a:solidFill>
                  <a:srgbClr val="FF0000"/>
                </a:solidFill>
              </a:rPr>
              <a:t>batch_id</a:t>
            </a:r>
            <a:r>
              <a:rPr lang="en-US" dirty="0">
                <a:solidFill>
                  <a:srgbClr val="FF0000"/>
                </a:solidFill>
              </a:rPr>
              <a:t>=%s due to %s", </a:t>
            </a:r>
            <a:r>
              <a:rPr lang="en-US" dirty="0" err="1">
                <a:solidFill>
                  <a:srgbClr val="FF0000"/>
                </a:solidFill>
              </a:rPr>
              <a:t>batch_id</a:t>
            </a:r>
            <a:r>
              <a:rPr lang="en-US" dirty="0">
                <a:solidFill>
                  <a:srgbClr val="FF0000"/>
                </a:solidFill>
              </a:rPr>
              <a:t>, e)</a:t>
            </a:r>
          </a:p>
          <a:p>
            <a:r>
              <a:rPr lang="en-US" b="1" dirty="0"/>
              <a:t>Good Practices:</a:t>
            </a:r>
            <a:endParaRPr lang="en-US" dirty="0"/>
          </a:p>
          <a:p>
            <a:r>
              <a:rPr lang="en-US" dirty="0"/>
              <a:t>Include identifiers (IDs, filenames)</a:t>
            </a:r>
          </a:p>
          <a:p>
            <a:r>
              <a:rPr lang="en-US" dirty="0"/>
              <a:t>Avoid sensitive data (tokens, passwords)</a:t>
            </a:r>
          </a:p>
          <a:p>
            <a:r>
              <a:rPr lang="en-US" dirty="0"/>
              <a:t>Use consistent formatting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588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9C83-A8B6-35AB-3282-49B77112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Logging Levels</a:t>
            </a:r>
            <a:br>
              <a:rPr lang="en-IN" b="1" dirty="0"/>
            </a:br>
            <a:r>
              <a:rPr lang="en-US" sz="3100" b="1" dirty="0"/>
              <a:t>Theory:</a:t>
            </a:r>
            <a:br>
              <a:rPr lang="en-US" sz="3100" dirty="0"/>
            </a:br>
            <a:r>
              <a:rPr lang="en-US" sz="3100" dirty="0"/>
              <a:t>Use correct log levels for better filtering: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7E7DE7-5919-9758-D542-919DB8CDE8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981880"/>
              </p:ext>
            </p:extLst>
          </p:nvPr>
        </p:nvGraphicFramePr>
        <p:xfrm>
          <a:off x="625642" y="1825624"/>
          <a:ext cx="10728156" cy="3692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052">
                  <a:extLst>
                    <a:ext uri="{9D8B030D-6E8A-4147-A177-3AD203B41FA5}">
                      <a16:colId xmlns:a16="http://schemas.microsoft.com/office/drawing/2014/main" val="937189040"/>
                    </a:ext>
                  </a:extLst>
                </a:gridCol>
                <a:gridCol w="3576052">
                  <a:extLst>
                    <a:ext uri="{9D8B030D-6E8A-4147-A177-3AD203B41FA5}">
                      <a16:colId xmlns:a16="http://schemas.microsoft.com/office/drawing/2014/main" val="4180732769"/>
                    </a:ext>
                  </a:extLst>
                </a:gridCol>
                <a:gridCol w="3576052">
                  <a:extLst>
                    <a:ext uri="{9D8B030D-6E8A-4147-A177-3AD203B41FA5}">
                      <a16:colId xmlns:a16="http://schemas.microsoft.com/office/drawing/2014/main" val="2747348771"/>
                    </a:ext>
                  </a:extLst>
                </a:gridCol>
              </a:tblGrid>
              <a:tr h="52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999830"/>
                  </a:ext>
                </a:extLst>
              </a:tr>
              <a:tr h="52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DEBUG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Internal detail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“Merging DataFrames”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662015"/>
                  </a:ext>
                </a:extLst>
              </a:tr>
              <a:tr h="52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run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“Data read successfully”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458324"/>
                  </a:ext>
                </a:extLst>
              </a:tr>
              <a:tr h="52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Recoverable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“File missing, skipping…”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326940"/>
                  </a:ext>
                </a:extLst>
              </a:tr>
              <a:tr h="52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in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“Upload failed”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535379"/>
                  </a:ext>
                </a:extLst>
              </a:tr>
              <a:tr h="52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Job-stopping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“System crashed”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660214"/>
                  </a:ext>
                </a:extLst>
              </a:tr>
              <a:tr h="52755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5280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5E5E65-16F2-F5F1-F5A1-044092529332}"/>
              </a:ext>
            </a:extLst>
          </p:cNvPr>
          <p:cNvSpPr txBox="1"/>
          <p:nvPr/>
        </p:nvSpPr>
        <p:spPr>
          <a:xfrm>
            <a:off x="838200" y="5846544"/>
            <a:ext cx="830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logger.warning</a:t>
            </a:r>
            <a:r>
              <a:rPr lang="en-US" dirty="0"/>
              <a:t>("Low memory, continuing...")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408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427F-F8DD-E561-DCBA-6B6D5361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Raising vs Logging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32A7F-D65A-FDB5-E291-5FF4E13C5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Sometimes you log and continue; other times you stop the job.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not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logger.error</a:t>
            </a:r>
            <a:r>
              <a:rPr lang="en-US" dirty="0">
                <a:solidFill>
                  <a:srgbClr val="FF0000"/>
                </a:solidFill>
              </a:rPr>
              <a:t>("Empty </a:t>
            </a:r>
            <a:r>
              <a:rPr lang="en-US" dirty="0" err="1">
                <a:solidFill>
                  <a:srgbClr val="FF0000"/>
                </a:solidFill>
              </a:rPr>
              <a:t>dataframe</a:t>
            </a:r>
            <a:r>
              <a:rPr lang="en-US" dirty="0">
                <a:solidFill>
                  <a:srgbClr val="FF0000"/>
                </a:solidFill>
              </a:rPr>
              <a:t> — stopping job.")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raise </a:t>
            </a:r>
            <a:r>
              <a:rPr lang="en-US" dirty="0" err="1">
                <a:solidFill>
                  <a:srgbClr val="FF0000"/>
                </a:solidFill>
              </a:rPr>
              <a:t>ValueError</a:t>
            </a:r>
            <a:r>
              <a:rPr lang="en-US" dirty="0">
                <a:solidFill>
                  <a:srgbClr val="FF0000"/>
                </a:solidFill>
              </a:rPr>
              <a:t>("No data to process.")</a:t>
            </a:r>
          </a:p>
          <a:p>
            <a:pPr marL="0" indent="0">
              <a:buNone/>
            </a:pPr>
            <a:r>
              <a:rPr lang="en-US" dirty="0"/>
              <a:t>✅ Use raise when continuation would corrupt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5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49AF-2B9F-4E71-D1CD-0511ADE8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Global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B621F-3DE1-354B-B0DD-020F29DB2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Wrap your full script in a global try/except block for last-resort safety.</a:t>
            </a:r>
            <a:br>
              <a:rPr lang="en-US" dirty="0"/>
            </a:b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__name__ == "__main__":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try: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main()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except Exception as 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</a:t>
            </a:r>
            <a:r>
              <a:rPr lang="en-US" dirty="0" err="1">
                <a:solidFill>
                  <a:srgbClr val="FF0000"/>
                </a:solidFill>
              </a:rPr>
              <a:t>logger.critical</a:t>
            </a:r>
            <a:r>
              <a:rPr lang="en-US" dirty="0">
                <a:solidFill>
                  <a:srgbClr val="FF0000"/>
                </a:solidFill>
              </a:rPr>
              <a:t>("Pipeline crashed: %s", e)</a:t>
            </a:r>
          </a:p>
          <a:p>
            <a:pPr marL="0" indent="0">
              <a:buNone/>
            </a:pP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All unexpected failures are logged cleanly.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344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F5694-B198-E73D-7D9B-7E95AD44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Example (ETL Pipeline)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7E242-A0D4-17CF-588D-023437A2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Consistent Error Handling in Data Pipeline</a:t>
            </a:r>
            <a:br>
              <a:rPr lang="en-IN" dirty="0"/>
            </a:br>
            <a:r>
              <a:rPr lang="en-IN" b="1" dirty="0"/>
              <a:t>Scenario:</a:t>
            </a:r>
            <a:endParaRPr lang="en-IN" dirty="0"/>
          </a:p>
          <a:p>
            <a:r>
              <a:rPr lang="en-IN" dirty="0"/>
              <a:t>Extract from API → 200/404 logged</a:t>
            </a:r>
          </a:p>
          <a:p>
            <a:r>
              <a:rPr lang="en-IN" dirty="0"/>
              <a:t>Transform JSON → log invalid records</a:t>
            </a:r>
          </a:p>
          <a:p>
            <a:r>
              <a:rPr lang="en-IN" dirty="0"/>
              <a:t>Persist to S3 → log success or retry failures</a:t>
            </a:r>
            <a:br>
              <a:rPr lang="en-IN" dirty="0"/>
            </a:br>
            <a:r>
              <a:rPr lang="en-IN" b="1" dirty="0"/>
              <a:t>Pattern:</a:t>
            </a:r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try: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persist(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except Exception as 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logger.error</a:t>
            </a:r>
            <a:r>
              <a:rPr lang="en-US" dirty="0">
                <a:solidFill>
                  <a:srgbClr val="FF0000"/>
                </a:solidFill>
              </a:rPr>
              <a:t>("Persist step failed: %s", e)</a:t>
            </a:r>
          </a:p>
          <a:p>
            <a:pPr marL="0" indent="0">
              <a:buNone/>
            </a:pPr>
            <a:r>
              <a:rPr lang="en-US" dirty="0"/>
              <a:t>✅ All errors go to one log file, easy for debugging.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831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99D2-5C9D-40D4-F15A-8163790D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1FC06-7746-1FA1-61FC-8456D0E9B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– Logging for Reliability</a:t>
            </a:r>
            <a:br>
              <a:rPr lang="en-US" dirty="0"/>
            </a:br>
            <a:r>
              <a:rPr lang="en-US" b="1" dirty="0"/>
              <a:t>Key Practices:</a:t>
            </a:r>
            <a:endParaRPr lang="en-US" dirty="0"/>
          </a:p>
          <a:p>
            <a:r>
              <a:rPr lang="en-US" dirty="0"/>
              <a:t>Initialize logger at top of script</a:t>
            </a:r>
          </a:p>
          <a:p>
            <a:r>
              <a:rPr lang="en-US" dirty="0"/>
              <a:t>Use </a:t>
            </a:r>
            <a:r>
              <a:rPr lang="en-US" dirty="0" err="1"/>
              <a:t>logger.error</a:t>
            </a:r>
            <a:r>
              <a:rPr lang="en-US" dirty="0"/>
              <a:t>() in all exception blocks</a:t>
            </a:r>
          </a:p>
          <a:p>
            <a:r>
              <a:rPr lang="en-US" dirty="0"/>
              <a:t>Add batch context (IDs, files) in logs</a:t>
            </a:r>
          </a:p>
          <a:p>
            <a:r>
              <a:rPr lang="en-US" dirty="0"/>
              <a:t>Keep logs lightweight but informative</a:t>
            </a:r>
          </a:p>
          <a:p>
            <a:r>
              <a:rPr lang="en-US"/>
              <a:t>Review logs regularly</a:t>
            </a:r>
            <a:br>
              <a:rPr lang="en-US"/>
            </a:br>
            <a:r>
              <a:rPr lang="en-US" b="1"/>
              <a:t>Final Thought:</a:t>
            </a:r>
            <a:br>
              <a:rPr lang="en-US"/>
            </a:br>
            <a:r>
              <a:rPr lang="en-US"/>
              <a:t>“Consistent logs are the heartbeat of a healthy data pipeline.”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520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Consistent Error Handling (Using logger.error)</vt:lpstr>
      <vt:lpstr>Why Logging Matters</vt:lpstr>
      <vt:lpstr>Setting Up Logging</vt:lpstr>
      <vt:lpstr>Using try/except Blocks</vt:lpstr>
      <vt:lpstr>Custom Error Messages</vt:lpstr>
      <vt:lpstr>Logging Levels Theory: Use correct log levels for better filtering:</vt:lpstr>
      <vt:lpstr>Raising vs Logging Errors</vt:lpstr>
      <vt:lpstr>Global Error Handling</vt:lpstr>
      <vt:lpstr>Real-World Example (ETL Pipeline)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2025-11-10T09:24:59Z</dcterms:created>
  <dcterms:modified xsi:type="dcterms:W3CDTF">2025-11-10T09:25:06Z</dcterms:modified>
</cp:coreProperties>
</file>