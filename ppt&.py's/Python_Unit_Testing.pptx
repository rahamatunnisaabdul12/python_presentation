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10BAF-18A9-5892-D5E7-F0342D75F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C50E77-8FBF-BA77-4F19-AF494F757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35EDF-47AA-20D7-7565-0FE034CBA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19A89-8CF0-4AED-AF9C-03E3F3E8CA3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7C136-7130-30D9-8DB6-6480406C4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3D9D-6B41-4179-A416-A18C4184B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DC342-7992-4B0A-AC5A-CCE00C68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257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AEEB3-0D19-6C58-D116-2D8C70017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89B87-9108-50BA-2A10-642765720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48FED-6B2C-B35E-9E71-F61F45461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19A89-8CF0-4AED-AF9C-03E3F3E8CA3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87C1F-1202-A54D-CB7B-87100C259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03A4D-784B-91E3-06FD-B25F680B4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DC342-7992-4B0A-AC5A-CCE00C68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417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91A2E-C917-A98C-63F2-22137B2A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FC929-B1B1-B6D3-64F3-CB097AE7C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FEA92-9AEF-0254-CDDB-AEAE279B9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19A89-8CF0-4AED-AF9C-03E3F3E8CA3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68E94-8C5E-AC0D-F7B4-4747061A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1BF7B-6F07-8E19-2438-6E1FF0136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DC342-7992-4B0A-AC5A-CCE00C68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986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E2C31-E60E-671D-B026-26CE27FF1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5763E-1DE9-37C6-BDD3-CF13FA128A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FE615-36B4-187B-976C-623D78031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AE256-F533-6959-F117-FD64FCE59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19A89-8CF0-4AED-AF9C-03E3F3E8CA3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EF9CC-1211-C0A4-48DC-263147138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1D5A9-6A93-CF1C-9B40-8FAE213C1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DC342-7992-4B0A-AC5A-CCE00C68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567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4848A-198A-50C9-E11B-E57AD472E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F489F-1B15-38C8-7C48-5FF8F876E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BCEAA-5BA5-097B-BB06-33C15E0A7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88F85B-39DE-B820-687C-CAF8FBCC7A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C13FF3-F36E-81D1-ABD9-91A488A0AA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57AE6B-F80B-555B-F3D1-DA01D9C3A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19A89-8CF0-4AED-AF9C-03E3F3E8CA3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547420-26EA-FCA3-A725-05B5C11F2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B14719-C87C-6614-83F9-47B5A65A3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DC342-7992-4B0A-AC5A-CCE00C68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31ECF-F2CE-52F1-23AC-4A62AA816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BAAAD4-7113-1BB9-192B-EEA54D168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19A89-8CF0-4AED-AF9C-03E3F3E8CA3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9B13A5-16D0-F441-C965-CB3052479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4A0105-3CA2-F4A4-C413-D2BD89394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DC342-7992-4B0A-AC5A-CCE00C68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699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3CA703-7F50-67DC-59D6-B0A9B3D64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19A89-8CF0-4AED-AF9C-03E3F3E8CA3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7943DB-7FE2-C48E-08A9-8AD8EDFCF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AA579-4CD2-5316-00EB-89711BF16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DC342-7992-4B0A-AC5A-CCE00C68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29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D91DB-F104-4AB6-E004-CC021CC65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BFEF4-A567-71A6-BB0F-DE4C4E264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3D102-0BCC-8FDB-520C-FF60EC62A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3F666-217F-183F-9594-8C372F27A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19A89-8CF0-4AED-AF9C-03E3F3E8CA3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23067-3C24-2B7E-FA22-A5C6A169F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0EAAA-FBE3-57F8-7940-DA96DCC6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DC342-7992-4B0A-AC5A-CCE00C68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281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DCE91-D255-0353-541B-9D0A0CD0E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1E721C-FD29-2B3F-ACAF-1BB52059B3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089C0C-1520-D5E2-9753-C92AF843C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74C15-9E6D-C188-1553-AA2BEDF4A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19A89-8CF0-4AED-AF9C-03E3F3E8CA3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FE1DD-1D2E-CA88-CD0D-520289D73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00F87-20F9-A031-91EA-E158A3153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DC342-7992-4B0A-AC5A-CCE00C68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8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D2CF3-1F2A-FADF-3931-1C518DDBF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D5089-DBAF-2758-C462-E6BD9DB1F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FF0A8-9C9E-03EA-197F-BB9A94274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19A89-8CF0-4AED-AF9C-03E3F3E8CA3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29B8A-9F9B-0722-41DF-F6EA8F81F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A1964-515D-2D92-5729-42E8B5BA6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DC342-7992-4B0A-AC5A-CCE00C68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729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4B972A-7FBA-EF4F-CD96-449F250D9E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775454-87D7-8BE1-27D3-80123B68A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FAC66-9C3E-6C72-6C44-C828B1AB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19A89-8CF0-4AED-AF9C-03E3F3E8CA3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7084E-041A-67A3-4763-BD9C166F3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A8A2C-A838-1A97-A334-7515FC59E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DC342-7992-4B0A-AC5A-CCE00C68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332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6A0C71-9E9D-2599-A15B-EC8E6E931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8305A-E0A7-BA8E-B725-F8D6A79A6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E902F-8290-67FC-D957-9AAD25BF0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19A89-8CF0-4AED-AF9C-03E3F3E8CA3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5296C-69ED-282B-F6E5-64E2EAD573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3DA5E-11A0-0C37-F191-209BAE7D0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DC342-7992-4B0A-AC5A-CCE00C68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932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BFD94-884E-13FE-D109-9BC5676DC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7" y="256674"/>
            <a:ext cx="11036968" cy="2326105"/>
          </a:xfrm>
        </p:spPr>
        <p:txBody>
          <a:bodyPr>
            <a:normAutofit/>
          </a:bodyPr>
          <a:lstStyle/>
          <a:p>
            <a:r>
              <a:rPr lang="en-US" b="1" dirty="0"/>
              <a:t>Unit Testing in Python (</a:t>
            </a:r>
            <a:r>
              <a:rPr lang="en-US" b="1" dirty="0" err="1"/>
              <a:t>unittest</a:t>
            </a:r>
            <a:r>
              <a:rPr lang="en-US" b="1" dirty="0"/>
              <a:t> or </a:t>
            </a:r>
            <a:r>
              <a:rPr lang="en-US" b="1" dirty="0" err="1"/>
              <a:t>pytest</a:t>
            </a:r>
            <a:r>
              <a:rPr lang="en-US" b="1" dirty="0"/>
              <a:t>)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B9399C-DE0C-3981-1AC9-86B04CC4C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2527" y="2582779"/>
            <a:ext cx="9705474" cy="3866147"/>
          </a:xfrm>
        </p:spPr>
        <p:txBody>
          <a:bodyPr/>
          <a:lstStyle/>
          <a:p>
            <a:pPr algn="l"/>
            <a:r>
              <a:rPr lang="en-US" b="1" dirty="0"/>
              <a:t>What Is Unit Testing?</a:t>
            </a:r>
          </a:p>
          <a:p>
            <a:pPr algn="l"/>
            <a:r>
              <a:rPr lang="en-US" dirty="0"/>
              <a:t>Unit testing verifies that </a:t>
            </a:r>
            <a:r>
              <a:rPr lang="en-US" b="1" dirty="0"/>
              <a:t>individual functions or modules</a:t>
            </a:r>
            <a:r>
              <a:rPr lang="en-US" dirty="0"/>
              <a:t> work as expected.</a:t>
            </a:r>
            <a:br>
              <a:rPr lang="en-US" dirty="0"/>
            </a:br>
            <a:r>
              <a:rPr lang="en-US" dirty="0"/>
              <a:t>It’s the foundation for reliable, maintainable code.</a:t>
            </a:r>
          </a:p>
          <a:p>
            <a:pPr algn="l"/>
            <a:r>
              <a:rPr lang="en-US" dirty="0"/>
              <a:t>You’ve already worked on real data pipelines and ETL logic — so this topic will help you </a:t>
            </a:r>
            <a:r>
              <a:rPr lang="en-US" b="1" dirty="0"/>
              <a:t>test those scripts automatically</a:t>
            </a:r>
            <a:r>
              <a:rPr lang="en-US" dirty="0"/>
              <a:t> (so you don’t have to run every case manually).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6508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33D4B-9661-0529-F36F-18E79485B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Unit Testing?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145204-B624-AD26-3B1B-0BFA80BAA0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70244"/>
            <a:ext cx="1024729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bugs early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 broken pipelines after changes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 refactoring safe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CI/CD automation (GitLab, AWS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CodePipeline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8665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C0ECC-BE57-20D0-B3DD-6F6AA0E1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Unit Testing Frameworks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DFE2B5-D339-2257-3D15-5034A495EB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1843667"/>
              </p:ext>
            </p:extLst>
          </p:nvPr>
        </p:nvGraphicFramePr>
        <p:xfrm>
          <a:off x="465222" y="1825625"/>
          <a:ext cx="10888575" cy="2922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9525">
                  <a:extLst>
                    <a:ext uri="{9D8B030D-6E8A-4147-A177-3AD203B41FA5}">
                      <a16:colId xmlns:a16="http://schemas.microsoft.com/office/drawing/2014/main" val="4251691586"/>
                    </a:ext>
                  </a:extLst>
                </a:gridCol>
                <a:gridCol w="3629525">
                  <a:extLst>
                    <a:ext uri="{9D8B030D-6E8A-4147-A177-3AD203B41FA5}">
                      <a16:colId xmlns:a16="http://schemas.microsoft.com/office/drawing/2014/main" val="1865508090"/>
                    </a:ext>
                  </a:extLst>
                </a:gridCol>
                <a:gridCol w="3629525">
                  <a:extLst>
                    <a:ext uri="{9D8B030D-6E8A-4147-A177-3AD203B41FA5}">
                      <a16:colId xmlns:a16="http://schemas.microsoft.com/office/drawing/2014/main" val="844465871"/>
                    </a:ext>
                  </a:extLst>
                </a:gridCol>
              </a:tblGrid>
              <a:tr h="97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Common Usage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0204752"/>
                  </a:ext>
                </a:extLst>
              </a:tr>
              <a:tr h="97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unittest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Built-in Python library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Standard projects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5186912"/>
                  </a:ext>
                </a:extLst>
              </a:tr>
              <a:tr h="97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pytest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Third-party, simpler syntax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Modern data &amp; API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725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074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D241-15BA-04EC-D4F2-D8C80D987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Unit Test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568B9-7B40-7F63-444F-E1E319E0B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1️⃣ Setup test input  </a:t>
            </a:r>
          </a:p>
          <a:p>
            <a:pPr marL="0" indent="0">
              <a:buNone/>
            </a:pPr>
            <a:r>
              <a:rPr lang="en-US" dirty="0"/>
              <a:t>2️⃣ Call the function  </a:t>
            </a:r>
          </a:p>
          <a:p>
            <a:pPr marL="0" indent="0">
              <a:buNone/>
            </a:pPr>
            <a:r>
              <a:rPr lang="en-US" dirty="0"/>
              <a:t>3️⃣ Compare output with expected result  </a:t>
            </a:r>
          </a:p>
          <a:p>
            <a:pPr marL="0" indent="0">
              <a:buNone/>
            </a:pPr>
            <a:r>
              <a:rPr lang="en-US" dirty="0"/>
              <a:t>4️⃣ Log pass/fail result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6120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3E99E-249E-E476-305D-1912B074D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— Function to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F7467-D70B-8DEA-2DE3-32B4BA9C0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def </a:t>
            </a:r>
            <a:r>
              <a:rPr lang="en-US" dirty="0" err="1">
                <a:solidFill>
                  <a:schemeClr val="accent6"/>
                </a:solidFill>
              </a:rPr>
              <a:t>convert_price_to_usd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price_inr</a:t>
            </a:r>
            <a:r>
              <a:rPr lang="en-US" dirty="0">
                <a:solidFill>
                  <a:schemeClr val="accent6"/>
                </a:solidFill>
              </a:rPr>
              <a:t>):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return round(</a:t>
            </a:r>
            <a:r>
              <a:rPr lang="en-US" dirty="0" err="1">
                <a:solidFill>
                  <a:schemeClr val="accent6"/>
                </a:solidFill>
              </a:rPr>
              <a:t>price_inr</a:t>
            </a:r>
            <a:r>
              <a:rPr lang="en-US" dirty="0">
                <a:solidFill>
                  <a:schemeClr val="accent6"/>
                </a:solidFill>
              </a:rPr>
              <a:t> * 0.012, 2)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8348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C2B2C-1236-423C-EB7A-C1832B4BF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unittest</a:t>
            </a:r>
            <a:r>
              <a:rPr lang="en-IN" b="1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A9158-3120-9F26-F197-40B2E28CE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import </a:t>
            </a:r>
            <a:r>
              <a:rPr lang="en-US" dirty="0" err="1">
                <a:solidFill>
                  <a:schemeClr val="accent6"/>
                </a:solidFill>
              </a:rPr>
              <a:t>unittest</a:t>
            </a: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class </a:t>
            </a:r>
            <a:r>
              <a:rPr lang="en-US" dirty="0" err="1">
                <a:solidFill>
                  <a:schemeClr val="accent6"/>
                </a:solidFill>
              </a:rPr>
              <a:t>TestPriceConversion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unittest.TestCase</a:t>
            </a:r>
            <a:r>
              <a:rPr lang="en-US" dirty="0">
                <a:solidFill>
                  <a:schemeClr val="accent6"/>
                </a:solidFill>
              </a:rPr>
              <a:t>):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def </a:t>
            </a:r>
            <a:r>
              <a:rPr lang="en-US" dirty="0" err="1">
                <a:solidFill>
                  <a:schemeClr val="accent6"/>
                </a:solidFill>
              </a:rPr>
              <a:t>test_convert</a:t>
            </a:r>
            <a:r>
              <a:rPr lang="en-US" dirty="0">
                <a:solidFill>
                  <a:schemeClr val="accent6"/>
                </a:solidFill>
              </a:rPr>
              <a:t>(self):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    </a:t>
            </a:r>
            <a:r>
              <a:rPr lang="en-US" dirty="0" err="1">
                <a:solidFill>
                  <a:schemeClr val="accent6"/>
                </a:solidFill>
              </a:rPr>
              <a:t>self.assertEqual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convert_price_to_usd</a:t>
            </a:r>
            <a:r>
              <a:rPr lang="en-US" dirty="0">
                <a:solidFill>
                  <a:schemeClr val="accent6"/>
                </a:solidFill>
              </a:rPr>
              <a:t>(100), 1.2)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Uses built-in test discovery (python -m </a:t>
            </a:r>
            <a:r>
              <a:rPr lang="en-US" dirty="0" err="1"/>
              <a:t>unittest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3282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1DA2E-A9D1-84A2-1B6B-08370FFD1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pytest</a:t>
            </a:r>
            <a:r>
              <a:rPr lang="en-IN" b="1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913B9-F9D2-A65B-547D-EFCD4FC4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def </a:t>
            </a:r>
            <a:r>
              <a:rPr lang="en-US" dirty="0" err="1">
                <a:solidFill>
                  <a:schemeClr val="accent6"/>
                </a:solidFill>
              </a:rPr>
              <a:t>test_clean_data</a:t>
            </a:r>
            <a:r>
              <a:rPr lang="en-US" dirty="0">
                <a:solidFill>
                  <a:schemeClr val="accent6"/>
                </a:solidFill>
              </a:rPr>
              <a:t>():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</a:t>
            </a:r>
            <a:r>
              <a:rPr lang="en-US" dirty="0" err="1">
                <a:solidFill>
                  <a:schemeClr val="accent6"/>
                </a:solidFill>
              </a:rPr>
              <a:t>df</a:t>
            </a:r>
            <a:r>
              <a:rPr lang="en-US" dirty="0">
                <a:solidFill>
                  <a:schemeClr val="accent6"/>
                </a:solidFill>
              </a:rPr>
              <a:t> = transform(</a:t>
            </a:r>
            <a:r>
              <a:rPr lang="en-US" dirty="0" err="1">
                <a:solidFill>
                  <a:schemeClr val="accent6"/>
                </a:solidFill>
              </a:rPr>
              <a:t>df_raw</a:t>
            </a:r>
            <a:r>
              <a:rPr lang="en-US" dirty="0">
                <a:solidFill>
                  <a:schemeClr val="accent6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assert "</a:t>
            </a:r>
            <a:r>
              <a:rPr lang="en-US" dirty="0" err="1">
                <a:solidFill>
                  <a:schemeClr val="accent6"/>
                </a:solidFill>
              </a:rPr>
              <a:t>price_usd</a:t>
            </a:r>
            <a:r>
              <a:rPr lang="en-US" dirty="0">
                <a:solidFill>
                  <a:schemeClr val="accent6"/>
                </a:solidFill>
              </a:rPr>
              <a:t>" in </a:t>
            </a:r>
            <a:r>
              <a:rPr lang="en-US" dirty="0" err="1">
                <a:solidFill>
                  <a:schemeClr val="accent6"/>
                </a:solidFill>
              </a:rPr>
              <a:t>df.columns</a:t>
            </a: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Automatically validates your ETL output.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8371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F702B-C57E-4A60-5F78-5AA9B8C2A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1D525-4EEA-FF0F-DA8D-ABA8092D2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✅ Name test files as test_*.py</a:t>
            </a:r>
            <a:br>
              <a:rPr lang="en-US" dirty="0"/>
            </a:br>
            <a:r>
              <a:rPr lang="en-US" dirty="0"/>
              <a:t>✅ Keep tests small and independent</a:t>
            </a:r>
            <a:br>
              <a:rPr lang="en-US" dirty="0"/>
            </a:br>
            <a:r>
              <a:rPr lang="en-US" dirty="0"/>
              <a:t>✅ Mock APIs or AWS calls</a:t>
            </a:r>
            <a:br>
              <a:rPr lang="en-US" dirty="0"/>
            </a:br>
            <a:r>
              <a:rPr lang="en-US" dirty="0"/>
              <a:t>✅ Run tests automatically in CI/CD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1291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F7644-28A8-32DD-55B3-E05005672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DA56A-1983-4D28-9A5A-E19223917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✅ Unit testing ensures code reliability</a:t>
            </a:r>
            <a:br>
              <a:rPr lang="en-IN" dirty="0"/>
            </a:br>
            <a:r>
              <a:rPr lang="en-IN" dirty="0"/>
              <a:t>✅ </a:t>
            </a:r>
            <a:r>
              <a:rPr lang="en-IN" dirty="0" err="1"/>
              <a:t>unittest</a:t>
            </a:r>
            <a:r>
              <a:rPr lang="en-IN" dirty="0"/>
              <a:t> = built-in, </a:t>
            </a:r>
            <a:r>
              <a:rPr lang="en-IN" dirty="0" err="1"/>
              <a:t>pytest</a:t>
            </a:r>
            <a:r>
              <a:rPr lang="en-IN"/>
              <a:t> = flexible</a:t>
            </a:r>
            <a:br>
              <a:rPr lang="en-IN"/>
            </a:br>
            <a:r>
              <a:rPr lang="en-IN"/>
              <a:t>✅ Automate ETL and API testing</a:t>
            </a:r>
            <a:br>
              <a:rPr lang="en-IN"/>
            </a:br>
            <a:r>
              <a:rPr lang="en-IN"/>
              <a:t>✅ Critical for production-grade pipelines</a:t>
            </a:r>
          </a:p>
        </p:txBody>
      </p:sp>
    </p:spTree>
    <p:extLst>
      <p:ext uri="{BB962C8B-B14F-4D97-AF65-F5344CB8AC3E}">
        <p14:creationId xmlns:p14="http://schemas.microsoft.com/office/powerpoint/2010/main" val="534651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Unit Testing in Python (unittest or pytest)</vt:lpstr>
      <vt:lpstr>Why Unit Testing?</vt:lpstr>
      <vt:lpstr>Unit Testing Frameworks</vt:lpstr>
      <vt:lpstr>Unit Test Structure</vt:lpstr>
      <vt:lpstr>Example — Function to Test</vt:lpstr>
      <vt:lpstr>unittest Example</vt:lpstr>
      <vt:lpstr>pytest Example</vt:lpstr>
      <vt:lpstr>Best Practices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2025-11-08T09:13:41Z</dcterms:created>
  <dcterms:modified xsi:type="dcterms:W3CDTF">2025-11-08T09:13:54Z</dcterms:modified>
</cp:coreProperties>
</file>