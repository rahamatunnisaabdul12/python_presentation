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8BC8-76CB-C534-4AF1-D5A4427CF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4F1D6-B61A-51F5-F0D4-6A450414B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B0C3-939D-FDBE-A3E6-82A6734E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0B7F-8EBA-89FB-EED3-A543C3AB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42313-455B-4BEF-6539-19815747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59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C906-3B6B-EFE9-5F72-35CE2226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AACFE-815A-4149-75F3-3FD0C7CE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C2506-9F14-B822-02C5-F511CB85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93CC-1B1D-3968-4863-2664AB25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94B71-CB42-B6C0-53D5-31D6408D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7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0D6E-B9A3-6775-D821-4BD37756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6FE26-9635-CADE-309F-8A369D0A1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40C1-3B2F-D819-C595-1515F3A0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6F5CC-93FF-FA5E-AB9D-1D5969FE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5411-151C-FCFF-0D62-E949ED53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5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2EB7-0CB5-B7A9-99F3-1CADEC51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1125-A6F4-47D4-63DB-8DEC3AE05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58853-C5E2-FE00-8857-E66055211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062DF-5B4C-CF7F-C100-D8597D4F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E7B23-1CAA-A7F8-D1D4-C239A38B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A7BA3-7E98-701B-CD6D-71BE16CA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28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94E3-75F6-F172-D288-E6D555B5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6432C-678A-C78F-6ACB-E282F7AE2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CA20D-6708-1530-62D9-DE0522052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A92D5-689A-9CF2-9FFC-F7ABA1BF9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A0ED0-6231-2ACF-EAF0-27AB418EF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E052E-0E74-7CB2-23BD-D6EF162A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98636-2EEB-68F0-1D55-5F1096B8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FBD94-A690-2D2F-2DB7-83B79CD0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0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9C8C-6DD6-7E67-A21D-FB9D6B22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DD334-6C27-A969-3FF7-FA587F9D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DCE2-AD03-E766-1B1D-11A82A7C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7F531-4922-27F3-3FFE-05189D07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8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C120-CA8E-AD48-B62D-4C603D07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7272A-5ADF-CA91-0C4F-83ED5CDB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3D9B5-42FE-80E0-F229-E7A8B1CD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93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B093-9595-274E-9E6C-0D3186DA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A7B7-5456-E142-D1C3-9AA924663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0B67A-7B7F-360F-8E82-6F1D6E270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450D9-4549-B92A-D22B-436BAC9E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ED3CA-49A0-A0D7-9698-AC3D0938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801F-ED0D-929B-F9E7-5EFD230B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0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E2E1-1A7F-29AC-9B62-79A107CF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BB203-AEAA-3BDA-8922-16D9B28D1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BA544-D31C-3C16-17DC-DB2918D87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C8445-89F5-D763-4B51-FFBF6D3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CEC07-0920-1805-9752-C4710862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0745F-FE03-15F1-575C-ECA601C1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3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11F2-76E7-0155-4DA2-E586BA8D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0D309-D1C7-744A-FB71-B85166DD6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C331A-6C08-A4BF-C993-41876742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F30D-6108-74AE-B444-4FE0639F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2BD49-C7FB-CAC1-CB8D-434F48B8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61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D4C2C-ADA3-F3D5-A93E-DEC8C9A5E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E88DA-DD2A-EA93-3D52-16034A45B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A6D77-F691-6F49-FD9D-4FC034F5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1527C-8FFA-C43E-BAFA-D9330A59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F1F3A-40A1-663F-2C46-FEC15F45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2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B66E2-B370-D06A-4E71-58C236D1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1BF3-3C1A-FFE5-F20A-A2B6762A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1DC7C-357F-6516-2BA8-0B58CF316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DD4E5-20A7-4321-8FCF-383BBAB4A02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C66AD-5328-6837-B24E-8B37B8206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1D84F-04E1-80F5-7AF2-94027727B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35F34-F854-4828-AA81-B5F8B51C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8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9FEA-D4F0-1642-969E-E2C47DF63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84" y="192505"/>
            <a:ext cx="10876547" cy="271111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“How Config Files (dev/local YAMLs) Point Code to Different Sources”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AC7BA-7F38-D72E-B9A8-65A708157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137" y="2903621"/>
            <a:ext cx="10234863" cy="2354179"/>
          </a:xfrm>
        </p:spPr>
        <p:txBody>
          <a:bodyPr>
            <a:normAutofit/>
          </a:bodyPr>
          <a:lstStyle/>
          <a:p>
            <a:pPr algn="l"/>
            <a:r>
              <a:rPr lang="en-IN" sz="2600" b="1" dirty="0"/>
              <a:t>Config Files (YAMLs) in Data Pipelines</a:t>
            </a:r>
          </a:p>
          <a:p>
            <a:pPr algn="l"/>
            <a:r>
              <a:rPr lang="en-IN" sz="2600" dirty="0"/>
              <a:t>YAML configuration files define </a:t>
            </a:r>
            <a:r>
              <a:rPr lang="en-IN" sz="2600" b="1" dirty="0"/>
              <a:t>environment-specific settings</a:t>
            </a:r>
            <a:r>
              <a:rPr lang="en-IN" sz="2600" dirty="0"/>
              <a:t> (paths, DBs, topics, credentials).</a:t>
            </a:r>
            <a:br>
              <a:rPr lang="en-IN" sz="2600" dirty="0"/>
            </a:br>
            <a:r>
              <a:rPr lang="en-IN" sz="2600" dirty="0"/>
              <a:t>They help your code connect to </a:t>
            </a:r>
            <a:r>
              <a:rPr lang="en-IN" sz="2600" b="1" dirty="0"/>
              <a:t>different sources</a:t>
            </a:r>
            <a:r>
              <a:rPr lang="en-IN" sz="2600" dirty="0"/>
              <a:t> (Dev, Stage, Prod) dynamically.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6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50CF-0496-E9F9-C16F-7B4C7612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YAML for Config?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0733B-1D46-7009-5761-B62FEC5DD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Human-readable and lightweight</a:t>
            </a:r>
            <a:br>
              <a:rPr lang="en-US" dirty="0"/>
            </a:br>
            <a:r>
              <a:rPr lang="en-US" dirty="0"/>
              <a:t>✅ Supports nested structures</a:t>
            </a:r>
            <a:br>
              <a:rPr lang="en-US" dirty="0"/>
            </a:br>
            <a:r>
              <a:rPr lang="en-US" dirty="0"/>
              <a:t>✅ Easy to version-control (GitLab)</a:t>
            </a:r>
            <a:br>
              <a:rPr lang="en-US" dirty="0"/>
            </a:br>
            <a:r>
              <a:rPr lang="en-US" dirty="0"/>
              <a:t>✅ Widely used in AWS, Kubernetes, and CI/CD setups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76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CCF7-53FD-5B7C-24D4-F617A7C9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YAML Config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47E4D-2EB7-57DD-782D-3E5E705D3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dev: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s3_input: s3://my-dev-bucket/raw/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redshift_db</a:t>
            </a:r>
            <a:r>
              <a:rPr lang="en-IN" dirty="0">
                <a:solidFill>
                  <a:schemeClr val="accent6"/>
                </a:solidFill>
              </a:rPr>
              <a:t>: dev-cluster.region.redshift.amazonaws.com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kafka_topic</a:t>
            </a:r>
            <a:r>
              <a:rPr lang="en-IN" dirty="0">
                <a:solidFill>
                  <a:schemeClr val="accent6"/>
                </a:solidFill>
              </a:rPr>
              <a:t>: dev-orders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region: ap-south-1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prod: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s3_input: s3://my-prod-bucket/raw/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redshift_db</a:t>
            </a:r>
            <a:r>
              <a:rPr lang="en-IN" dirty="0">
                <a:solidFill>
                  <a:schemeClr val="accent6"/>
                </a:solidFill>
              </a:rPr>
              <a:t>: prod-cluster.region.redshift.amazonaws.com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kafka_topic</a:t>
            </a:r>
            <a:r>
              <a:rPr lang="en-IN" dirty="0">
                <a:solidFill>
                  <a:schemeClr val="accent6"/>
                </a:solidFill>
              </a:rPr>
              <a:t>: prod-orders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region: ap-south-1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14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1ACC-098F-E06B-F6DD-B5C1A817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YAML Config in Python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BDA54-121B-E035-559C-18284FEEB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</a:t>
            </a:r>
            <a:r>
              <a:rPr lang="en-IN" dirty="0" err="1">
                <a:solidFill>
                  <a:schemeClr val="accent6"/>
                </a:solidFill>
              </a:rPr>
              <a:t>yaml</a:t>
            </a:r>
            <a:r>
              <a:rPr lang="en-IN" dirty="0">
                <a:solidFill>
                  <a:schemeClr val="accent6"/>
                </a:solidFill>
              </a:rPr>
              <a:t>, </a:t>
            </a:r>
            <a:r>
              <a:rPr lang="en-IN" dirty="0" err="1">
                <a:solidFill>
                  <a:schemeClr val="accent6"/>
                </a:solidFill>
              </a:rPr>
              <a:t>os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env = </a:t>
            </a:r>
            <a:r>
              <a:rPr lang="en-IN" dirty="0" err="1">
                <a:solidFill>
                  <a:schemeClr val="accent6"/>
                </a:solidFill>
              </a:rPr>
              <a:t>os.getenv</a:t>
            </a:r>
            <a:r>
              <a:rPr lang="en-IN" dirty="0">
                <a:solidFill>
                  <a:schemeClr val="accent6"/>
                </a:solidFill>
              </a:rPr>
              <a:t>("ENV", "dev")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with open("</a:t>
            </a:r>
            <a:r>
              <a:rPr lang="en-IN" dirty="0" err="1">
                <a:solidFill>
                  <a:schemeClr val="accent6"/>
                </a:solidFill>
              </a:rPr>
              <a:t>config.yaml</a:t>
            </a:r>
            <a:r>
              <a:rPr lang="en-IN" dirty="0">
                <a:solidFill>
                  <a:schemeClr val="accent6"/>
                </a:solidFill>
              </a:rPr>
              <a:t>", "r") as f: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config = </a:t>
            </a:r>
            <a:r>
              <a:rPr lang="en-IN" dirty="0" err="1">
                <a:solidFill>
                  <a:schemeClr val="accent6"/>
                </a:solidFill>
              </a:rPr>
              <a:t>yaml.safe_load</a:t>
            </a:r>
            <a:r>
              <a:rPr lang="en-IN" dirty="0">
                <a:solidFill>
                  <a:schemeClr val="accent6"/>
                </a:solidFill>
              </a:rPr>
              <a:t>(f)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settings = config[env]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f"Running</a:t>
            </a:r>
            <a:r>
              <a:rPr lang="en-IN" dirty="0">
                <a:solidFill>
                  <a:schemeClr val="accent6"/>
                </a:solidFill>
              </a:rPr>
              <a:t> in {</a:t>
            </a:r>
            <a:r>
              <a:rPr lang="en-IN" dirty="0" err="1">
                <a:solidFill>
                  <a:schemeClr val="accent6"/>
                </a:solidFill>
              </a:rPr>
              <a:t>env.upper</a:t>
            </a:r>
            <a:r>
              <a:rPr lang="en-IN" dirty="0">
                <a:solidFill>
                  <a:schemeClr val="accent6"/>
                </a:solidFill>
              </a:rPr>
              <a:t>()} environment")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print("S3 Source:", settings["s3_input"])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53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363E-CAFC-2F47-1DF0-5575D7E4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Dynamic Source Switching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000ABF6-9716-CB36-45C1-C2E4767BE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099601"/>
              </p:ext>
            </p:extLst>
          </p:nvPr>
        </p:nvGraphicFramePr>
        <p:xfrm>
          <a:off x="838198" y="1825625"/>
          <a:ext cx="10515600" cy="3195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405539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525475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1675605"/>
                    </a:ext>
                  </a:extLst>
                </a:gridCol>
              </a:tblGrid>
              <a:tr h="79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Source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99902"/>
                  </a:ext>
                </a:extLst>
              </a:tr>
              <a:tr h="79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s3://my-dev-bucket/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s3://my-prod-bucket/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095614"/>
                  </a:ext>
                </a:extLst>
              </a:tr>
              <a:tr h="79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 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 cluster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137441"/>
                  </a:ext>
                </a:extLst>
              </a:tr>
              <a:tr h="79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Kafka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dev-orders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prod-orders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8105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31AE6D7-3A3C-F339-A8F5-3D23EA32A452}"/>
              </a:ext>
            </a:extLst>
          </p:cNvPr>
          <p:cNvSpPr txBox="1"/>
          <p:nvPr/>
        </p:nvSpPr>
        <p:spPr>
          <a:xfrm>
            <a:off x="838197" y="5470358"/>
            <a:ext cx="962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code automatically uses the correct one based on the active environment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26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7CAB-5CE6-198C-7211-7DCF28E2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F5A1A-B2E8-DEED-FCD3-88C026F7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if env == "dev":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 = spark.read.csv(settings["s3_input"])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else: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spark.read.parquet</a:t>
            </a:r>
            <a:r>
              <a:rPr lang="en-IN" dirty="0">
                <a:solidFill>
                  <a:schemeClr val="accent6"/>
                </a:solidFill>
              </a:rPr>
              <a:t>(settings["s3_input"])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Different file formats or paths for different stages.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50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FA20-DBDF-6F58-C4CF-09A1D393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Keeping Credentials Out of YAML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12CA9-8954-8796-26D5-548AEDD18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✅ Store only </a:t>
            </a:r>
            <a:r>
              <a:rPr lang="en-US" i="1" dirty="0"/>
              <a:t>references</a:t>
            </a:r>
            <a:r>
              <a:rPr lang="en-US" dirty="0"/>
              <a:t> in YAML</a:t>
            </a:r>
            <a:br>
              <a:rPr lang="en-US" dirty="0"/>
            </a:br>
            <a:r>
              <a:rPr lang="en-US" dirty="0"/>
              <a:t>✅ Fetch actual secrets from </a:t>
            </a:r>
            <a:r>
              <a:rPr lang="en-US" b="1" dirty="0"/>
              <a:t>AWS SSM</a:t>
            </a:r>
            <a:r>
              <a:rPr lang="en-US" dirty="0"/>
              <a:t> or </a:t>
            </a:r>
            <a:r>
              <a:rPr lang="en-US" b="1" dirty="0"/>
              <a:t>Secrets Manager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prod: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</a:t>
            </a:r>
            <a:r>
              <a:rPr lang="en-IN" dirty="0" err="1">
                <a:solidFill>
                  <a:schemeClr val="accent6"/>
                </a:solidFill>
              </a:rPr>
              <a:t>db_password_param</a:t>
            </a:r>
            <a:r>
              <a:rPr lang="en-IN" dirty="0">
                <a:solidFill>
                  <a:schemeClr val="accent6"/>
                </a:solidFill>
              </a:rPr>
              <a:t>: /prod/</a:t>
            </a:r>
            <a:r>
              <a:rPr lang="en-IN" dirty="0" err="1">
                <a:solidFill>
                  <a:schemeClr val="accent6"/>
                </a:solidFill>
              </a:rPr>
              <a:t>db</a:t>
            </a:r>
            <a:r>
              <a:rPr lang="en-IN" dirty="0">
                <a:solidFill>
                  <a:schemeClr val="accent6"/>
                </a:solidFill>
              </a:rPr>
              <a:t>/password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33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3275-6767-4C33-19FA-4685E446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YAML + </a:t>
            </a:r>
            <a:r>
              <a:rPr lang="en-IN" b="1" dirty="0" err="1"/>
              <a:t>AppConfig</a:t>
            </a:r>
            <a:r>
              <a:rPr lang="en-IN" b="1" dirty="0"/>
              <a:t>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B1C62B-B484-9ED2-B0D1-1ECAEB9B33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196" y="2592861"/>
            <a:ext cx="105156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YAML file defines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AppConfig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versioned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fetches YAML or overrides 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AppConfig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dynamically</a:t>
            </a:r>
          </a:p>
        </p:txBody>
      </p:sp>
    </p:spTree>
    <p:extLst>
      <p:ext uri="{BB962C8B-B14F-4D97-AF65-F5344CB8AC3E}">
        <p14:creationId xmlns:p14="http://schemas.microsoft.com/office/powerpoint/2010/main" val="4272804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8766-3858-CAE8-49A4-BD67C3E1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1628-6A2B-BE36-EAB0-B61E4BD5B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❌ Hardcoding values directly in code</a:t>
            </a:r>
            <a:br>
              <a:rPr lang="en-IN" dirty="0"/>
            </a:br>
            <a:r>
              <a:rPr lang="en-IN" dirty="0"/>
              <a:t>❌ Using one YAML for all environments without structure</a:t>
            </a:r>
            <a:br>
              <a:rPr lang="en-IN" dirty="0"/>
            </a:br>
            <a:r>
              <a:rPr lang="en-IN" dirty="0"/>
              <a:t>❌ Forgetting default fallbacks for local runs</a:t>
            </a:r>
          </a:p>
          <a:p>
            <a:r>
              <a:rPr lang="en-IN" dirty="0"/>
              <a:t>✅ Always validate keys using </a:t>
            </a:r>
            <a:r>
              <a:rPr lang="en-IN" dirty="0" err="1"/>
              <a:t>config.get</a:t>
            </a:r>
            <a:r>
              <a:rPr lang="en-IN" dirty="0"/>
              <a:t>(env, {}).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211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38EE-922C-AABD-8345-7E6BE0B9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76BD-A421-CA21-9F9A-DE9E073C5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✅ Use YAML files for clear environment separation</a:t>
            </a:r>
            <a:br>
              <a:rPr lang="en-IN" sz="3200" dirty="0"/>
            </a:br>
            <a:r>
              <a:rPr lang="en-IN" sz="3200" dirty="0"/>
              <a:t>✅ Keep sources flexible (S3, DB, Kafka)</a:t>
            </a:r>
            <a:br>
              <a:rPr lang="en-IN" sz="3200" dirty="0"/>
            </a:br>
            <a:r>
              <a:rPr lang="en-IN" sz="3200" dirty="0"/>
              <a:t>✅ Don’t store secrets — store references</a:t>
            </a:r>
            <a:br>
              <a:rPr lang="en-IN" sz="3200" dirty="0"/>
            </a:br>
            <a:r>
              <a:rPr lang="en-IN" sz="3200" dirty="0"/>
              <a:t>✅ Use </a:t>
            </a:r>
            <a:r>
              <a:rPr lang="en-IN" sz="3200" dirty="0" err="1"/>
              <a:t>os.getenv</a:t>
            </a:r>
            <a:r>
              <a:rPr lang="en-IN" sz="3200" dirty="0"/>
              <a:t>("ENV") to load correct block dynamically</a:t>
            </a:r>
          </a:p>
        </p:txBody>
      </p:sp>
    </p:spTree>
    <p:extLst>
      <p:ext uri="{BB962C8B-B14F-4D97-AF65-F5344CB8AC3E}">
        <p14:creationId xmlns:p14="http://schemas.microsoft.com/office/powerpoint/2010/main" val="163323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“How Config Files (dev/local YAMLs) Point Code to Different Sources”</vt:lpstr>
      <vt:lpstr>Why Use YAML for Config?</vt:lpstr>
      <vt:lpstr>Typical YAML Config Layout</vt:lpstr>
      <vt:lpstr>Loading YAML Config in Python</vt:lpstr>
      <vt:lpstr>Dynamic Source Switching</vt:lpstr>
      <vt:lpstr>Real-World Example</vt:lpstr>
      <vt:lpstr>Keeping Credentials Out of YAML</vt:lpstr>
      <vt:lpstr>YAML + AppConfig Integration</vt:lpstr>
      <vt:lpstr>Common Mistakes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2025-11-06T09:50:36Z</dcterms:created>
  <dcterms:modified xsi:type="dcterms:W3CDTF">2025-11-06T09:51:00Z</dcterms:modified>
</cp:coreProperties>
</file>