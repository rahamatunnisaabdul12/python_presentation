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27B00-8089-08F5-D939-C5A0C98224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274CE5-A9F0-BB90-D96C-3DAD40A909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FE9A65-F4DA-7F98-2E55-14C7F6CE1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5F70B-DAF2-45A7-9BB3-E326A2E2D72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62B3A-9FF0-0CCD-0D59-9DE3BE3B8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BD563-56FC-3449-F31C-332381418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3960E-40C8-44EB-B816-4341D9F30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4985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CA0D1-E3FD-3FE9-1EB6-BBA58229F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BD466-CD7F-1DBE-4B0A-CAD427CEA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78AA2-A681-A3F1-687A-51D97CE31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5F70B-DAF2-45A7-9BB3-E326A2E2D72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627AE-C1D2-29C0-2727-648D8D7DE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86C1C-860E-808A-BB43-9514C00AA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3960E-40C8-44EB-B816-4341D9F30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5929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0C099-AB60-1C7C-1609-7D5DAC146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F56A49-8377-871E-2AB7-9C6FB12F8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4A3851-D5B9-A580-DF1A-67F89BCE1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5F70B-DAF2-45A7-9BB3-E326A2E2D72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BA6FFC-4645-11D7-2C58-D78371409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B09D7-62F6-8975-CBC7-A01787F8A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3960E-40C8-44EB-B816-4341D9F30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166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13DDF-D115-D72B-F3ED-CAD430CE5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183C7-9316-3D34-3CD3-1A11556085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73840E-B428-00DA-6CA6-BC049911DA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5835BF-C59F-38E2-9DE8-9C6D08C86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5F70B-DAF2-45A7-9BB3-E326A2E2D72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4BD430-7F8B-D6C9-303B-E6A8539CC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921596-DC3B-7ADC-B8D9-E81D5EC9D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3960E-40C8-44EB-B816-4341D9F30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9425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160E0-C74B-CACF-D0E3-23774A343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A97C90-11A6-D276-A05E-D3DB6FCAC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EEA949-B20C-4E27-FB2D-97E8D4C2A6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5E15A0-AB50-E0E6-AB1F-7409CE6A41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95123F-E7CC-F116-6417-C6AD804FA3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CC7D18-68A0-8142-D678-878D2E848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5F70B-DAF2-45A7-9BB3-E326A2E2D72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748967-C1B2-F4BB-7390-081158E11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464C09-0E0E-A1E0-6E1A-E1531493F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3960E-40C8-44EB-B816-4341D9F30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4893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CE70C-28B4-0C9A-EBD7-FE8E869BC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055FB3-BFA0-7DF2-E7F0-15586A35E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5F70B-DAF2-45A7-9BB3-E326A2E2D72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AF079C-B5DD-62B0-ED33-51A448EBF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2CCBBC-EE7E-4321-10D3-E0B5A1CA3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3960E-40C8-44EB-B816-4341D9F30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690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DCCB8A-BAA7-4849-B898-B4162DB97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5F70B-DAF2-45A7-9BB3-E326A2E2D72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1527B7-5B58-8230-7AFC-78A989687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EDABF-A5C5-8978-BC23-2253A691B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3960E-40C8-44EB-B816-4341D9F30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8237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27DA9-344C-E2B0-DA8D-074AA5755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C0C4A-87C6-7132-19DC-16C05FBE1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68E192-C718-FB6A-41AA-6E73724A61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4BF6BB-A4E3-9D0F-2B93-554E53320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5F70B-DAF2-45A7-9BB3-E326A2E2D72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667FB1-3CD3-BACA-92C8-27CF3AF68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E25E66-1B2D-ED56-1C58-81AFBCD80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3960E-40C8-44EB-B816-4341D9F30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0626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2132F-C7B3-281F-AADD-4FA844B6A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643453-F077-E017-D7AC-B101B4E467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683A05-A2EE-4F83-C870-0B5B31E811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244C5D-76FD-2438-AB36-E5F5135EA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5F70B-DAF2-45A7-9BB3-E326A2E2D72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33C33B-C2C2-3875-6B1A-A22DEF118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CB1463-B413-3B18-8F71-6BF8C48BB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3960E-40C8-44EB-B816-4341D9F30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6569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5DE8C-823C-DB67-0853-2359B4810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6B7312-C86A-6017-22F6-C760A08F9A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9F1BA2-1946-AA58-0876-7330DE4FA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5F70B-DAF2-45A7-9BB3-E326A2E2D72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051EB-7A58-D870-57D6-2CBB19181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FE7BA-F5C4-2C53-18BD-30FADD19E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3960E-40C8-44EB-B816-4341D9F30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6515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39E4F2-0114-B674-423B-EB5E1BF9F0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5E23E4-1AB1-797A-2EAA-37105F1CD0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6485F-8A36-DB49-C79F-28F5B8E0C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5F70B-DAF2-45A7-9BB3-E326A2E2D72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ECD68-8374-F190-285A-495A04784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CEC4B-AC14-F22A-004C-726C44D34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3960E-40C8-44EB-B816-4341D9F30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2895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74E8AA-EEEB-0DC0-3990-3CD004C11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3C794A-AE96-6161-83D3-A29206D65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18075-67E2-5BF7-4BAF-CF5E8D89AB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75F70B-DAF2-45A7-9BB3-E326A2E2D72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1B5B1D-4605-A7C8-DD2D-2BE77A7D58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134480-97F4-9C37-63BE-9A438DC98C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B3960E-40C8-44EB-B816-4341D9F30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3204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4BFB0-78FF-0050-BD17-03E967FAFB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8359" y="433137"/>
            <a:ext cx="9769642" cy="1331495"/>
          </a:xfrm>
        </p:spPr>
        <p:txBody>
          <a:bodyPr/>
          <a:lstStyle/>
          <a:p>
            <a:r>
              <a:rPr lang="en-IN" dirty="0"/>
              <a:t>Introduction to AWS Glue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9B395B-D1DA-3B8C-645D-CA9F8AF322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8358" y="2310063"/>
            <a:ext cx="9769642" cy="294773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b="1" dirty="0"/>
              <a:t>Theory:</a:t>
            </a:r>
            <a:br>
              <a:rPr lang="en-US" dirty="0"/>
            </a:br>
            <a:r>
              <a:rPr lang="en-US" dirty="0"/>
              <a:t>AWS Glue is a </a:t>
            </a:r>
            <a:r>
              <a:rPr lang="en-US" i="1" dirty="0"/>
              <a:t>serverless data integration and ETL service</a:t>
            </a:r>
            <a:r>
              <a:rPr lang="en-US" dirty="0"/>
              <a:t> used for discovering, preparing, and transforming data.</a:t>
            </a:r>
            <a:br>
              <a:rPr lang="en-US" dirty="0"/>
            </a:br>
            <a:r>
              <a:rPr lang="en-US" dirty="0"/>
              <a:t>It automatically manages infrastructure and scales on demand.</a:t>
            </a:r>
            <a:br>
              <a:rPr lang="en-US" dirty="0"/>
            </a:br>
            <a:r>
              <a:rPr lang="en-US" b="1" dirty="0"/>
              <a:t>Key Capabilities:</a:t>
            </a:r>
            <a:endParaRPr lang="en-US" dirty="0"/>
          </a:p>
          <a:p>
            <a:pPr algn="l"/>
            <a:r>
              <a:rPr lang="en-US" dirty="0"/>
              <a:t>Data discovery using Glue Crawlers</a:t>
            </a:r>
          </a:p>
          <a:p>
            <a:pPr algn="l"/>
            <a:r>
              <a:rPr lang="en-US" dirty="0"/>
              <a:t>ETL jobs using </a:t>
            </a:r>
            <a:r>
              <a:rPr lang="en-US" dirty="0" err="1"/>
              <a:t>PySpark</a:t>
            </a:r>
            <a:r>
              <a:rPr lang="en-US" dirty="0"/>
              <a:t> or Python Shell</a:t>
            </a:r>
          </a:p>
          <a:p>
            <a:pPr algn="l"/>
            <a:r>
              <a:rPr lang="en-US" dirty="0"/>
              <a:t>Integrated Data Catalog</a:t>
            </a:r>
          </a:p>
          <a:p>
            <a:pPr algn="l"/>
            <a:r>
              <a:rPr lang="en-US" dirty="0"/>
              <a:t>Works natively with S3, Redshift, Athena, and Lake Formation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5265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69435-D4B8-34AA-CD50-4CE621909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Glue for ETL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5EF33-E74F-FC46-D4D6-0E64FE0FE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Theory:</a:t>
            </a:r>
            <a:br>
              <a:rPr lang="en-US" dirty="0"/>
            </a:br>
            <a:r>
              <a:rPr lang="en-US" dirty="0"/>
              <a:t>Glue simplifies traditional ETL development by eliminating manual server setup.</a:t>
            </a:r>
            <a:br>
              <a:rPr lang="en-US" dirty="0"/>
            </a:br>
            <a:r>
              <a:rPr lang="en-US" b="1" dirty="0"/>
              <a:t>Benefits:</a:t>
            </a:r>
            <a:endParaRPr lang="en-US" dirty="0"/>
          </a:p>
          <a:p>
            <a:r>
              <a:rPr lang="en-US" dirty="0"/>
              <a:t>Fully managed — no servers to maintain</a:t>
            </a:r>
          </a:p>
          <a:p>
            <a:r>
              <a:rPr lang="en-US" dirty="0"/>
              <a:t>Auto-scaling Spark environment</a:t>
            </a:r>
          </a:p>
          <a:p>
            <a:r>
              <a:rPr lang="en-US" dirty="0"/>
              <a:t>Built-in integration with AWS ecosystem</a:t>
            </a:r>
          </a:p>
          <a:p>
            <a:r>
              <a:rPr lang="en-US" dirty="0"/>
              <a:t>Support for both scheduled and on-demand runs</a:t>
            </a:r>
            <a:br>
              <a:rPr lang="en-US" dirty="0"/>
            </a:br>
            <a:r>
              <a:rPr lang="en-US" b="1" dirty="0"/>
              <a:t>Use Case:</a:t>
            </a:r>
            <a:br>
              <a:rPr lang="en-US" dirty="0"/>
            </a:br>
            <a:r>
              <a:rPr lang="en-US" dirty="0"/>
              <a:t>Automate daily data preparation from S3 → S3 → Redshift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2457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68E2D-63B0-728A-987D-9CEB819DC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Glue Architecture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BCBFA-039B-DA0C-9F40-6485FDBDC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Core Components:</a:t>
            </a:r>
            <a:br>
              <a:rPr lang="en-IN" dirty="0"/>
            </a:br>
            <a:r>
              <a:rPr lang="en-IN" dirty="0"/>
              <a:t>1️⃣ </a:t>
            </a:r>
            <a:r>
              <a:rPr lang="en-IN" b="1" dirty="0"/>
              <a:t>Crawler:</a:t>
            </a:r>
            <a:r>
              <a:rPr lang="en-IN" dirty="0"/>
              <a:t> Scans S3 and updates Data </a:t>
            </a:r>
            <a:r>
              <a:rPr lang="en-IN" dirty="0" err="1"/>
              <a:t>Catalog</a:t>
            </a:r>
            <a:br>
              <a:rPr lang="en-IN" dirty="0"/>
            </a:br>
            <a:r>
              <a:rPr lang="en-IN" dirty="0"/>
              <a:t>2️⃣ </a:t>
            </a:r>
            <a:r>
              <a:rPr lang="en-IN" b="1" dirty="0"/>
              <a:t>Data </a:t>
            </a:r>
            <a:r>
              <a:rPr lang="en-IN" b="1" dirty="0" err="1"/>
              <a:t>Catalog</a:t>
            </a:r>
            <a:r>
              <a:rPr lang="en-IN" b="1" dirty="0"/>
              <a:t>:</a:t>
            </a:r>
            <a:r>
              <a:rPr lang="en-IN" dirty="0"/>
              <a:t> Central metadata store</a:t>
            </a:r>
            <a:br>
              <a:rPr lang="en-IN" dirty="0"/>
            </a:br>
            <a:r>
              <a:rPr lang="en-IN" dirty="0"/>
              <a:t>3️⃣ </a:t>
            </a:r>
            <a:r>
              <a:rPr lang="en-IN" b="1" dirty="0"/>
              <a:t>Job:</a:t>
            </a:r>
            <a:r>
              <a:rPr lang="en-IN" dirty="0"/>
              <a:t> Executes ETL transformations (</a:t>
            </a:r>
            <a:r>
              <a:rPr lang="en-IN" dirty="0" err="1"/>
              <a:t>PySpark</a:t>
            </a:r>
            <a:r>
              <a:rPr lang="en-IN" dirty="0"/>
              <a:t> / Python)</a:t>
            </a:r>
            <a:br>
              <a:rPr lang="en-IN" dirty="0"/>
            </a:br>
            <a:r>
              <a:rPr lang="en-IN" dirty="0"/>
              <a:t>4️⃣ </a:t>
            </a:r>
            <a:r>
              <a:rPr lang="en-IN" b="1" dirty="0"/>
              <a:t>Trigger:</a:t>
            </a:r>
            <a:r>
              <a:rPr lang="en-IN" dirty="0"/>
              <a:t> Automates job execution (schedule or event)</a:t>
            </a:r>
            <a:br>
              <a:rPr lang="en-IN" dirty="0"/>
            </a:br>
            <a:r>
              <a:rPr lang="en-IN" b="1" dirty="0"/>
              <a:t>Flow:</a:t>
            </a:r>
            <a:br>
              <a:rPr lang="en-IN" dirty="0"/>
            </a:br>
            <a:r>
              <a:rPr lang="en-IN" dirty="0"/>
              <a:t>Raw Data → Crawler → </a:t>
            </a:r>
            <a:r>
              <a:rPr lang="en-IN" dirty="0" err="1"/>
              <a:t>Catalog</a:t>
            </a:r>
            <a:r>
              <a:rPr lang="en-IN" dirty="0"/>
              <a:t> → Glue Job → Transformed Data</a:t>
            </a:r>
          </a:p>
        </p:txBody>
      </p:sp>
    </p:spTree>
    <p:extLst>
      <p:ext uri="{BB962C8B-B14F-4D97-AF65-F5344CB8AC3E}">
        <p14:creationId xmlns:p14="http://schemas.microsoft.com/office/powerpoint/2010/main" val="2651834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0FE27-9659-2A4C-11E4-BFD604BD7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AWS Glue Crawlers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EEC07-4844-5695-63E4-BF4B04F38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b="1" dirty="0"/>
              <a:t>Theory:</a:t>
            </a:r>
            <a:br>
              <a:rPr lang="en-IN" dirty="0"/>
            </a:br>
            <a:r>
              <a:rPr lang="en-IN" dirty="0"/>
              <a:t>Crawlers automatically scan data in S3, detect schemas, and create metadata tables.</a:t>
            </a:r>
            <a:br>
              <a:rPr lang="en-IN" dirty="0"/>
            </a:br>
            <a:r>
              <a:rPr lang="en-IN" b="1" dirty="0"/>
              <a:t>Example:</a:t>
            </a:r>
            <a:endParaRPr lang="en-IN" dirty="0"/>
          </a:p>
          <a:p>
            <a:r>
              <a:rPr lang="en-IN" dirty="0"/>
              <a:t>Scan folder: s3://supplychain/raw/shipments/</a:t>
            </a:r>
          </a:p>
          <a:p>
            <a:r>
              <a:rPr lang="en-IN" dirty="0"/>
              <a:t>Detects JSON structure → Creates table in </a:t>
            </a:r>
            <a:r>
              <a:rPr lang="en-IN" dirty="0" err="1"/>
              <a:t>glue_catalog.shipments_raw</a:t>
            </a:r>
            <a:br>
              <a:rPr lang="en-IN" dirty="0"/>
            </a:br>
            <a:r>
              <a:rPr lang="en-IN" b="1" dirty="0"/>
              <a:t>Benefits:</a:t>
            </a:r>
            <a:endParaRPr lang="en-IN" dirty="0"/>
          </a:p>
          <a:p>
            <a:r>
              <a:rPr lang="en-IN" dirty="0"/>
              <a:t>Schema inference</a:t>
            </a:r>
          </a:p>
          <a:p>
            <a:r>
              <a:rPr lang="en-IN" dirty="0"/>
              <a:t>Automatic updates for new files</a:t>
            </a:r>
          </a:p>
          <a:p>
            <a:r>
              <a:rPr lang="en-IN" dirty="0"/>
              <a:t>Integration with Athena for SQL queries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7795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042FE-0E3E-AA64-686F-C23774360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Glue Data </a:t>
            </a:r>
            <a:r>
              <a:rPr lang="en-IN" dirty="0" err="1"/>
              <a:t>Catalog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6A00B-45AC-7DAB-437D-16063F294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Theory:</a:t>
            </a:r>
            <a:br>
              <a:rPr lang="en-IN" dirty="0"/>
            </a:br>
            <a:r>
              <a:rPr lang="en-IN" dirty="0"/>
              <a:t>A centralized metadata repository that stores table definitions and schemas.</a:t>
            </a:r>
            <a:br>
              <a:rPr lang="en-IN" dirty="0"/>
            </a:br>
            <a:r>
              <a:rPr lang="en-IN" b="1" dirty="0"/>
              <a:t>Features:</a:t>
            </a:r>
            <a:endParaRPr lang="en-IN" dirty="0"/>
          </a:p>
          <a:p>
            <a:r>
              <a:rPr lang="en-IN" dirty="0"/>
              <a:t>Tracks schema changes across datasets</a:t>
            </a:r>
          </a:p>
          <a:p>
            <a:r>
              <a:rPr lang="en-IN" dirty="0"/>
              <a:t>Enables Athena and Redshift Spectrum queries</a:t>
            </a:r>
          </a:p>
          <a:p>
            <a:r>
              <a:rPr lang="en-IN" dirty="0"/>
              <a:t>Versioned metadata for data lineage</a:t>
            </a:r>
            <a:br>
              <a:rPr lang="en-IN" dirty="0"/>
            </a:br>
            <a:r>
              <a:rPr lang="en-IN" b="1" dirty="0"/>
              <a:t>Example Table Schema:</a:t>
            </a:r>
            <a:br>
              <a:rPr lang="en-IN" dirty="0"/>
            </a:br>
            <a:r>
              <a:rPr lang="en-IN" dirty="0"/>
              <a:t>| Column | Type | Example |</a:t>
            </a:r>
            <a:br>
              <a:rPr lang="en-IN" dirty="0"/>
            </a:br>
            <a:r>
              <a:rPr lang="en-IN" dirty="0"/>
              <a:t>|---------|-------|----------|</a:t>
            </a:r>
            <a:br>
              <a:rPr lang="en-IN" dirty="0"/>
            </a:br>
            <a:r>
              <a:rPr lang="en-IN" dirty="0"/>
              <a:t>| </a:t>
            </a:r>
            <a:r>
              <a:rPr lang="en-IN" dirty="0" err="1"/>
              <a:t>shipment_id</a:t>
            </a:r>
            <a:r>
              <a:rPr lang="en-IN" dirty="0"/>
              <a:t> | string | SHP001 |</a:t>
            </a:r>
            <a:br>
              <a:rPr lang="en-IN" dirty="0"/>
            </a:br>
            <a:r>
              <a:rPr lang="en-IN" dirty="0"/>
              <a:t>| weight | float | 12.5 |</a:t>
            </a:r>
            <a:br>
              <a:rPr lang="en-IN" dirty="0"/>
            </a:br>
            <a:r>
              <a:rPr lang="en-IN" dirty="0"/>
              <a:t>| status | string | Delivered |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2819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9F465-3013-4F6D-385C-761C3E798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AWS Glue Jobs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798C0-D287-B5F6-6C45-58F0E52F6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Theory:</a:t>
            </a:r>
            <a:br>
              <a:rPr lang="en-IN" dirty="0"/>
            </a:br>
            <a:r>
              <a:rPr lang="en-IN" dirty="0"/>
              <a:t>Glue Jobs perform ETL operations using </a:t>
            </a:r>
            <a:r>
              <a:rPr lang="en-IN" dirty="0" err="1"/>
              <a:t>PySpark</a:t>
            </a:r>
            <a:r>
              <a:rPr lang="en-IN" dirty="0"/>
              <a:t> or Python.</a:t>
            </a:r>
            <a:br>
              <a:rPr lang="en-IN" dirty="0"/>
            </a:br>
            <a:r>
              <a:rPr lang="en-IN" b="1" dirty="0"/>
              <a:t>Two Job Types:</a:t>
            </a:r>
            <a:endParaRPr lang="en-IN" dirty="0"/>
          </a:p>
          <a:p>
            <a:r>
              <a:rPr lang="en-IN" b="1" dirty="0"/>
              <a:t>Spark Job:</a:t>
            </a:r>
            <a:r>
              <a:rPr lang="en-IN" dirty="0"/>
              <a:t> Distributed transformations (joins, filters, aggregations)</a:t>
            </a:r>
          </a:p>
          <a:p>
            <a:r>
              <a:rPr lang="en-IN" b="1" dirty="0"/>
              <a:t>Python Shell Job:</a:t>
            </a:r>
            <a:r>
              <a:rPr lang="en-IN" dirty="0"/>
              <a:t> Lightweight scripts (API calls, file moves)</a:t>
            </a:r>
            <a:br>
              <a:rPr lang="en-IN" dirty="0"/>
            </a:br>
            <a:r>
              <a:rPr lang="en-IN" b="1" dirty="0"/>
              <a:t>Example:</a:t>
            </a:r>
            <a:br>
              <a:rPr lang="en-IN" dirty="0"/>
            </a:br>
            <a:r>
              <a:rPr lang="en-IN" dirty="0"/>
              <a:t>Transform raw shipment data → clean and save as Parquet in trusted zone.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2349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F1BCA-45E7-5ABD-871C-FE57B4924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Light Transformations Example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B7C5A-FDF7-3C31-8B4C-4D15B6AFF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Transformation Flow:</a:t>
            </a:r>
            <a:br>
              <a:rPr lang="en-IN" dirty="0"/>
            </a:br>
            <a:r>
              <a:rPr lang="en-IN" dirty="0"/>
              <a:t>1️⃣ Read JSON from Raw Zone</a:t>
            </a:r>
            <a:br>
              <a:rPr lang="en-IN" dirty="0"/>
            </a:br>
            <a:r>
              <a:rPr lang="en-IN" dirty="0"/>
              <a:t>2️⃣ Filter invalid records</a:t>
            </a:r>
            <a:br>
              <a:rPr lang="en-IN" dirty="0"/>
            </a:br>
            <a:r>
              <a:rPr lang="en-IN" dirty="0"/>
              <a:t>3️⃣ Standardize column names</a:t>
            </a:r>
            <a:br>
              <a:rPr lang="en-IN" dirty="0"/>
            </a:br>
            <a:r>
              <a:rPr lang="en-IN" dirty="0"/>
              <a:t>4️⃣ Write to Trusted Zone (Parquet)</a:t>
            </a:r>
            <a:br>
              <a:rPr lang="en-IN" dirty="0"/>
            </a:br>
            <a:r>
              <a:rPr lang="en-IN" b="1" dirty="0"/>
              <a:t>Business Case:</a:t>
            </a:r>
            <a:br>
              <a:rPr lang="en-IN" dirty="0"/>
            </a:br>
            <a:r>
              <a:rPr lang="en-IN" dirty="0"/>
              <a:t>Clean shipment tracking data for SLA analysis and dashboard updates.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4819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9376B-3705-03D6-5EA8-7FB240A3D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Triggering Glue Jobs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D8B10-A659-5A95-C225-5773986601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Automation Options:</a:t>
            </a:r>
            <a:endParaRPr lang="en-US" dirty="0"/>
          </a:p>
          <a:p>
            <a:r>
              <a:rPr lang="en-US" b="1" dirty="0"/>
              <a:t>On-Demand:</a:t>
            </a:r>
            <a:r>
              <a:rPr lang="en-US" dirty="0"/>
              <a:t> Manually run via Console/CLI</a:t>
            </a:r>
          </a:p>
          <a:p>
            <a:r>
              <a:rPr lang="en-US" b="1" dirty="0"/>
              <a:t>Scheduled:</a:t>
            </a:r>
            <a:r>
              <a:rPr lang="en-US" dirty="0"/>
              <a:t> Run every hour/day</a:t>
            </a:r>
          </a:p>
          <a:p>
            <a:r>
              <a:rPr lang="en-US" b="1" dirty="0"/>
              <a:t>Event-Based:</a:t>
            </a:r>
            <a:r>
              <a:rPr lang="en-US" dirty="0"/>
              <a:t> Triggered by S3/Lambda/SQS</a:t>
            </a:r>
            <a:br>
              <a:rPr lang="en-US" dirty="0"/>
            </a:br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When S3 receives </a:t>
            </a:r>
            <a:r>
              <a:rPr lang="en-US" dirty="0" err="1"/>
              <a:t>shipment.json</a:t>
            </a:r>
            <a:r>
              <a:rPr lang="en-US" dirty="0"/>
              <a:t>, trigger </a:t>
            </a:r>
            <a:r>
              <a:rPr lang="en-US" dirty="0" err="1"/>
              <a:t>glue_clean_shipments_job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9573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D5E72-B248-460E-7C88-A8E405CFD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Monitoring and Logs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B0D2B-FB8A-8C38-6773-5D6E0A987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Theory:</a:t>
            </a:r>
            <a:br>
              <a:rPr lang="en-IN" dirty="0"/>
            </a:br>
            <a:r>
              <a:rPr lang="en-IN" dirty="0"/>
              <a:t>Glue automatically logs job runs to CloudWatch.</a:t>
            </a:r>
            <a:br>
              <a:rPr lang="en-IN" dirty="0"/>
            </a:br>
            <a:r>
              <a:rPr lang="en-IN" b="1" dirty="0"/>
              <a:t>You Can Monitor:</a:t>
            </a:r>
            <a:endParaRPr lang="en-IN" dirty="0"/>
          </a:p>
          <a:p>
            <a:r>
              <a:rPr lang="en-IN" dirty="0"/>
              <a:t>Job duration</a:t>
            </a:r>
          </a:p>
          <a:p>
            <a:r>
              <a:rPr lang="en-IN" dirty="0"/>
              <a:t>Error count</a:t>
            </a:r>
          </a:p>
          <a:p>
            <a:r>
              <a:rPr lang="en-IN" dirty="0"/>
              <a:t>Record count processed</a:t>
            </a:r>
            <a:br>
              <a:rPr lang="en-IN" dirty="0"/>
            </a:br>
            <a:r>
              <a:rPr lang="en-IN" b="1" dirty="0"/>
              <a:t>Best Practice:</a:t>
            </a:r>
            <a:br>
              <a:rPr lang="en-IN" dirty="0"/>
            </a:br>
            <a:r>
              <a:rPr lang="en-IN" dirty="0"/>
              <a:t>Add logging inside scripts using Python logger.info() for traceability.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5288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1FCB9-B452-9E5F-8E66-C6A950CAB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Best Practices &amp;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B07EB-5B00-35B4-FED7-4B7757147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Best Practices:</a:t>
            </a:r>
            <a:br>
              <a:rPr lang="en-IN" dirty="0"/>
            </a:br>
            <a:r>
              <a:rPr lang="en-IN" dirty="0"/>
              <a:t>✅ Separate jobs by zone (Raw → Trusted → Refined)</a:t>
            </a:r>
            <a:br>
              <a:rPr lang="en-IN" dirty="0"/>
            </a:br>
            <a:r>
              <a:rPr lang="en-IN" dirty="0"/>
              <a:t>✅ Reuse code with Glue job parameters</a:t>
            </a:r>
            <a:br>
              <a:rPr lang="en-IN" dirty="0"/>
            </a:br>
            <a:r>
              <a:rPr lang="en-IN" dirty="0"/>
              <a:t>✅ Use Glue Data </a:t>
            </a:r>
            <a:r>
              <a:rPr lang="en-IN" dirty="0" err="1"/>
              <a:t>Catalog</a:t>
            </a:r>
            <a:r>
              <a:rPr lang="en-IN" dirty="0"/>
              <a:t> for schema tracking</a:t>
            </a:r>
            <a:br>
              <a:rPr lang="en-IN" dirty="0"/>
            </a:br>
            <a:r>
              <a:rPr lang="en-IN" dirty="0"/>
              <a:t>✅ Optimize Spark operations with .repartition() and .coalesce()</a:t>
            </a:r>
            <a:br>
              <a:rPr lang="en-IN" dirty="0"/>
            </a:br>
            <a:r>
              <a:rPr lang="en-IN" dirty="0"/>
              <a:t>✅ Store outputs as Parquet for analytics efficiency</a:t>
            </a:r>
            <a:br>
              <a:rPr lang="en-IN" dirty="0"/>
            </a:br>
            <a:r>
              <a:rPr lang="en-IN" b="1" dirty="0"/>
              <a:t>Summary:</a:t>
            </a:r>
            <a:br>
              <a:rPr lang="en-IN" dirty="0"/>
            </a:br>
            <a:r>
              <a:rPr lang="en-IN" dirty="0"/>
              <a:t>Glue connects, cleans, and </a:t>
            </a:r>
            <a:r>
              <a:rPr lang="en-IN" dirty="0" err="1"/>
              <a:t>catalogs</a:t>
            </a:r>
            <a:r>
              <a:rPr lang="en-IN" dirty="0"/>
              <a:t> your data — powering the AWS Data Lake pipeline end-to-end. </a:t>
            </a:r>
            <a:r>
              <a:rPr lang="en-IN"/>
              <a:t>🚀</a:t>
            </a:r>
          </a:p>
        </p:txBody>
      </p:sp>
    </p:spTree>
    <p:extLst>
      <p:ext uri="{BB962C8B-B14F-4D97-AF65-F5344CB8AC3E}">
        <p14:creationId xmlns:p14="http://schemas.microsoft.com/office/powerpoint/2010/main" val="5015028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623</Words>
  <Application>Microsoft Office PowerPoint</Application>
  <PresentationFormat>Widescreen</PresentationFormat>
  <Paragraphs>44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Introduction to AWS Glue</vt:lpstr>
      <vt:lpstr>Why Use Glue for ETL</vt:lpstr>
      <vt:lpstr>Glue Architecture Overview</vt:lpstr>
      <vt:lpstr>AWS Glue Crawlers </vt:lpstr>
      <vt:lpstr>Glue Data Catalog</vt:lpstr>
      <vt:lpstr>AWS Glue Jobs</vt:lpstr>
      <vt:lpstr>Light Transformations Example </vt:lpstr>
      <vt:lpstr>Triggering Glue Jobs</vt:lpstr>
      <vt:lpstr>Monitoring and Logs</vt:lpstr>
      <vt:lpstr>Best Practices &amp;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2025-11-10T10:19:22Z</dcterms:created>
  <dcterms:modified xsi:type="dcterms:W3CDTF">2025-11-10T10:19:30Z</dcterms:modified>
</cp:coreProperties>
</file>