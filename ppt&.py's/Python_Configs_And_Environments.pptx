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BD14-54AE-BE74-910C-F12A6EDA3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98F1A-7371-9D8F-3C06-65A685500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9D58C-B2CE-0F8C-1966-53B81378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2D1D-6798-E039-AC02-F5DB68A1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8C99-644E-E63D-87CB-B2D8AEF9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42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5385-E6BA-F1D9-77C6-E3B661A5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DECC2-70E2-7274-9DE2-3045FCECB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09315-A3CC-B7A0-315E-C87B28CC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2F314-4367-35AD-B37F-ED6A5B28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A0A30-2F47-4C90-7534-6BD4C9B1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34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2AD8-CA41-438F-BD4B-C6C4670B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8534D-2A6D-06DB-9AEF-3DC1E4E54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AC53B-A699-574A-890F-351E53B0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5C852-AC6B-3FB6-0FD5-606E2580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1A8B6-6EBD-6636-A525-453DE97F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137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5258-ED6E-7602-1F64-037C0A8D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C8BCD-C203-510D-B452-7E64022AB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C7BB2-839D-C59D-1B14-71DF5FF61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7CCE8-6AB4-6904-72CC-DDB81C37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780AB-1320-071F-8908-8158B523B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51572-859F-48B4-C90E-F4BE548B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810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E7AC-9E41-66B8-3A91-151E2620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959FE-6D8E-0825-19D7-E9141B314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3E2B5-0CC2-1CF8-104D-5586BEEFB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248D07-AEE3-1980-F6FD-D3FF55C64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9263F-52CF-D49A-0985-9E0047D15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69A09-31D9-40C4-1E65-E80A22C8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E71A1-5A05-A21D-1D3B-52CDD60D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694B9-85DD-7ABA-C642-F29C514EA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37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77C4-2185-C537-3371-BD3E6306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8669F-7292-655D-241C-989465A9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C5182-EFA5-4734-6F7B-856A180C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1658F-8FC8-7CEF-FEC0-B4BBBC1B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47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00CF1-0856-118E-4523-A230EB164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8C262-60D1-E9DF-77B1-476C927A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6BED8-F8FA-DFC2-4D11-3401EFA59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23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86A0-826B-5A2D-295F-34EFE91A3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5DC0-2C10-20C6-0C8E-AEA29B8C5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A722E-02F7-4972-C44E-05780758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1675F-BA7F-E024-5436-444C1E50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2887E-83CE-9165-C255-96A0802B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C5920-8F96-4764-3315-3112DBA7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58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B4E5-D20F-B68F-49D5-45C95622D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90D22-7DCD-6044-1010-9C30F274A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8C330-2EF3-F34C-1586-2F192F8CF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17CE3-E132-BF5D-F8A5-080AEC7E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BDD31-7D4D-0FF5-75AC-393BA95F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212B-D813-FE50-EFDD-5BA7E2CD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62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5D04-92B4-67A1-47D9-0ABA4F92F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57B9E-549B-658E-C2A0-493845411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7BD2-A06C-B576-DC76-A89A0B1B2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0247C-F472-7497-7867-296ABF1F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1C4F0-CB48-FC6B-9277-83908617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3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41286-42EC-CC3E-0B00-271E1619A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C1345-1F2F-B051-63DD-F5D3C1D17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2700B-B1DF-FE5D-1FF7-0A7CEB3B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D6307-11A8-014A-50B4-B3B50629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C0E4-C2A3-5588-0616-D4C0B57AF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70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7A0DED-73DF-0501-61D1-5F7212B2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D269D-05DB-A52F-356A-32C854FC3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941C3-D346-4228-CB76-B45B690DC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AAC63-A98A-45F2-8947-2FDC2986980A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A113A-AE0D-F788-076E-E5F217E92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84F16-7E81-B04B-C9EB-21084FC76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3C353-D9BA-4BD5-B77C-7B1D3A90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2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03D2-14D9-AC8F-1274-6A3506394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56675"/>
            <a:ext cx="11871158" cy="1540041"/>
          </a:xfrm>
        </p:spPr>
        <p:txBody>
          <a:bodyPr/>
          <a:lstStyle/>
          <a:p>
            <a:r>
              <a:rPr lang="en-IN" b="1" dirty="0"/>
              <a:t>“Where Configs / Environments Fit”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A55FA-2DD3-6330-3A7F-3C793FD95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895" y="2005263"/>
            <a:ext cx="9946105" cy="3252537"/>
          </a:xfrm>
        </p:spPr>
        <p:txBody>
          <a:bodyPr/>
          <a:lstStyle/>
          <a:p>
            <a:pPr algn="l"/>
            <a:r>
              <a:rPr lang="en-US" b="1" dirty="0"/>
              <a:t>Where Configs / Environments Fit</a:t>
            </a:r>
          </a:p>
          <a:p>
            <a:pPr algn="l"/>
            <a:r>
              <a:rPr lang="en-US" dirty="0"/>
              <a:t>Configs define </a:t>
            </a:r>
            <a:r>
              <a:rPr lang="en-US" i="1" dirty="0"/>
              <a:t>how</a:t>
            </a:r>
            <a:r>
              <a:rPr lang="en-US" dirty="0"/>
              <a:t> and </a:t>
            </a:r>
            <a:r>
              <a:rPr lang="en-US" i="1" dirty="0"/>
              <a:t>where</a:t>
            </a:r>
            <a:r>
              <a:rPr lang="en-US" dirty="0"/>
              <a:t> your code runs.</a:t>
            </a:r>
            <a:br>
              <a:rPr lang="en-US" dirty="0"/>
            </a:br>
            <a:r>
              <a:rPr lang="en-US" dirty="0"/>
              <a:t>They separate </a:t>
            </a:r>
            <a:r>
              <a:rPr lang="en-US" b="1" dirty="0"/>
              <a:t>logic</a:t>
            </a:r>
            <a:r>
              <a:rPr lang="en-US" dirty="0"/>
              <a:t> (code) from </a:t>
            </a:r>
            <a:r>
              <a:rPr lang="en-US" b="1" dirty="0"/>
              <a:t>settings</a:t>
            </a:r>
            <a:r>
              <a:rPr lang="en-US" dirty="0"/>
              <a:t> (like file paths, URLs, API keys).</a:t>
            </a:r>
          </a:p>
          <a:p>
            <a:pPr algn="l"/>
            <a:r>
              <a:rPr lang="en-US" dirty="0"/>
              <a:t>This topic connects your AWS workflows (</a:t>
            </a:r>
            <a:r>
              <a:rPr lang="en-US" dirty="0" err="1"/>
              <a:t>AppConfig</a:t>
            </a:r>
            <a:r>
              <a:rPr lang="en-US" dirty="0"/>
              <a:t>, Glue, Lambda, Step Functions) with how configuration files and environment variables drive different behaviors across </a:t>
            </a:r>
            <a:r>
              <a:rPr lang="en-US" b="1" dirty="0"/>
              <a:t>local</a:t>
            </a:r>
            <a:r>
              <a:rPr lang="en-US" dirty="0"/>
              <a:t>, </a:t>
            </a:r>
            <a:r>
              <a:rPr lang="en-US" b="1" dirty="0"/>
              <a:t>dev</a:t>
            </a:r>
            <a:r>
              <a:rPr lang="en-US" dirty="0"/>
              <a:t>, </a:t>
            </a:r>
            <a:r>
              <a:rPr lang="en-US" b="1" dirty="0"/>
              <a:t>stage</a:t>
            </a:r>
            <a:r>
              <a:rPr lang="en-US" dirty="0"/>
              <a:t>, and </a:t>
            </a:r>
            <a:r>
              <a:rPr lang="en-US" b="1" dirty="0"/>
              <a:t>prod</a:t>
            </a:r>
            <a:r>
              <a:rPr lang="en-US" dirty="0"/>
              <a:t> — without changing the core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691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7469-D672-87FF-4784-CB8D7579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We Need Configs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12A5ED-D9E6-F48F-E4CF-7E82D60C01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4"/>
            <a:ext cx="850264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hardcoding credentials or URLs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Easily switch between local, dev, and prod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logging, data paths, and feature flags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team collaboration safely</a:t>
            </a:r>
          </a:p>
        </p:txBody>
      </p:sp>
    </p:spTree>
    <p:extLst>
      <p:ext uri="{BB962C8B-B14F-4D97-AF65-F5344CB8AC3E}">
        <p14:creationId xmlns:p14="http://schemas.microsoft.com/office/powerpoint/2010/main" val="1490278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6143-6AD6-3AD5-3B88-9CDC63C0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Environments in Data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28D15F-433B-15F7-C0FB-D79FDB4FB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1933883"/>
              </p:ext>
            </p:extLst>
          </p:nvPr>
        </p:nvGraphicFramePr>
        <p:xfrm>
          <a:off x="1171074" y="1331495"/>
          <a:ext cx="10182726" cy="4315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242">
                  <a:extLst>
                    <a:ext uri="{9D8B030D-6E8A-4147-A177-3AD203B41FA5}">
                      <a16:colId xmlns:a16="http://schemas.microsoft.com/office/drawing/2014/main" val="304776984"/>
                    </a:ext>
                  </a:extLst>
                </a:gridCol>
                <a:gridCol w="3394242">
                  <a:extLst>
                    <a:ext uri="{9D8B030D-6E8A-4147-A177-3AD203B41FA5}">
                      <a16:colId xmlns:a16="http://schemas.microsoft.com/office/drawing/2014/main" val="1093178961"/>
                    </a:ext>
                  </a:extLst>
                </a:gridCol>
                <a:gridCol w="3394242">
                  <a:extLst>
                    <a:ext uri="{9D8B030D-6E8A-4147-A177-3AD203B41FA5}">
                      <a16:colId xmlns:a16="http://schemas.microsoft.com/office/drawing/2014/main" val="2172818169"/>
                    </a:ext>
                  </a:extLst>
                </a:gridCol>
              </a:tblGrid>
              <a:tr h="86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750321"/>
                  </a:ext>
                </a:extLst>
              </a:tr>
              <a:tr h="86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Developer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 CSV, mock 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477536"/>
                  </a:ext>
                </a:extLst>
              </a:tr>
              <a:tr h="86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Dev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 S3 bucket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763267"/>
                  </a:ext>
                </a:extLst>
              </a:tr>
              <a:tr h="86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Pre-prod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086762"/>
                  </a:ext>
                </a:extLst>
              </a:tr>
              <a:tr h="86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 business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Live S3, Redshift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670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35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ABCA-CD04-73DC-EA0E-F41C891A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Config Types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4F9163-2F5A-E405-88F8-2803CFF009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1474" y="2120094"/>
            <a:ext cx="10763058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files (local development)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yaml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json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config files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AppConfig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 Secrets Manager (secure keys)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variables 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os.environ</a:t>
            </a:r>
            <a:r>
              <a:rPr lang="en-US" altLang="en-US" dirty="0">
                <a:latin typeface="Arial Unicode MS"/>
              </a:rPr>
              <a:t>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27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A443-3529-EBCE-1DAC-DF26FEBA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.env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42A5F-9757-91A2-2A43-6F815DA1D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ENV=dev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DB_USER=admin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DB_PASS=MySecret123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S3_BUCKET=my-dev-bucket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Keeps secrets separate from your codebase.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71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EB3A-38C7-C1DD-6AC3-597C33CF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/>
                </a:solidFill>
              </a:rPr>
              <a:t>Example </a:t>
            </a:r>
            <a:r>
              <a:rPr lang="en-IN" dirty="0" err="1">
                <a:solidFill>
                  <a:schemeClr val="accent6"/>
                </a:solidFill>
              </a:rPr>
              <a:t>config.yaml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6518-E613-71BD-9A33-59436446B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local: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data_path</a:t>
            </a:r>
            <a:r>
              <a:rPr lang="en-IN" dirty="0">
                <a:solidFill>
                  <a:schemeClr val="accent6"/>
                </a:solidFill>
              </a:rPr>
              <a:t>: "./data/local.csv"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log_level</a:t>
            </a:r>
            <a:r>
              <a:rPr lang="en-IN" dirty="0">
                <a:solidFill>
                  <a:schemeClr val="accent6"/>
                </a:solidFill>
              </a:rPr>
              <a:t>: "DEBUG"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dev: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data_path</a:t>
            </a:r>
            <a:r>
              <a:rPr lang="en-IN" dirty="0">
                <a:solidFill>
                  <a:schemeClr val="accent6"/>
                </a:solidFill>
              </a:rPr>
              <a:t>: "s3://dev-bucket/raw/orders.csv"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log_level</a:t>
            </a:r>
            <a:r>
              <a:rPr lang="en-IN" dirty="0">
                <a:solidFill>
                  <a:schemeClr val="accent6"/>
                </a:solidFill>
              </a:rPr>
              <a:t>: "INFO"</a:t>
            </a:r>
          </a:p>
          <a:p>
            <a:pPr marL="0" indent="0">
              <a:buNone/>
            </a:pPr>
            <a:r>
              <a:rPr lang="en-US" dirty="0"/>
              <a:t>✅ Different paths, same Python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736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86F4-4605-7A89-1F0F-9A20B2DC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Configs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84F4-4DB3-584D-C5F3-04207783F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</a:t>
            </a:r>
            <a:r>
              <a:rPr lang="en-IN" dirty="0" err="1">
                <a:solidFill>
                  <a:schemeClr val="accent6"/>
                </a:solidFill>
              </a:rPr>
              <a:t>os</a:t>
            </a:r>
            <a:r>
              <a:rPr lang="en-IN" dirty="0">
                <a:solidFill>
                  <a:schemeClr val="accent6"/>
                </a:solidFill>
              </a:rPr>
              <a:t>, </a:t>
            </a:r>
            <a:r>
              <a:rPr lang="en-IN" dirty="0" err="1">
                <a:solidFill>
                  <a:schemeClr val="accent6"/>
                </a:solidFill>
              </a:rPr>
              <a:t>yaml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env = </a:t>
            </a:r>
            <a:r>
              <a:rPr lang="en-IN" dirty="0" err="1">
                <a:solidFill>
                  <a:schemeClr val="accent6"/>
                </a:solidFill>
              </a:rPr>
              <a:t>os.getenv</a:t>
            </a:r>
            <a:r>
              <a:rPr lang="en-IN" dirty="0">
                <a:solidFill>
                  <a:schemeClr val="accent6"/>
                </a:solidFill>
              </a:rPr>
              <a:t>("ENV", "local")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config = </a:t>
            </a:r>
            <a:r>
              <a:rPr lang="en-IN" dirty="0" err="1">
                <a:solidFill>
                  <a:schemeClr val="accent6"/>
                </a:solidFill>
              </a:rPr>
              <a:t>yaml.safe_load</a:t>
            </a:r>
            <a:r>
              <a:rPr lang="en-IN" dirty="0">
                <a:solidFill>
                  <a:schemeClr val="accent6"/>
                </a:solidFill>
              </a:rPr>
              <a:t>(open("</a:t>
            </a:r>
            <a:r>
              <a:rPr lang="en-IN" dirty="0" err="1">
                <a:solidFill>
                  <a:schemeClr val="accent6"/>
                </a:solidFill>
              </a:rPr>
              <a:t>config.yaml</a:t>
            </a:r>
            <a:r>
              <a:rPr lang="en-IN" dirty="0">
                <a:solidFill>
                  <a:schemeClr val="accent6"/>
                </a:solidFill>
              </a:rPr>
              <a:t>"))[env]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print(config["</a:t>
            </a:r>
            <a:r>
              <a:rPr lang="en-IN" dirty="0" err="1">
                <a:solidFill>
                  <a:schemeClr val="accent6"/>
                </a:solidFill>
              </a:rPr>
              <a:t>data_path</a:t>
            </a:r>
            <a:r>
              <a:rPr lang="en-IN" dirty="0">
                <a:solidFill>
                  <a:schemeClr val="accent6"/>
                </a:solidFill>
              </a:rPr>
              <a:t>"])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Dynamically loads the right settings.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762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1B5-63DB-9953-E88A-80960D35D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AWS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40B87-54A9-7B99-17E7-29F67783D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AWS Lambda → loads ENV variables from </a:t>
            </a:r>
            <a:r>
              <a:rPr lang="en-IN" dirty="0" err="1">
                <a:solidFill>
                  <a:schemeClr val="accent6"/>
                </a:solidFill>
              </a:rPr>
              <a:t>AppConfig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AWS Glue → picks S3 paths based on ENV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Step Functions → call correct stage job (DEV or PROD)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49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D5A6-699A-915E-1FD3-4E33E227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DFBA-4E95-F6DB-0B57-08AB280E2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Keep configs versioned, not secrets</a:t>
            </a:r>
            <a:br>
              <a:rPr lang="en-US" dirty="0"/>
            </a:br>
            <a:r>
              <a:rPr lang="en-US" dirty="0"/>
              <a:t>✅ Use AWS Secrets Manager for credentials</a:t>
            </a:r>
            <a:br>
              <a:rPr lang="en-US" dirty="0"/>
            </a:br>
            <a:r>
              <a:rPr lang="en-US" dirty="0"/>
              <a:t>✅ Test configs in lower environments first</a:t>
            </a:r>
            <a:br>
              <a:rPr lang="en-US" dirty="0"/>
            </a:br>
            <a:r>
              <a:rPr lang="en-US" dirty="0"/>
              <a:t>✅ Avoid logic in configs — only parameters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879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58E8-C4F8-8064-6176-A0B2D6F9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EC868-101D-83A7-B136-E1346C685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✅ Configs control </a:t>
            </a:r>
            <a:r>
              <a:rPr lang="en-IN" i="1" dirty="0" err="1"/>
              <a:t>behavior</a:t>
            </a:r>
            <a:r>
              <a:rPr lang="en-IN"/>
              <a:t>, not </a:t>
            </a:r>
            <a:r>
              <a:rPr lang="en-IN" i="1"/>
              <a:t>logic</a:t>
            </a:r>
            <a:br>
              <a:rPr lang="en-IN"/>
            </a:br>
            <a:r>
              <a:rPr lang="en-IN"/>
              <a:t>✅ Environments isolate data safely</a:t>
            </a:r>
            <a:br>
              <a:rPr lang="en-IN"/>
            </a:br>
            <a:r>
              <a:rPr lang="en-IN"/>
              <a:t>✅ Enables CI/CD deployment flexibility</a:t>
            </a:r>
            <a:br>
              <a:rPr lang="en-IN"/>
            </a:br>
            <a:r>
              <a:rPr lang="en-IN"/>
              <a:t>✅ Key for scalable data engineering systems</a:t>
            </a:r>
          </a:p>
        </p:txBody>
      </p:sp>
    </p:spTree>
    <p:extLst>
      <p:ext uri="{BB962C8B-B14F-4D97-AF65-F5344CB8AC3E}">
        <p14:creationId xmlns:p14="http://schemas.microsoft.com/office/powerpoint/2010/main" val="164326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“Where Configs / Environments Fit”</vt:lpstr>
      <vt:lpstr>Why We Need Configs</vt:lpstr>
      <vt:lpstr>Environments in Data Engineering</vt:lpstr>
      <vt:lpstr>Config Types </vt:lpstr>
      <vt:lpstr>Example .env File</vt:lpstr>
      <vt:lpstr>Example config.yaml</vt:lpstr>
      <vt:lpstr>Using Configs in Python</vt:lpstr>
      <vt:lpstr>Real-World AWS Example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2025-11-08T05:36:38Z</dcterms:created>
  <dcterms:modified xsi:type="dcterms:W3CDTF">2025-11-08T05:36:46Z</dcterms:modified>
</cp:coreProperties>
</file>