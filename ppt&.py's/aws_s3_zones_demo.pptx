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CD35-A718-485F-42AC-9B75865BD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B3071-99A1-3600-63EF-9F58914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C9EF-EDE9-AE2C-E1E9-29E10C804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C2ABE-D8E8-E0B6-1122-7E59CF28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0B604-3D55-E3B4-03C2-FBFA7275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35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D80B-C3BA-8385-FD3E-F6C519A5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14C39-3FB1-0ABF-6313-FD8469ABD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1D8B5-0905-356F-838C-9EF92F42F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CC1DA-A9B6-0788-1178-8AD10478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B2B9C-B191-0A77-395C-67F5423D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2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F826-0199-9D1F-5EAC-6F37B110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8CC4-B457-DFAE-9950-E93D94B8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F435C-ABFD-15D9-76D0-AA4F56BD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AF9C3-B34C-9C92-F0CC-1CAEFC7D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CB2F0-762A-B9A5-EA9F-2BFACA48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8F52-F4C5-9EB6-0811-A5960D58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52697-0712-3DA9-84C2-EA0FD737D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A71A2-3A77-271F-8BCD-29A1597E3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FA6B6-0448-0E65-EADF-D097CC63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85CE8-0CE5-FF5E-AD9F-F4A6E5A0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DF392-52FF-8924-D703-99590B1F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2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D3F0-0510-285A-6DE0-409D4172D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3FE52-6965-47CB-55DD-9A91B1932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D12A7-8209-CDE1-F8B1-2D91BD325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3B3F3-6EDE-5110-6564-2D9E39371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480D7-27DB-1D6B-9CA0-A0DC45C1D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C48D6-B00C-DC3F-0D55-DE65E784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E5BD0-EFF9-0540-5DDE-DAC364AD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D61442-DA2C-AD41-7FA7-3F6F17CA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34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D8BD-4656-152D-7C13-489D055C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4CC78-4123-BE72-93FE-FF51F5C2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23337-EADE-B8C7-0FA1-704D9484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49DFB-7EF5-8E82-50E3-5348B1AC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8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E72BD-057C-C54E-9920-986AE6F2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00FCD-F524-B7FC-F17B-DFC3A483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4FBD4-C4C2-528E-E70C-D6FFC1B4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1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8EE-2DCE-E76A-D58B-5AD402D99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57AB7-79E0-3ECA-1D54-C5AAF814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0003C-AE6E-3715-B8BB-26D8BAE1F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F20EB-EB0A-1C9E-0A2C-D5F138E7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9B934-E6D2-70A6-4E9E-7D835854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2176E-C96D-F9BA-4034-86A71BC6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31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8CA6-D4CE-03DB-3C6E-9A592B51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1D9BE-F635-9B6C-9F3F-183787844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27C67-A840-E199-EFD3-7EE0E1D27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A2156-6C0D-E5B2-DAE9-693EA7CD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13255-732A-2CAE-E958-C4758BE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58B48-7A7C-8F15-8B7D-4CA85BF3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3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568B-407F-CF5F-2C8E-F9C0BB99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C3AB7-0725-0196-8BBA-99954754D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C9700-0902-4EF3-C6C0-5AE412EC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1ECE8-CBF3-72B0-E86C-5FB2DC2D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C0A2D-7490-F5E5-5CE0-49DFFD3B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03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7F903-EFEC-02D8-AB91-C8553C189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1075F-26D1-F00A-8276-AFF651C27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6BB8A-06DF-2423-9C72-3E2FBBC4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B131-DC41-3406-1D43-3E5AD513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E5108-2219-616B-D46A-1C80A73A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04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F01EE-494B-E652-B07B-1FBC538D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95BE0-9257-824F-2186-AA99C7A09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875CD-3FB6-7CE1-6A71-E6679755E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D5A69-BE2B-41FA-A364-4F669612FD6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3A78C-282E-3E4D-26D8-AE42082C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013C7-D377-4942-02AB-7DC352A2A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00075-1AEA-45FA-8ED5-4187265EC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39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5209-FB5A-2FE5-C532-4B431AAB4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695" y="0"/>
            <a:ext cx="9641305" cy="2245895"/>
          </a:xfrm>
        </p:spPr>
        <p:txBody>
          <a:bodyPr/>
          <a:lstStyle/>
          <a:p>
            <a:r>
              <a:rPr lang="en-US" dirty="0"/>
              <a:t>AWS S3 (Buckets, Raw / Trusted / Refined Zones)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B1F0E-F512-D742-F67C-03AC5D373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937" y="2422357"/>
            <a:ext cx="9930063" cy="388218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Amazon S3?</a:t>
            </a:r>
          </a:p>
          <a:p>
            <a:pPr algn="l"/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Amazon S3 (Simple Storage Service) is an object-based storage service that stores data as key-value pairs in </a:t>
            </a:r>
            <a:r>
              <a:rPr lang="en-US" i="1" dirty="0"/>
              <a:t>buckets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It’s the foundation of almost every AWS data lake and analytics pipeline.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pPr algn="l"/>
            <a:r>
              <a:rPr lang="en-US" dirty="0"/>
              <a:t>Stores files as “objects” (JSON, CSV, images, etc.)</a:t>
            </a:r>
          </a:p>
          <a:p>
            <a:pPr algn="l"/>
            <a:r>
              <a:rPr lang="en-US" dirty="0"/>
              <a:t>Each file has metadata and versioning</a:t>
            </a:r>
          </a:p>
          <a:p>
            <a:pPr algn="l"/>
            <a:r>
              <a:rPr lang="en-US" dirty="0"/>
              <a:t>Scalable, durable (99.999999999%) and secure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78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BBCC-ACCF-3985-2E0F-A5B2F577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S3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61152-AEFE-CEA7-3A22-11FBFA168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Understanding S3 starts with its basic structure.</a:t>
            </a:r>
            <a:br>
              <a:rPr lang="en-US" dirty="0"/>
            </a:br>
            <a:r>
              <a:rPr lang="en-US" b="1" dirty="0"/>
              <a:t>Core Components:</a:t>
            </a:r>
            <a:endParaRPr lang="en-US" dirty="0"/>
          </a:p>
          <a:p>
            <a:r>
              <a:rPr lang="en-US" b="1" dirty="0"/>
              <a:t>Bucket:</a:t>
            </a:r>
            <a:r>
              <a:rPr lang="en-US" dirty="0"/>
              <a:t> Top-level container for objects</a:t>
            </a:r>
          </a:p>
          <a:p>
            <a:r>
              <a:rPr lang="en-US" b="1" dirty="0"/>
              <a:t>Object:</a:t>
            </a:r>
            <a:r>
              <a:rPr lang="en-US" dirty="0"/>
              <a:t> Actual data file (with metadata)</a:t>
            </a:r>
          </a:p>
          <a:p>
            <a:r>
              <a:rPr lang="en-US" b="1" dirty="0"/>
              <a:t>Key:</a:t>
            </a:r>
            <a:r>
              <a:rPr lang="en-US" dirty="0"/>
              <a:t> Unique identifier for each object within a bucket</a:t>
            </a:r>
          </a:p>
          <a:p>
            <a:r>
              <a:rPr lang="en-US" b="1" dirty="0"/>
              <a:t>Prefix:</a:t>
            </a:r>
            <a:r>
              <a:rPr lang="en-US" dirty="0"/>
              <a:t> Virtual folder path</a:t>
            </a:r>
            <a:br>
              <a:rPr lang="en-US" dirty="0"/>
            </a:br>
            <a:r>
              <a:rPr lang="en-US" b="1" dirty="0"/>
              <a:t>Example Path:</a:t>
            </a:r>
            <a:br>
              <a:rPr lang="en-US" dirty="0"/>
            </a:br>
            <a:r>
              <a:rPr lang="en-US" dirty="0"/>
              <a:t>s3://company-data/raw/2025/orders.csv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57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DF9C-15DA-06E0-6210-E48A5DED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Folder Zones in 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6D79E-8F5E-EEF9-E519-D4B605E62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Three-Zone Data Architecture</a:t>
            </a:r>
            <a:br>
              <a:rPr lang="en-IN" dirty="0"/>
            </a:b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S3 data lakes are often divided into three standardized zones for data management.</a:t>
            </a:r>
            <a:br>
              <a:rPr lang="en-IN" dirty="0"/>
            </a:br>
            <a:r>
              <a:rPr lang="en-IN" b="1" dirty="0"/>
              <a:t>Zones:</a:t>
            </a:r>
            <a:br>
              <a:rPr lang="en-IN" dirty="0"/>
            </a:br>
            <a:r>
              <a:rPr lang="en-IN" dirty="0"/>
              <a:t>1️⃣ </a:t>
            </a:r>
            <a:r>
              <a:rPr lang="en-IN" b="1" dirty="0"/>
              <a:t>Raw Zone:</a:t>
            </a:r>
            <a:r>
              <a:rPr lang="en-IN" dirty="0"/>
              <a:t> Unprocessed, directly ingested data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b="1" dirty="0"/>
              <a:t>Trusted Zone:</a:t>
            </a:r>
            <a:r>
              <a:rPr lang="en-IN" dirty="0"/>
              <a:t> Cleaned, validated, enriched data</a:t>
            </a:r>
            <a:br>
              <a:rPr lang="en-IN" dirty="0"/>
            </a:br>
            <a:r>
              <a:rPr lang="en-IN" dirty="0"/>
              <a:t>3️⃣ </a:t>
            </a:r>
            <a:r>
              <a:rPr lang="en-IN" b="1" dirty="0"/>
              <a:t>Refined Zone:</a:t>
            </a:r>
            <a:r>
              <a:rPr lang="en-IN" dirty="0"/>
              <a:t> Aggregated, curated, and analytics-ready 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75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C89C-12DE-D74A-0C27-9C9FD86D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Raw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97F91-3DFA-40B4-EFEE-8318E3423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Stores data exactly as it arrives from sources (APIs, databases, etc.) — no transformations.</a:t>
            </a:r>
            <a:br>
              <a:rPr lang="en-IN" dirty="0"/>
            </a:br>
            <a:r>
              <a:rPr lang="en-IN" b="1" dirty="0"/>
              <a:t>Purpose:</a:t>
            </a:r>
            <a:endParaRPr lang="en-IN" dirty="0"/>
          </a:p>
          <a:p>
            <a:r>
              <a:rPr lang="en-IN" dirty="0"/>
              <a:t>Data lineage and audit</a:t>
            </a:r>
          </a:p>
          <a:p>
            <a:r>
              <a:rPr lang="en-IN" dirty="0"/>
              <a:t>Reprocessing flexibility</a:t>
            </a:r>
          </a:p>
          <a:p>
            <a:r>
              <a:rPr lang="en-IN" dirty="0"/>
              <a:t>Supports schema evolution</a:t>
            </a:r>
            <a:br>
              <a:rPr lang="en-IN" dirty="0"/>
            </a:br>
            <a:r>
              <a:rPr lang="en-IN" b="1" dirty="0"/>
              <a:t>Example Path:</a:t>
            </a:r>
            <a:br>
              <a:rPr lang="en-IN" dirty="0"/>
            </a:br>
            <a:r>
              <a:rPr lang="en-IN" dirty="0"/>
              <a:t>s3://supplychain/raw/shipment/2025-11-09/data.json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07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06C1-9B42-8780-2ACB-F1D3CD81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Trusted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0A359-D54D-AB8B-36A5-12D03AA9F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Holds cleaned and validated data — duplicates removed, data types corrected.</a:t>
            </a:r>
            <a:br>
              <a:rPr lang="en-US" dirty="0"/>
            </a:br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Ensures data accuracy and reliability</a:t>
            </a:r>
          </a:p>
          <a:p>
            <a:r>
              <a:rPr lang="en-US" dirty="0"/>
              <a:t>Used by ETL jobs for downstream consumption</a:t>
            </a:r>
            <a:br>
              <a:rPr lang="en-US" dirty="0"/>
            </a:br>
            <a:r>
              <a:rPr lang="en-US" b="1" dirty="0"/>
              <a:t>Example Path:</a:t>
            </a:r>
            <a:br>
              <a:rPr lang="en-US" dirty="0"/>
            </a:br>
            <a:r>
              <a:rPr lang="en-US" dirty="0"/>
              <a:t>s3://supplychain/trusted/shipment/2025-11-09/data.parquet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51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3018-6333-6F0E-4933-D3466D48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Refined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3BD1-8831-9D8E-75C2-5A3BCF5AA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Stores aggregated and enriched datasets for BI and analytics tools (like </a:t>
            </a:r>
            <a:r>
              <a:rPr lang="en-IN" dirty="0" err="1"/>
              <a:t>QuickSight</a:t>
            </a:r>
            <a:r>
              <a:rPr lang="en-IN" dirty="0"/>
              <a:t>, Athena, or Redshift).</a:t>
            </a:r>
            <a:br>
              <a:rPr lang="en-IN" dirty="0"/>
            </a:br>
            <a:r>
              <a:rPr lang="en-IN" b="1" dirty="0"/>
              <a:t>Purpose:</a:t>
            </a:r>
            <a:endParaRPr lang="en-IN" dirty="0"/>
          </a:p>
          <a:p>
            <a:r>
              <a:rPr lang="en-IN" dirty="0"/>
              <a:t>Optimized for analytics performance</a:t>
            </a:r>
          </a:p>
          <a:p>
            <a:r>
              <a:rPr lang="en-IN" dirty="0"/>
              <a:t>Used by dashboards, ML models, and reports</a:t>
            </a:r>
            <a:br>
              <a:rPr lang="en-IN" dirty="0"/>
            </a:br>
            <a:r>
              <a:rPr lang="en-IN" b="1" dirty="0"/>
              <a:t>Example Path:</a:t>
            </a:r>
            <a:br>
              <a:rPr lang="en-IN" dirty="0"/>
            </a:br>
            <a:r>
              <a:rPr lang="en-IN" dirty="0"/>
              <a:t>s3://supplychain/refined/weekly_summary/2025-W45.parquet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049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A4A2-2727-31D8-9258-473D0159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Buckets and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03F9B-1ED7-62C7-9834-A820F23A8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Naming, Structure &amp; Permissions</a:t>
            </a:r>
            <a:br>
              <a:rPr lang="en-US" dirty="0"/>
            </a:br>
            <a:r>
              <a:rPr lang="en-US" b="1" dirty="0"/>
              <a:t>Best Practices:</a:t>
            </a:r>
            <a:endParaRPr lang="en-US" dirty="0"/>
          </a:p>
          <a:p>
            <a:r>
              <a:rPr lang="en-US" dirty="0"/>
              <a:t>Use lowercase bucket names (e.g., </a:t>
            </a:r>
            <a:r>
              <a:rPr lang="en-US" dirty="0" err="1"/>
              <a:t>supplychain</a:t>
            </a:r>
            <a:r>
              <a:rPr lang="en-US" dirty="0"/>
              <a:t>-data-prod)</a:t>
            </a:r>
          </a:p>
          <a:p>
            <a:r>
              <a:rPr lang="en-US" dirty="0"/>
              <a:t>Organize with logical prefixes (raw/, trusted/, refined/)</a:t>
            </a:r>
          </a:p>
          <a:p>
            <a:r>
              <a:rPr lang="en-US" dirty="0"/>
              <a:t>Enforce least-privilege IAM policies per zone</a:t>
            </a:r>
            <a:br>
              <a:rPr lang="en-US" dirty="0"/>
            </a:br>
            <a:r>
              <a:rPr lang="en-US" b="1" dirty="0"/>
              <a:t>Example Policy:</a:t>
            </a:r>
            <a:br>
              <a:rPr lang="en-US" dirty="0"/>
            </a:br>
            <a:r>
              <a:rPr lang="en-US" dirty="0"/>
              <a:t>Allow only ETL roles to write to “trusted”, read-only access for analysts in “refined”.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057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936F-18F6-0E6D-34B8-8B9752C7E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Versioning, Lifecycle &amp; Replication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65957-5476-DCA0-B794-664406A0C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S3 offers built-in data management features.</a:t>
            </a:r>
            <a:br>
              <a:rPr lang="en-US" dirty="0"/>
            </a:br>
            <a:r>
              <a:rPr lang="en-US" b="1" dirty="0"/>
              <a:t>Key Features:</a:t>
            </a:r>
            <a:endParaRPr lang="en-US" dirty="0"/>
          </a:p>
          <a:p>
            <a:r>
              <a:rPr lang="en-US" b="1" dirty="0"/>
              <a:t>Versioning:</a:t>
            </a:r>
            <a:r>
              <a:rPr lang="en-US" dirty="0"/>
              <a:t> Retain older versions of files</a:t>
            </a:r>
          </a:p>
          <a:p>
            <a:r>
              <a:rPr lang="en-US" b="1" dirty="0"/>
              <a:t>Lifecycle Policies:</a:t>
            </a:r>
            <a:r>
              <a:rPr lang="en-US" dirty="0"/>
              <a:t> Automatically move data to Glacier</a:t>
            </a:r>
          </a:p>
          <a:p>
            <a:r>
              <a:rPr lang="en-US" b="1" dirty="0"/>
              <a:t>Cross-Region Replication:</a:t>
            </a:r>
            <a:r>
              <a:rPr lang="en-US" dirty="0"/>
              <a:t> For backup and compliance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Move raw data older than 90 days to Glacier for archiving.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01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15CA-C87E-3FE4-3992-7EC5D9DD4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S3 with ETL Pipelines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2258-AF08-DD27-ACDC-716594ADB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S3 integrates with many AWS services for seamless data movement.</a:t>
            </a:r>
            <a:br>
              <a:rPr lang="en-IN" dirty="0"/>
            </a:br>
            <a:r>
              <a:rPr lang="en-IN" b="1" dirty="0"/>
              <a:t>Examples:</a:t>
            </a:r>
            <a:endParaRPr lang="en-IN" dirty="0"/>
          </a:p>
          <a:p>
            <a:r>
              <a:rPr lang="en-IN" b="1" dirty="0"/>
              <a:t>AWS Glue:</a:t>
            </a:r>
            <a:r>
              <a:rPr lang="en-IN" dirty="0"/>
              <a:t> Reads/writes to S3 for ETL</a:t>
            </a:r>
          </a:p>
          <a:p>
            <a:r>
              <a:rPr lang="en-IN" b="1" dirty="0"/>
              <a:t>Athena:</a:t>
            </a:r>
            <a:r>
              <a:rPr lang="en-IN" dirty="0"/>
              <a:t> Query S3 directly using SQL</a:t>
            </a:r>
          </a:p>
          <a:p>
            <a:r>
              <a:rPr lang="en-IN" b="1" dirty="0"/>
              <a:t>Lambda:</a:t>
            </a:r>
            <a:r>
              <a:rPr lang="en-IN" dirty="0"/>
              <a:t> Triggers functions when new files arrive</a:t>
            </a:r>
            <a:br>
              <a:rPr lang="en-IN" dirty="0"/>
            </a:br>
            <a:r>
              <a:rPr lang="en-IN" b="1" dirty="0"/>
              <a:t>Pipeline Flow:</a:t>
            </a:r>
            <a:br>
              <a:rPr lang="en-IN" dirty="0"/>
            </a:br>
            <a:r>
              <a:rPr lang="en-IN" dirty="0"/>
              <a:t>Source → S3 (Raw) → Glue Transform → S3 (Trusted) → Athena/Redshift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1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AA4E-0194-69DE-B984-FF3B5366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76885-1541-3DD9-EA59-48F4C0B0A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Best Practices:</a:t>
            </a:r>
            <a:endParaRPr lang="en-US" dirty="0"/>
          </a:p>
          <a:p>
            <a:r>
              <a:rPr lang="en-US" dirty="0"/>
              <a:t>Use zone-based folder structure (raw/trusted/refined)</a:t>
            </a:r>
          </a:p>
          <a:p>
            <a:r>
              <a:rPr lang="en-US" dirty="0"/>
              <a:t>Enable versioning and encryption (SSE-S3 or KMS)</a:t>
            </a:r>
          </a:p>
          <a:p>
            <a:r>
              <a:rPr lang="en-US" dirty="0"/>
              <a:t>Apply lifecycle rules for cost optimization</a:t>
            </a:r>
          </a:p>
          <a:p>
            <a:r>
              <a:rPr lang="en-US" dirty="0"/>
              <a:t>Integrate S3 with AWS Glue Crawlers and Athena</a:t>
            </a:r>
            <a:br>
              <a:rPr lang="en-US" dirty="0"/>
            </a:br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S3 isn’t just storage — it’s the backbone of the modern AWS data lake. 🚀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08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AWS S3 (Buckets, Raw / Trusted / Refined Zones)</vt:lpstr>
      <vt:lpstr>Key S3 Concepts</vt:lpstr>
      <vt:lpstr>Folder Zones in Data Lakes</vt:lpstr>
      <vt:lpstr>Raw Zone</vt:lpstr>
      <vt:lpstr>Trusted Zone</vt:lpstr>
      <vt:lpstr>Refined Zone</vt:lpstr>
      <vt:lpstr>Managing Buckets and Zones</vt:lpstr>
      <vt:lpstr>Versioning, Lifecycle &amp; Replication</vt:lpstr>
      <vt:lpstr>Integrating S3 with ETL Pipelines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2025-11-10T09:46:19Z</dcterms:created>
  <dcterms:modified xsi:type="dcterms:W3CDTF">2025-11-10T09:46:28Z</dcterms:modified>
</cp:coreProperties>
</file>